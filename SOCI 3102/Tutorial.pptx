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318" r:id="rId4"/>
    <p:sldId id="287" r:id="rId5"/>
    <p:sldId id="280" r:id="rId6"/>
    <p:sldId id="292" r:id="rId7"/>
    <p:sldId id="294" r:id="rId8"/>
    <p:sldId id="295" r:id="rId9"/>
    <p:sldId id="296" r:id="rId10"/>
    <p:sldId id="297" r:id="rId11"/>
    <p:sldId id="298" r:id="rId12"/>
    <p:sldId id="299" r:id="rId13"/>
    <p:sldId id="300" r:id="rId14"/>
    <p:sldId id="301" r:id="rId15"/>
    <p:sldId id="305" r:id="rId16"/>
    <p:sldId id="306" r:id="rId17"/>
    <p:sldId id="307" r:id="rId18"/>
    <p:sldId id="303" r:id="rId19"/>
    <p:sldId id="308" r:id="rId20"/>
    <p:sldId id="304" r:id="rId21"/>
    <p:sldId id="309" r:id="rId22"/>
    <p:sldId id="310" r:id="rId23"/>
    <p:sldId id="258" r:id="rId24"/>
    <p:sldId id="259" r:id="rId25"/>
    <p:sldId id="261" r:id="rId26"/>
    <p:sldId id="311" r:id="rId27"/>
    <p:sldId id="313" r:id="rId28"/>
    <p:sldId id="262" r:id="rId29"/>
    <p:sldId id="314" r:id="rId30"/>
    <p:sldId id="265" r:id="rId31"/>
    <p:sldId id="277" r:id="rId32"/>
    <p:sldId id="264" r:id="rId33"/>
    <p:sldId id="316" r:id="rId34"/>
    <p:sldId id="260" r:id="rId35"/>
    <p:sldId id="275" r:id="rId36"/>
    <p:sldId id="276" r:id="rId37"/>
    <p:sldId id="312" r:id="rId38"/>
    <p:sldId id="315" r:id="rId39"/>
    <p:sldId id="272" r:id="rId40"/>
    <p:sldId id="273" r:id="rId41"/>
    <p:sldId id="274" r:id="rId42"/>
    <p:sldId id="317" r:id="rId43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30"/>
    <p:restoredTop sz="94462"/>
  </p:normalViewPr>
  <p:slideViewPr>
    <p:cSldViewPr snapToGrid="0" snapToObjects="1" showGuides="1">
      <p:cViewPr varScale="1">
        <p:scale>
          <a:sx n="136" d="100"/>
          <a:sy n="136" d="100"/>
        </p:scale>
        <p:origin x="240" y="672"/>
      </p:cViewPr>
      <p:guideLst>
        <p:guide orient="horz" pos="220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C5EAC1-C60F-7B4D-9102-1D3F1E4394BE}" type="datetimeFigureOut">
              <a:rPr lang="en-CN" smtClean="0"/>
              <a:t>2024/3/12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A32928-3E1A-BF4C-921A-767D006FB0A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37194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32928-3E1A-BF4C-921A-767D006FB0AA}" type="slidenum">
              <a:rPr lang="en-CN" smtClean="0"/>
              <a:t>34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11921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67A49-2740-F045-8DB3-5F9E54B922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A86B6F-C3BB-7B4D-A6C9-4DE88B11AA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405A-28C0-1649-A7E1-051C576A1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5FC9E-6CF8-0D42-B8D9-7EB890F21999}" type="datetimeFigureOut">
              <a:rPr lang="en-CN" smtClean="0"/>
              <a:t>2024/3/12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67FC0-1EDA-5040-BFF5-A1974174B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D7351-E737-2C42-9EF7-23B3D6C59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47AAC-B95F-8C46-B595-81C647B0E4A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2987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1B1AC-CFFF-9941-9DF4-46185F337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570DA-A3FC-9349-93CC-C8FF02386C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64DD4-CEF1-774E-87B3-B4F65FFC8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5FC9E-6CF8-0D42-B8D9-7EB890F21999}" type="datetimeFigureOut">
              <a:rPr lang="en-CN" smtClean="0"/>
              <a:t>2024/3/12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09D57D-3608-2F46-9F34-E9387D360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27A63-646C-5A4E-9D38-BEE16AF80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47AAC-B95F-8C46-B595-81C647B0E4A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94289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64518-E760-DB42-955E-642C71802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C0DF31-D325-0A40-866C-A3B13ABA9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7D9AC-435A-6F4B-9A5E-3BBB825AA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5FC9E-6CF8-0D42-B8D9-7EB890F21999}" type="datetimeFigureOut">
              <a:rPr lang="en-CN" smtClean="0"/>
              <a:t>2024/3/12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C3709-D81B-B443-9D2F-6673A9516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0D872-BFDC-1041-B39F-1E066FE66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47AAC-B95F-8C46-B595-81C647B0E4A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88530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1056A-F1D5-C644-87A5-FA4F59582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0A3A2-7BCA-D349-B08B-EA6D7CDA3D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E1851B-3D52-7D4D-B917-35F61E4CDE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61443E-4020-AC4F-A429-71F223B7D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5FC9E-6CF8-0D42-B8D9-7EB890F21999}" type="datetimeFigureOut">
              <a:rPr lang="en-CN" smtClean="0"/>
              <a:t>2024/3/12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9770FD-BCFD-E94E-A59C-BAA47C177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B591F0-2595-B640-BE64-5F91263AF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47AAC-B95F-8C46-B595-81C647B0E4A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58456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8664C-A556-7D4A-A28A-5A726EDBB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B42251-6D9E-014C-8449-1D50F0DD6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34F360-17C3-214E-8C16-79676697CB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B85993-636D-C444-95C2-E76C792D0E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FAD67E-E568-5E44-8F4A-2436207EF7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174AAF-9870-C04B-B33A-4900ED823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5FC9E-6CF8-0D42-B8D9-7EB890F21999}" type="datetimeFigureOut">
              <a:rPr lang="en-CN" smtClean="0"/>
              <a:t>2024/3/12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F78C9F-E702-E04F-BA7E-32FB05145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621FDE-5B4F-8548-B3B0-95501430B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47AAC-B95F-8C46-B595-81C647B0E4A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79086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E38BF-EBA2-444E-A035-2055B03BF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0E2FA5-6C06-2C46-957F-57C30AD74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5FC9E-6CF8-0D42-B8D9-7EB890F21999}" type="datetimeFigureOut">
              <a:rPr lang="en-CN" smtClean="0"/>
              <a:t>2024/3/12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CBFFBC-AE86-EA4A-80B2-29FEC9BBA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7499F2-911C-4C43-BB28-71043501C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47AAC-B95F-8C46-B595-81C647B0E4A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05069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F269BD-153D-C640-98B2-9FBCBFEE8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5FC9E-6CF8-0D42-B8D9-7EB890F21999}" type="datetimeFigureOut">
              <a:rPr lang="en-CN" smtClean="0"/>
              <a:t>2024/3/12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756D27-1918-E14B-AD1F-D2C295A51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E8E398-913F-C941-A3FC-25731BA2D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47AAC-B95F-8C46-B595-81C647B0E4A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19931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A76C7-825B-4046-B700-08B039E0E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9EE00-7C6D-1A4B-8E11-E0CF2CBFA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42CC1E-C18A-9841-BF0A-C32FDAE6B5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0E8032-6E30-7D46-8159-D1F215C81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5FC9E-6CF8-0D42-B8D9-7EB890F21999}" type="datetimeFigureOut">
              <a:rPr lang="en-CN" smtClean="0"/>
              <a:t>2024/3/12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CE235A-4549-FD48-A661-1B886D1DA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A6EC48-2374-CB4F-A476-495FFB40C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47AAC-B95F-8C46-B595-81C647B0E4A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71828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E064C-F522-4542-8192-97A81BBFD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72A4B5-1D99-F94B-BF50-BD8BF6EB70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209C1B-2F2A-014A-ACD2-E0CC72F0EF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5E86D9-0BE3-9A41-8A0A-066A6B2AF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5FC9E-6CF8-0D42-B8D9-7EB890F21999}" type="datetimeFigureOut">
              <a:rPr lang="en-CN" smtClean="0"/>
              <a:t>2024/3/12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A40828-681A-2842-9188-BC57195FA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0D55C2-BCC7-9142-80EF-5D6AD3C2E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47AAC-B95F-8C46-B595-81C647B0E4A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88342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48594-6188-8A49-AFC5-E2B97E492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D87B54-E702-3346-88D6-CF1851A249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0B555-A2C2-2F4C-9048-306539859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5FC9E-6CF8-0D42-B8D9-7EB890F21999}" type="datetimeFigureOut">
              <a:rPr lang="en-CN" smtClean="0"/>
              <a:t>2024/3/12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C29831-A880-8C45-B480-CA64EB695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4FB9F-44D7-914A-B9D3-B1A94DAE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47AAC-B95F-8C46-B595-81C647B0E4A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19766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8FE36D-115B-8043-8AA6-97EC4489A2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69512F-6990-2F45-ABE9-C5FBF47E83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6517F-B145-2F4D-97FA-358A9BEB9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5FC9E-6CF8-0D42-B8D9-7EB890F21999}" type="datetimeFigureOut">
              <a:rPr lang="en-CN" smtClean="0"/>
              <a:t>2024/3/12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9B750-731B-8E45-B615-C8C72BC7D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4869F-3AC0-1249-B5B1-4660DF132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47AAC-B95F-8C46-B595-81C647B0E4A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46461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C1F480-9457-2A48-9D33-7262E1D0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2C8083-E83B-D143-BAE6-BDFEC8AEC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2E65C-1A05-0E49-8403-43EEFCD655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95FC9E-6CF8-0D42-B8D9-7EB890F21999}" type="datetimeFigureOut">
              <a:rPr lang="en-CN" smtClean="0"/>
              <a:t>2024/3/12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70FF8-111E-9A49-89CD-5694DE4B37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9BB9E-B453-5F4E-B21C-923A056B0C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C47AAC-B95F-8C46-B595-81C647B0E4A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3436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igraph.org/c/doc/igraph-Community.html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rmarkdown.rstudio.com/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studio.com/wp-content/uploads/2015/03/rmarkdown-reference.pdf" TargetMode="External"/><Relationship Id="rId2" Type="http://schemas.openxmlformats.org/officeDocument/2006/relationships/hyperlink" Target="http://yihui.name/knitr/options/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D7521-565B-2C45-A111-0357A2DFF1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N" dirty="0"/>
              <a:t>Social Networks and Social Capital (SOCI 3102)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740911-8A50-644D-9C0A-EE216D3496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N" dirty="0"/>
          </a:p>
          <a:p>
            <a:endParaRPr lang="en-CN" dirty="0"/>
          </a:p>
          <a:p>
            <a:r>
              <a:rPr lang="en-CN" dirty="0"/>
              <a:t>Tutorial 3: QIN Xuanlong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F5D707-B698-C54A-915C-407FA713785E}"/>
              </a:ext>
            </a:extLst>
          </p:cNvPr>
          <p:cNvSpPr txBox="1"/>
          <p:nvPr/>
        </p:nvSpPr>
        <p:spPr>
          <a:xfrm>
            <a:off x="7609475" y="220224"/>
            <a:ext cx="4392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Don’t</a:t>
            </a:r>
            <a:r>
              <a:rPr lang="en-US" dirty="0"/>
              <a:t> </a:t>
            </a:r>
            <a:r>
              <a:rPr lang="en-US" altLang="zh-CN" dirty="0"/>
              <a:t>circulate to others without permission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472052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F0591-148C-B640-B452-264D4154C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7E33E-5253-E844-B135-7CB860BCC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Recap</a:t>
            </a:r>
          </a:p>
          <a:p>
            <a:pPr lvl="1"/>
            <a:r>
              <a:rPr lang="en-US" dirty="0"/>
              <a:t>Segmentation</a:t>
            </a:r>
            <a:r>
              <a:rPr lang="zh-CN" altLang="en-US" dirty="0"/>
              <a:t> </a:t>
            </a:r>
            <a:r>
              <a:rPr lang="en-US" altLang="zh-CN" dirty="0"/>
              <a:t>and Cohesion -  James Moody</a:t>
            </a:r>
            <a:endParaRPr lang="en-CN" dirty="0"/>
          </a:p>
          <a:p>
            <a:endParaRPr lang="en-CN" dirty="0"/>
          </a:p>
          <a:p>
            <a:r>
              <a:rPr lang="en-CN" dirty="0"/>
              <a:t>R Markdown</a:t>
            </a:r>
          </a:p>
          <a:p>
            <a:endParaRPr lang="en-CN" dirty="0"/>
          </a:p>
          <a:p>
            <a:r>
              <a:rPr lang="en-CN" dirty="0"/>
              <a:t>R Tutorial</a:t>
            </a:r>
          </a:p>
          <a:p>
            <a:pPr lvl="1"/>
            <a:r>
              <a:rPr lang="en-CN" dirty="0"/>
              <a:t>Clustering Algorithms</a:t>
            </a:r>
          </a:p>
          <a:p>
            <a:pPr marL="457200" lvl="1" indent="0">
              <a:buNone/>
            </a:pP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239861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9F1A8-3E41-9D43-9222-3AE8B03D9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Tutorial Materials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0B980-2DBB-A24C-AB28-15EACBC90D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</a:t>
            </a:r>
            <a:r>
              <a:rPr lang="en-CN" dirty="0"/>
              <a:t>utorial3_recap.html</a:t>
            </a:r>
          </a:p>
          <a:p>
            <a:r>
              <a:rPr lang="en-US" dirty="0"/>
              <a:t>T</a:t>
            </a:r>
            <a:r>
              <a:rPr lang="en-CN" dirty="0"/>
              <a:t>utorial3.html</a:t>
            </a:r>
          </a:p>
          <a:p>
            <a:r>
              <a:rPr lang="en-CN" dirty="0"/>
              <a:t>Dataset</a:t>
            </a:r>
          </a:p>
          <a:p>
            <a:pPr lvl="1"/>
            <a:r>
              <a:rPr lang="en-CN" dirty="0"/>
              <a:t>Amherst_College.csv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group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  <a:endParaRPr lang="en-CN" dirty="0"/>
          </a:p>
          <a:p>
            <a:pPr lvl="1"/>
            <a:r>
              <a:rPr lang="en-CN" dirty="0"/>
              <a:t>Brown_University.csv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group 2</a:t>
            </a:r>
            <a:endParaRPr lang="en-CN" dirty="0"/>
          </a:p>
          <a:p>
            <a:pPr lvl="1"/>
            <a:r>
              <a:rPr lang="en-CN" dirty="0"/>
              <a:t>Florida_State_Univetsity.csv – group 3</a:t>
            </a:r>
          </a:p>
          <a:p>
            <a:pPr lvl="1"/>
            <a:r>
              <a:rPr lang="en-CN" dirty="0"/>
              <a:t>Assignment</a:t>
            </a:r>
            <a:r>
              <a:rPr lang="zh-CN" altLang="en-US" dirty="0"/>
              <a:t> </a:t>
            </a:r>
            <a:r>
              <a:rPr lang="en-CN" dirty="0"/>
              <a:t>3-random grouping.xlsx </a:t>
            </a:r>
          </a:p>
          <a:p>
            <a:pPr lvl="1"/>
            <a:endParaRPr lang="en-CN" dirty="0"/>
          </a:p>
          <a:p>
            <a:pPr lvl="1"/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4098661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0E2E1-C812-B447-A976-00B274178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Recap – Social cohesion and connectivity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30543-B9A6-F740-9F20-49B5A5BCA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9869"/>
            <a:ext cx="10515600" cy="4796401"/>
          </a:xfrm>
        </p:spPr>
        <p:txBody>
          <a:bodyPr>
            <a:normAutofit/>
          </a:bodyPr>
          <a:lstStyle/>
          <a:p>
            <a:r>
              <a:rPr lang="en-CN" dirty="0"/>
              <a:t>Diffusion implication of relational structure</a:t>
            </a:r>
          </a:p>
          <a:p>
            <a:endParaRPr lang="en-CN" dirty="0"/>
          </a:p>
          <a:p>
            <a:r>
              <a:rPr lang="en-CN" dirty="0"/>
              <a:t>Considering the following scenario:</a:t>
            </a:r>
          </a:p>
          <a:p>
            <a:pPr lvl="1"/>
            <a:r>
              <a:rPr lang="en-US" dirty="0"/>
              <a:t>Probability that actor </a:t>
            </a:r>
            <a:r>
              <a:rPr lang="en-US" dirty="0" err="1"/>
              <a:t>i</a:t>
            </a:r>
            <a:r>
              <a:rPr lang="en-US" dirty="0"/>
              <a:t> infects actor j (</a:t>
            </a:r>
            <a:r>
              <a:rPr lang="en-US" dirty="0" err="1"/>
              <a:t>pij</a:t>
            </a:r>
            <a:r>
              <a:rPr lang="en-US" dirty="0"/>
              <a:t>)is a constant over all relations = 0.6 </a:t>
            </a:r>
          </a:p>
          <a:p>
            <a:pPr lvl="1"/>
            <a:r>
              <a:rPr lang="en-US" dirty="0"/>
              <a:t>S &amp; T are connected through the following structure:</a:t>
            </a:r>
          </a:p>
          <a:p>
            <a:pPr lvl="2"/>
            <a:r>
              <a:rPr lang="en-US" altLang="en-CN" dirty="0"/>
              <a:t>The probability that S infects T through either path would be: </a:t>
            </a:r>
            <a:r>
              <a:rPr lang="en-US" altLang="en-CN" u="sng" dirty="0">
                <a:hlinkClick r:id="rId2" action="ppaction://hlinksldjump"/>
              </a:rPr>
              <a:t>0.09</a:t>
            </a:r>
            <a:endParaRPr lang="en-US" altLang="en-CN" u="sng" dirty="0"/>
          </a:p>
          <a:p>
            <a:pPr lvl="2"/>
            <a:endParaRPr lang="en-US" altLang="en-CN" u="sng" dirty="0"/>
          </a:p>
          <a:p>
            <a:pPr lvl="2"/>
            <a:endParaRPr lang="en-US" altLang="en-CN" u="sng" dirty="0"/>
          </a:p>
          <a:p>
            <a:pPr lvl="2"/>
            <a:endParaRPr lang="en-US" altLang="en-CN" u="sng" dirty="0"/>
          </a:p>
          <a:p>
            <a:pPr lvl="2"/>
            <a:endParaRPr lang="en-US" altLang="en-CN" u="sng" dirty="0"/>
          </a:p>
          <a:p>
            <a:pPr lvl="2"/>
            <a:endParaRPr lang="en-US" altLang="en-CN" u="sng" dirty="0"/>
          </a:p>
          <a:p>
            <a:pPr lvl="2"/>
            <a:r>
              <a:rPr lang="en-US" altLang="en-CN" dirty="0"/>
              <a:t>P = 0.6 *0.6 *0.6 * 0.6 *0.6 * 0.6 + 0.6 *0.6 *0.6 * 0.6 *0.6 * 0.6 = 0.09</a:t>
            </a:r>
          </a:p>
          <a:p>
            <a:pPr lvl="1"/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4986347-BA77-B642-A70B-28EBAE1DC8D9}"/>
              </a:ext>
            </a:extLst>
          </p:cNvPr>
          <p:cNvGrpSpPr/>
          <p:nvPr/>
        </p:nvGrpSpPr>
        <p:grpSpPr>
          <a:xfrm>
            <a:off x="3382501" y="4581065"/>
            <a:ext cx="5357813" cy="1447800"/>
            <a:chOff x="3382501" y="4581065"/>
            <a:chExt cx="5357813" cy="1447800"/>
          </a:xfrm>
        </p:grpSpPr>
        <p:grpSp>
          <p:nvGrpSpPr>
            <p:cNvPr id="4" name="Group 5">
              <a:extLst>
                <a:ext uri="{FF2B5EF4-FFF2-40B4-BE49-F238E27FC236}">
                  <a16:creationId xmlns:a16="http://schemas.microsoft.com/office/drawing/2014/main" id="{368BEC1C-79A4-2645-85DB-44DDBFBE63A4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902114" y="4749340"/>
              <a:ext cx="739775" cy="1131887"/>
              <a:chOff x="1027" y="1438"/>
              <a:chExt cx="466" cy="713"/>
            </a:xfrm>
          </p:grpSpPr>
          <p:sp>
            <p:nvSpPr>
              <p:cNvPr id="5" name="Line 6">
                <a:extLst>
                  <a:ext uri="{FF2B5EF4-FFF2-40B4-BE49-F238E27FC236}">
                    <a16:creationId xmlns:a16="http://schemas.microsoft.com/office/drawing/2014/main" id="{581B6752-19A5-974C-BFD4-A8A9394D39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066" y="1765"/>
                <a:ext cx="427" cy="3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6" name="Line 7">
                <a:extLst>
                  <a:ext uri="{FF2B5EF4-FFF2-40B4-BE49-F238E27FC236}">
                    <a16:creationId xmlns:a16="http://schemas.microsoft.com/office/drawing/2014/main" id="{52236920-1E02-FA48-987C-1F58786D1E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27" y="1438"/>
                <a:ext cx="444" cy="3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</p:grpSp>
        <p:grpSp>
          <p:nvGrpSpPr>
            <p:cNvPr id="7" name="Group 8">
              <a:extLst>
                <a:ext uri="{FF2B5EF4-FFF2-40B4-BE49-F238E27FC236}">
                  <a16:creationId xmlns:a16="http://schemas.microsoft.com/office/drawing/2014/main" id="{13D897FF-8C5C-B64B-B361-50A251E87C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49189" y="4754102"/>
              <a:ext cx="739775" cy="1131888"/>
              <a:chOff x="1027" y="1438"/>
              <a:chExt cx="466" cy="713"/>
            </a:xfrm>
          </p:grpSpPr>
          <p:sp>
            <p:nvSpPr>
              <p:cNvPr id="8" name="Line 9">
                <a:extLst>
                  <a:ext uri="{FF2B5EF4-FFF2-40B4-BE49-F238E27FC236}">
                    <a16:creationId xmlns:a16="http://schemas.microsoft.com/office/drawing/2014/main" id="{F481A85B-F721-EE46-8523-2EA0BBD105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066" y="1765"/>
                <a:ext cx="427" cy="3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9" name="Line 10">
                <a:extLst>
                  <a:ext uri="{FF2B5EF4-FFF2-40B4-BE49-F238E27FC236}">
                    <a16:creationId xmlns:a16="http://schemas.microsoft.com/office/drawing/2014/main" id="{9BE952B7-48CF-BD45-B0A5-421C9ECC0B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27" y="1438"/>
                <a:ext cx="444" cy="3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</p:grpSp>
        <p:sp>
          <p:nvSpPr>
            <p:cNvPr id="10" name="Line 11">
              <a:extLst>
                <a:ext uri="{FF2B5EF4-FFF2-40B4-BE49-F238E27FC236}">
                  <a16:creationId xmlns:a16="http://schemas.microsoft.com/office/drawing/2014/main" id="{75E8CCD9-3FA3-9645-9CD1-94AD64DD5D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1664" y="5885990"/>
              <a:ext cx="36798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N"/>
            </a:p>
          </p:txBody>
        </p:sp>
        <p:sp>
          <p:nvSpPr>
            <p:cNvPr id="11" name="Line 12">
              <a:extLst>
                <a:ext uri="{FF2B5EF4-FFF2-40B4-BE49-F238E27FC236}">
                  <a16:creationId xmlns:a16="http://schemas.microsoft.com/office/drawing/2014/main" id="{4ADD9EDD-374E-A746-A1E6-4FF724CAF1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1339" y="4728702"/>
              <a:ext cx="36798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N"/>
            </a:p>
          </p:txBody>
        </p:sp>
        <p:sp>
          <p:nvSpPr>
            <p:cNvPr id="12" name="Oval 13">
              <a:extLst>
                <a:ext uri="{FF2B5EF4-FFF2-40B4-BE49-F238E27FC236}">
                  <a16:creationId xmlns:a16="http://schemas.microsoft.com/office/drawing/2014/main" id="{7BFFAC6B-7749-6B4A-AEC7-79E43B0DA6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2501" y="5146215"/>
              <a:ext cx="300038" cy="30003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CN" sz="2400" dirty="0">
                  <a:solidFill>
                    <a:schemeClr val="bg1"/>
                  </a:solidFill>
                </a:rPr>
                <a:t>S</a:t>
              </a:r>
            </a:p>
          </p:txBody>
        </p:sp>
        <p:sp>
          <p:nvSpPr>
            <p:cNvPr id="13" name="Oval 14">
              <a:extLst>
                <a:ext uri="{FF2B5EF4-FFF2-40B4-BE49-F238E27FC236}">
                  <a16:creationId xmlns:a16="http://schemas.microsoft.com/office/drawing/2014/main" id="{0FAB9211-CABA-C24B-8DE0-69DF247619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3226" y="4581065"/>
              <a:ext cx="300038" cy="30003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en-CN" altLang="en-CN" sz="2400"/>
            </a:p>
          </p:txBody>
        </p:sp>
        <p:sp>
          <p:nvSpPr>
            <p:cNvPr id="14" name="Oval 15">
              <a:extLst>
                <a:ext uri="{FF2B5EF4-FFF2-40B4-BE49-F238E27FC236}">
                  <a16:creationId xmlns:a16="http://schemas.microsoft.com/office/drawing/2014/main" id="{D98785D3-0415-9E49-A92A-30B543E71A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3226" y="5728827"/>
              <a:ext cx="300038" cy="30003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en-CN" altLang="en-CN" sz="2400"/>
            </a:p>
          </p:txBody>
        </p:sp>
        <p:sp>
          <p:nvSpPr>
            <p:cNvPr id="15" name="Oval 16">
              <a:extLst>
                <a:ext uri="{FF2B5EF4-FFF2-40B4-BE49-F238E27FC236}">
                  <a16:creationId xmlns:a16="http://schemas.microsoft.com/office/drawing/2014/main" id="{769C9DB9-20D8-F448-93A5-4AC1FD7E25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2064" y="4581065"/>
              <a:ext cx="300037" cy="300037"/>
            </a:xfrm>
            <a:prstGeom prst="ellipse">
              <a:avLst/>
            </a:prstGeom>
            <a:solidFill>
              <a:srgbClr val="FF9966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en-CN" altLang="en-CN" sz="2400"/>
            </a:p>
          </p:txBody>
        </p:sp>
        <p:sp>
          <p:nvSpPr>
            <p:cNvPr id="16" name="Oval 17">
              <a:extLst>
                <a:ext uri="{FF2B5EF4-FFF2-40B4-BE49-F238E27FC236}">
                  <a16:creationId xmlns:a16="http://schemas.microsoft.com/office/drawing/2014/main" id="{90C2EE05-6A55-2C4B-82B3-715CA3CE87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0751" y="4581065"/>
              <a:ext cx="300038" cy="300037"/>
            </a:xfrm>
            <a:prstGeom prst="ellipse">
              <a:avLst/>
            </a:prstGeom>
            <a:solidFill>
              <a:srgbClr val="FF9966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en-CN" altLang="en-CN" sz="2400"/>
            </a:p>
          </p:txBody>
        </p:sp>
        <p:sp>
          <p:nvSpPr>
            <p:cNvPr id="17" name="Oval 18">
              <a:extLst>
                <a:ext uri="{FF2B5EF4-FFF2-40B4-BE49-F238E27FC236}">
                  <a16:creationId xmlns:a16="http://schemas.microsoft.com/office/drawing/2014/main" id="{FC23B8D6-D7DC-FB49-B01B-568CCC0EC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19439" y="4581065"/>
              <a:ext cx="300037" cy="30003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en-CN" altLang="en-CN" sz="2400"/>
            </a:p>
          </p:txBody>
        </p:sp>
        <p:sp>
          <p:nvSpPr>
            <p:cNvPr id="18" name="Oval 19">
              <a:extLst>
                <a:ext uri="{FF2B5EF4-FFF2-40B4-BE49-F238E27FC236}">
                  <a16:creationId xmlns:a16="http://schemas.microsoft.com/office/drawing/2014/main" id="{AB14A191-E97E-C646-A1EB-F3C5BC7C86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48126" y="4581065"/>
              <a:ext cx="300038" cy="300037"/>
            </a:xfrm>
            <a:prstGeom prst="ellipse">
              <a:avLst/>
            </a:prstGeom>
            <a:solidFill>
              <a:srgbClr val="FF9966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en-CN" altLang="en-CN" sz="2400"/>
            </a:p>
          </p:txBody>
        </p:sp>
        <p:sp>
          <p:nvSpPr>
            <p:cNvPr id="19" name="Oval 20">
              <a:extLst>
                <a:ext uri="{FF2B5EF4-FFF2-40B4-BE49-F238E27FC236}">
                  <a16:creationId xmlns:a16="http://schemas.microsoft.com/office/drawing/2014/main" id="{DCBF1ABE-548B-184E-BB4C-5C25D767E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2064" y="5728827"/>
              <a:ext cx="300037" cy="300038"/>
            </a:xfrm>
            <a:prstGeom prst="ellipse">
              <a:avLst/>
            </a:prstGeom>
            <a:solidFill>
              <a:srgbClr val="FF9966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en-CN" altLang="en-CN" sz="2400"/>
            </a:p>
          </p:txBody>
        </p:sp>
        <p:sp>
          <p:nvSpPr>
            <p:cNvPr id="20" name="Oval 21">
              <a:extLst>
                <a:ext uri="{FF2B5EF4-FFF2-40B4-BE49-F238E27FC236}">
                  <a16:creationId xmlns:a16="http://schemas.microsoft.com/office/drawing/2014/main" id="{7EDE85C2-F1B2-EA48-AD82-1FCCE2DD67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0751" y="5728827"/>
              <a:ext cx="300038" cy="300038"/>
            </a:xfrm>
            <a:prstGeom prst="ellipse">
              <a:avLst/>
            </a:prstGeom>
            <a:solidFill>
              <a:srgbClr val="FF9966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en-CN" altLang="en-CN" sz="2400"/>
            </a:p>
          </p:txBody>
        </p:sp>
        <p:sp>
          <p:nvSpPr>
            <p:cNvPr id="21" name="Oval 22">
              <a:extLst>
                <a:ext uri="{FF2B5EF4-FFF2-40B4-BE49-F238E27FC236}">
                  <a16:creationId xmlns:a16="http://schemas.microsoft.com/office/drawing/2014/main" id="{807F024F-3BA6-6D46-8BAC-ED68AF89BB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19439" y="5728827"/>
              <a:ext cx="300037" cy="30003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en-CN" altLang="en-CN" sz="2400"/>
            </a:p>
          </p:txBody>
        </p:sp>
        <p:sp>
          <p:nvSpPr>
            <p:cNvPr id="22" name="Oval 23">
              <a:extLst>
                <a:ext uri="{FF2B5EF4-FFF2-40B4-BE49-F238E27FC236}">
                  <a16:creationId xmlns:a16="http://schemas.microsoft.com/office/drawing/2014/main" id="{6C5310A3-0CEC-AC48-819D-D3DD806223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48126" y="5728827"/>
              <a:ext cx="300038" cy="30003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en-CN" altLang="en-CN" sz="2400"/>
            </a:p>
          </p:txBody>
        </p:sp>
        <p:sp>
          <p:nvSpPr>
            <p:cNvPr id="23" name="Oval 24">
              <a:extLst>
                <a:ext uri="{FF2B5EF4-FFF2-40B4-BE49-F238E27FC236}">
                  <a16:creationId xmlns:a16="http://schemas.microsoft.com/office/drawing/2014/main" id="{3A0AA176-E16F-8841-BFAA-6D13E5AAC4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40276" y="5147802"/>
              <a:ext cx="300038" cy="30003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CN" sz="2400" dirty="0">
                  <a:solidFill>
                    <a:schemeClr val="bg1"/>
                  </a:solidFill>
                </a:rPr>
                <a:t>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83554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24E08-E647-4044-AAE9-4093C263D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However</a:t>
            </a:r>
            <a:r>
              <a:rPr lang="en-US" dirty="0"/>
              <a:t>…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2E809-4457-484A-84E7-8DEDEC635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15014" cy="4351338"/>
          </a:xfrm>
        </p:spPr>
        <p:txBody>
          <a:bodyPr>
            <a:normAutofit fontScale="92500"/>
          </a:bodyPr>
          <a:lstStyle/>
          <a:p>
            <a:r>
              <a:rPr lang="en-US" sz="2400" dirty="0"/>
              <a:t>Every actor but one has the exact same number of partners</a:t>
            </a:r>
          </a:p>
          <a:p>
            <a:r>
              <a:rPr lang="en-US" altLang="en-CN" sz="2400" dirty="0"/>
              <a:t>The category-to-category (blue to orange) mixing is identical</a:t>
            </a:r>
          </a:p>
          <a:p>
            <a:r>
              <a:rPr lang="en-US" altLang="en-CN" sz="2400" dirty="0"/>
              <a:t>The distance from S to T is the same (7 steps)</a:t>
            </a:r>
          </a:p>
          <a:p>
            <a:r>
              <a:rPr lang="en-US" altLang="en-CN" sz="2400" dirty="0"/>
              <a:t>S and T have not changed their behavior</a:t>
            </a:r>
          </a:p>
          <a:p>
            <a:r>
              <a:rPr lang="en-US" altLang="en-CN" sz="2400" dirty="0"/>
              <a:t>Their partner’s partners have the same behavior</a:t>
            </a:r>
          </a:p>
          <a:p>
            <a:r>
              <a:rPr lang="en-US" altLang="en-CN" sz="2400" dirty="0"/>
              <a:t>But the probability of an infection moving from S to T is: = 0.186</a:t>
            </a:r>
          </a:p>
          <a:p>
            <a:r>
              <a:rPr lang="en-US" altLang="en-CN" sz="2400" dirty="0"/>
              <a:t>Different structures create different outcomes</a:t>
            </a:r>
          </a:p>
          <a:p>
            <a:endParaRPr lang="en-CN" sz="240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B09F0D4-1FD7-A84B-AEA8-D5478EA8F2FF}"/>
              </a:ext>
            </a:extLst>
          </p:cNvPr>
          <p:cNvGrpSpPr/>
          <p:nvPr/>
        </p:nvGrpSpPr>
        <p:grpSpPr>
          <a:xfrm>
            <a:off x="6674646" y="4163527"/>
            <a:ext cx="5357813" cy="1447800"/>
            <a:chOff x="3270353" y="5192712"/>
            <a:chExt cx="5357813" cy="1447800"/>
          </a:xfrm>
        </p:grpSpPr>
        <p:sp>
          <p:nvSpPr>
            <p:cNvPr id="4" name="Line 2">
              <a:extLst>
                <a:ext uri="{FF2B5EF4-FFF2-40B4-BE49-F238E27FC236}">
                  <a16:creationId xmlns:a16="http://schemas.microsoft.com/office/drawing/2014/main" id="{E9C478B8-8402-BD48-8D34-BC4BEA5E0A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0728" y="5348287"/>
              <a:ext cx="900113" cy="612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N"/>
            </a:p>
          </p:txBody>
        </p:sp>
        <p:sp>
          <p:nvSpPr>
            <p:cNvPr id="5" name="Line 3">
              <a:extLst>
                <a:ext uri="{FF2B5EF4-FFF2-40B4-BE49-F238E27FC236}">
                  <a16:creationId xmlns:a16="http://schemas.microsoft.com/office/drawing/2014/main" id="{042823C6-E6C5-D94D-87B3-6D169545B6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40528" y="5373687"/>
              <a:ext cx="927100" cy="5746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N"/>
            </a:p>
          </p:txBody>
        </p:sp>
        <p:sp>
          <p:nvSpPr>
            <p:cNvPr id="6" name="Line 4">
              <a:extLst>
                <a:ext uri="{FF2B5EF4-FFF2-40B4-BE49-F238E27FC236}">
                  <a16:creationId xmlns:a16="http://schemas.microsoft.com/office/drawing/2014/main" id="{9532F156-20AD-FC4E-86FD-1AD69ABA5D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00728" y="5999162"/>
              <a:ext cx="914400" cy="4699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N"/>
            </a:p>
          </p:txBody>
        </p:sp>
        <p:sp>
          <p:nvSpPr>
            <p:cNvPr id="7" name="Line 5">
              <a:extLst>
                <a:ext uri="{FF2B5EF4-FFF2-40B4-BE49-F238E27FC236}">
                  <a16:creationId xmlns:a16="http://schemas.microsoft.com/office/drawing/2014/main" id="{B4861751-2E42-3D41-94FD-1B5D9EB912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27828" y="5999162"/>
              <a:ext cx="873125" cy="484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N"/>
            </a:p>
          </p:txBody>
        </p:sp>
        <p:sp>
          <p:nvSpPr>
            <p:cNvPr id="8" name="Line 6">
              <a:extLst>
                <a:ext uri="{FF2B5EF4-FFF2-40B4-BE49-F238E27FC236}">
                  <a16:creationId xmlns:a16="http://schemas.microsoft.com/office/drawing/2014/main" id="{D21C51F1-3F98-5F4F-8B68-FF36CE1459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50178" y="5343525"/>
              <a:ext cx="7969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N"/>
            </a:p>
          </p:txBody>
        </p:sp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4D7E2AD4-42E2-1C4E-AE72-45C5C27EA0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441" y="5346700"/>
              <a:ext cx="7969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N"/>
            </a:p>
          </p:txBody>
        </p:sp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7911A701-5441-A741-B1A8-0946E5756F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15253" y="6494462"/>
              <a:ext cx="7969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N"/>
            </a:p>
          </p:txBody>
        </p:sp>
        <p:grpSp>
          <p:nvGrpSpPr>
            <p:cNvPr id="11" name="Group 11">
              <a:extLst>
                <a:ext uri="{FF2B5EF4-FFF2-40B4-BE49-F238E27FC236}">
                  <a16:creationId xmlns:a16="http://schemas.microsoft.com/office/drawing/2014/main" id="{916E60E5-4718-5D44-8302-0FC1BCBADFFF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789966" y="5360987"/>
              <a:ext cx="739775" cy="1131888"/>
              <a:chOff x="1027" y="1438"/>
              <a:chExt cx="466" cy="713"/>
            </a:xfrm>
          </p:grpSpPr>
          <p:sp>
            <p:nvSpPr>
              <p:cNvPr id="12" name="Line 12">
                <a:extLst>
                  <a:ext uri="{FF2B5EF4-FFF2-40B4-BE49-F238E27FC236}">
                    <a16:creationId xmlns:a16="http://schemas.microsoft.com/office/drawing/2014/main" id="{334FE2DA-8301-6E45-9731-337DB561CC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066" y="1765"/>
                <a:ext cx="427" cy="3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13" name="Line 13">
                <a:extLst>
                  <a:ext uri="{FF2B5EF4-FFF2-40B4-BE49-F238E27FC236}">
                    <a16:creationId xmlns:a16="http://schemas.microsoft.com/office/drawing/2014/main" id="{C2B2C579-3E31-354D-8BA3-1598DB3C1B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27" y="1438"/>
                <a:ext cx="444" cy="3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</p:grpSp>
        <p:grpSp>
          <p:nvGrpSpPr>
            <p:cNvPr id="14" name="Group 14">
              <a:extLst>
                <a:ext uri="{FF2B5EF4-FFF2-40B4-BE49-F238E27FC236}">
                  <a16:creationId xmlns:a16="http://schemas.microsoft.com/office/drawing/2014/main" id="{34E6653C-51FB-694F-880B-ED0689D2C0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37041" y="5365750"/>
              <a:ext cx="739775" cy="1131887"/>
              <a:chOff x="1027" y="1438"/>
              <a:chExt cx="466" cy="713"/>
            </a:xfrm>
          </p:grpSpPr>
          <p:sp>
            <p:nvSpPr>
              <p:cNvPr id="15" name="Line 15">
                <a:extLst>
                  <a:ext uri="{FF2B5EF4-FFF2-40B4-BE49-F238E27FC236}">
                    <a16:creationId xmlns:a16="http://schemas.microsoft.com/office/drawing/2014/main" id="{0394767D-A228-E141-BFED-418C2B87AF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066" y="1765"/>
                <a:ext cx="427" cy="3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16" name="Line 16">
                <a:extLst>
                  <a:ext uri="{FF2B5EF4-FFF2-40B4-BE49-F238E27FC236}">
                    <a16:creationId xmlns:a16="http://schemas.microsoft.com/office/drawing/2014/main" id="{F8658E2E-555C-D247-AF8C-004DE53B41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27" y="1438"/>
                <a:ext cx="444" cy="3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</p:grpSp>
        <p:sp>
          <p:nvSpPr>
            <p:cNvPr id="17" name="Line 17">
              <a:extLst>
                <a:ext uri="{FF2B5EF4-FFF2-40B4-BE49-F238E27FC236}">
                  <a16:creationId xmlns:a16="http://schemas.microsoft.com/office/drawing/2014/main" id="{C864AEEF-3A04-3E4B-BD1F-1A7BE5C1F6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9516" y="6497637"/>
              <a:ext cx="7969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N"/>
            </a:p>
          </p:txBody>
        </p:sp>
        <p:sp>
          <p:nvSpPr>
            <p:cNvPr id="18" name="Oval 18">
              <a:extLst>
                <a:ext uri="{FF2B5EF4-FFF2-40B4-BE49-F238E27FC236}">
                  <a16:creationId xmlns:a16="http://schemas.microsoft.com/office/drawing/2014/main" id="{DC049372-88C9-E145-8F7A-FAC2A68A31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0353" y="5757862"/>
              <a:ext cx="300038" cy="30003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CN" sz="2400" dirty="0">
                  <a:solidFill>
                    <a:schemeClr val="bg1"/>
                  </a:solidFill>
                </a:rPr>
                <a:t>S</a:t>
              </a:r>
            </a:p>
          </p:txBody>
        </p:sp>
        <p:sp>
          <p:nvSpPr>
            <p:cNvPr id="19" name="Oval 19">
              <a:extLst>
                <a:ext uri="{FF2B5EF4-FFF2-40B4-BE49-F238E27FC236}">
                  <a16:creationId xmlns:a16="http://schemas.microsoft.com/office/drawing/2014/main" id="{BE3B1FA4-448B-5147-AA1A-832594309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1078" y="5192712"/>
              <a:ext cx="300038" cy="30003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en-CN" altLang="en-CN" sz="2400"/>
            </a:p>
          </p:txBody>
        </p:sp>
        <p:sp>
          <p:nvSpPr>
            <p:cNvPr id="20" name="Oval 20">
              <a:extLst>
                <a:ext uri="{FF2B5EF4-FFF2-40B4-BE49-F238E27FC236}">
                  <a16:creationId xmlns:a16="http://schemas.microsoft.com/office/drawing/2014/main" id="{0CABD4EB-A49D-A14A-B117-B668A4ED86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1078" y="6340475"/>
              <a:ext cx="300038" cy="30003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en-CN" altLang="en-CN" sz="2400"/>
            </a:p>
          </p:txBody>
        </p:sp>
        <p:sp>
          <p:nvSpPr>
            <p:cNvPr id="21" name="Oval 21">
              <a:extLst>
                <a:ext uri="{FF2B5EF4-FFF2-40B4-BE49-F238E27FC236}">
                  <a16:creationId xmlns:a16="http://schemas.microsoft.com/office/drawing/2014/main" id="{A66DAEE0-F0FE-1644-ABC4-C67EEB11A8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9916" y="5192712"/>
              <a:ext cx="300037" cy="300038"/>
            </a:xfrm>
            <a:prstGeom prst="ellipse">
              <a:avLst/>
            </a:prstGeom>
            <a:solidFill>
              <a:srgbClr val="FF9966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en-CN" altLang="en-CN" sz="2400"/>
            </a:p>
          </p:txBody>
        </p:sp>
        <p:sp>
          <p:nvSpPr>
            <p:cNvPr id="22" name="Oval 22">
              <a:extLst>
                <a:ext uri="{FF2B5EF4-FFF2-40B4-BE49-F238E27FC236}">
                  <a16:creationId xmlns:a16="http://schemas.microsoft.com/office/drawing/2014/main" id="{08C57B51-76D8-3146-ABFC-CB13FF3B77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8603" y="5832475"/>
              <a:ext cx="300038" cy="300037"/>
            </a:xfrm>
            <a:prstGeom prst="ellipse">
              <a:avLst/>
            </a:prstGeom>
            <a:solidFill>
              <a:srgbClr val="FF9966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en-CN" altLang="en-CN" sz="2400"/>
            </a:p>
          </p:txBody>
        </p:sp>
        <p:sp>
          <p:nvSpPr>
            <p:cNvPr id="23" name="Oval 23">
              <a:extLst>
                <a:ext uri="{FF2B5EF4-FFF2-40B4-BE49-F238E27FC236}">
                  <a16:creationId xmlns:a16="http://schemas.microsoft.com/office/drawing/2014/main" id="{770BB905-4E97-2C49-A238-22B081F917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07291" y="5192712"/>
              <a:ext cx="300037" cy="30003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en-CN" altLang="en-CN" sz="2400"/>
            </a:p>
          </p:txBody>
        </p:sp>
        <p:sp>
          <p:nvSpPr>
            <p:cNvPr id="24" name="Oval 24">
              <a:extLst>
                <a:ext uri="{FF2B5EF4-FFF2-40B4-BE49-F238E27FC236}">
                  <a16:creationId xmlns:a16="http://schemas.microsoft.com/office/drawing/2014/main" id="{8E86FED5-5A5A-9E4F-AF56-87CA9C4F3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5978" y="5192712"/>
              <a:ext cx="300038" cy="300038"/>
            </a:xfrm>
            <a:prstGeom prst="ellipse">
              <a:avLst/>
            </a:prstGeom>
            <a:solidFill>
              <a:srgbClr val="FF9966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en-CN" altLang="en-CN" sz="2400"/>
            </a:p>
          </p:txBody>
        </p:sp>
        <p:sp>
          <p:nvSpPr>
            <p:cNvPr id="25" name="Oval 25">
              <a:extLst>
                <a:ext uri="{FF2B5EF4-FFF2-40B4-BE49-F238E27FC236}">
                  <a16:creationId xmlns:a16="http://schemas.microsoft.com/office/drawing/2014/main" id="{7A52EA8F-C3B3-434F-AC42-A56726D89E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9916" y="6340475"/>
              <a:ext cx="300037" cy="300037"/>
            </a:xfrm>
            <a:prstGeom prst="ellipse">
              <a:avLst/>
            </a:prstGeom>
            <a:solidFill>
              <a:srgbClr val="FF9966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en-CN" altLang="en-CN" sz="2400"/>
            </a:p>
          </p:txBody>
        </p:sp>
        <p:sp>
          <p:nvSpPr>
            <p:cNvPr id="26" name="Oval 26">
              <a:extLst>
                <a:ext uri="{FF2B5EF4-FFF2-40B4-BE49-F238E27FC236}">
                  <a16:creationId xmlns:a16="http://schemas.microsoft.com/office/drawing/2014/main" id="{86790A91-B440-584D-A3AF-408721F8A3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07291" y="6340475"/>
              <a:ext cx="300037" cy="30003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en-CN" altLang="en-CN" sz="2400"/>
            </a:p>
          </p:txBody>
        </p:sp>
        <p:sp>
          <p:nvSpPr>
            <p:cNvPr id="27" name="Oval 27">
              <a:extLst>
                <a:ext uri="{FF2B5EF4-FFF2-40B4-BE49-F238E27FC236}">
                  <a16:creationId xmlns:a16="http://schemas.microsoft.com/office/drawing/2014/main" id="{915E1FE6-8E02-A745-8F97-C3FDC9E2AD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5978" y="6340475"/>
              <a:ext cx="300038" cy="30003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en-CN" altLang="en-CN" sz="2400"/>
            </a:p>
          </p:txBody>
        </p:sp>
        <p:sp>
          <p:nvSpPr>
            <p:cNvPr id="28" name="Oval 28">
              <a:extLst>
                <a:ext uri="{FF2B5EF4-FFF2-40B4-BE49-F238E27FC236}">
                  <a16:creationId xmlns:a16="http://schemas.microsoft.com/office/drawing/2014/main" id="{B07EBBAD-CBC8-104E-91B8-3C237C0324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28128" y="5759450"/>
              <a:ext cx="300038" cy="30003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CN" sz="2400" dirty="0">
                  <a:solidFill>
                    <a:schemeClr val="bg1"/>
                  </a:solidFill>
                </a:rPr>
                <a:t>T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C9D0436-2DA4-9140-AD6E-ED04D0CED72C}"/>
              </a:ext>
            </a:extLst>
          </p:cNvPr>
          <p:cNvGrpSpPr/>
          <p:nvPr/>
        </p:nvGrpSpPr>
        <p:grpSpPr>
          <a:xfrm>
            <a:off x="6653214" y="2132718"/>
            <a:ext cx="5357813" cy="1447800"/>
            <a:chOff x="3382501" y="4581065"/>
            <a:chExt cx="5357813" cy="1447800"/>
          </a:xfrm>
        </p:grpSpPr>
        <p:grpSp>
          <p:nvGrpSpPr>
            <p:cNvPr id="31" name="Group 5">
              <a:extLst>
                <a:ext uri="{FF2B5EF4-FFF2-40B4-BE49-F238E27FC236}">
                  <a16:creationId xmlns:a16="http://schemas.microsoft.com/office/drawing/2014/main" id="{C5C4A7B5-09C4-5B4E-B9C5-EDBE6FD8C9B6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902114" y="4749340"/>
              <a:ext cx="739775" cy="1131887"/>
              <a:chOff x="1027" y="1438"/>
              <a:chExt cx="466" cy="713"/>
            </a:xfrm>
          </p:grpSpPr>
          <p:sp>
            <p:nvSpPr>
              <p:cNvPr id="49" name="Line 6">
                <a:extLst>
                  <a:ext uri="{FF2B5EF4-FFF2-40B4-BE49-F238E27FC236}">
                    <a16:creationId xmlns:a16="http://schemas.microsoft.com/office/drawing/2014/main" id="{7B1EF91A-0027-B74A-A05A-93A2A722BD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066" y="1765"/>
                <a:ext cx="427" cy="3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50" name="Line 7">
                <a:extLst>
                  <a:ext uri="{FF2B5EF4-FFF2-40B4-BE49-F238E27FC236}">
                    <a16:creationId xmlns:a16="http://schemas.microsoft.com/office/drawing/2014/main" id="{B0F028CA-0731-F947-BD2B-8D5A7549DE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27" y="1438"/>
                <a:ext cx="444" cy="3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</p:grpSp>
        <p:grpSp>
          <p:nvGrpSpPr>
            <p:cNvPr id="32" name="Group 8">
              <a:extLst>
                <a:ext uri="{FF2B5EF4-FFF2-40B4-BE49-F238E27FC236}">
                  <a16:creationId xmlns:a16="http://schemas.microsoft.com/office/drawing/2014/main" id="{00F7C239-EE6B-7343-854E-B61E112274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49189" y="4754102"/>
              <a:ext cx="739775" cy="1131888"/>
              <a:chOff x="1027" y="1438"/>
              <a:chExt cx="466" cy="713"/>
            </a:xfrm>
          </p:grpSpPr>
          <p:sp>
            <p:nvSpPr>
              <p:cNvPr id="47" name="Line 9">
                <a:extLst>
                  <a:ext uri="{FF2B5EF4-FFF2-40B4-BE49-F238E27FC236}">
                    <a16:creationId xmlns:a16="http://schemas.microsoft.com/office/drawing/2014/main" id="{C34B69FB-684A-7542-A8CE-6EFD7BBBF3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066" y="1765"/>
                <a:ext cx="427" cy="3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48" name="Line 10">
                <a:extLst>
                  <a:ext uri="{FF2B5EF4-FFF2-40B4-BE49-F238E27FC236}">
                    <a16:creationId xmlns:a16="http://schemas.microsoft.com/office/drawing/2014/main" id="{12E17711-1A88-9847-A8AA-AD15C46EBE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27" y="1438"/>
                <a:ext cx="444" cy="3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</p:grpSp>
        <p:sp>
          <p:nvSpPr>
            <p:cNvPr id="33" name="Line 11">
              <a:extLst>
                <a:ext uri="{FF2B5EF4-FFF2-40B4-BE49-F238E27FC236}">
                  <a16:creationId xmlns:a16="http://schemas.microsoft.com/office/drawing/2014/main" id="{3BC624C4-EA62-B349-9ACF-ED20E55F15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1664" y="5885990"/>
              <a:ext cx="36798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N"/>
            </a:p>
          </p:txBody>
        </p:sp>
        <p:sp>
          <p:nvSpPr>
            <p:cNvPr id="34" name="Line 12">
              <a:extLst>
                <a:ext uri="{FF2B5EF4-FFF2-40B4-BE49-F238E27FC236}">
                  <a16:creationId xmlns:a16="http://schemas.microsoft.com/office/drawing/2014/main" id="{B2BE9EC6-0EC6-194E-BECA-DE51A19101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1339" y="4728702"/>
              <a:ext cx="36798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N"/>
            </a:p>
          </p:txBody>
        </p:sp>
        <p:sp>
          <p:nvSpPr>
            <p:cNvPr id="35" name="Oval 13">
              <a:extLst>
                <a:ext uri="{FF2B5EF4-FFF2-40B4-BE49-F238E27FC236}">
                  <a16:creationId xmlns:a16="http://schemas.microsoft.com/office/drawing/2014/main" id="{123BCE41-001B-A04B-8E8F-7BFFF2F8A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2501" y="5146215"/>
              <a:ext cx="300038" cy="30003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CN" sz="2400" dirty="0">
                  <a:solidFill>
                    <a:schemeClr val="bg1"/>
                  </a:solidFill>
                </a:rPr>
                <a:t>S</a:t>
              </a:r>
            </a:p>
          </p:txBody>
        </p:sp>
        <p:sp>
          <p:nvSpPr>
            <p:cNvPr id="36" name="Oval 14">
              <a:extLst>
                <a:ext uri="{FF2B5EF4-FFF2-40B4-BE49-F238E27FC236}">
                  <a16:creationId xmlns:a16="http://schemas.microsoft.com/office/drawing/2014/main" id="{D5F3C889-8520-D444-9CB1-862E1736DF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3226" y="4581065"/>
              <a:ext cx="300038" cy="30003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en-CN" altLang="en-CN" sz="2400"/>
            </a:p>
          </p:txBody>
        </p:sp>
        <p:sp>
          <p:nvSpPr>
            <p:cNvPr id="37" name="Oval 15">
              <a:extLst>
                <a:ext uri="{FF2B5EF4-FFF2-40B4-BE49-F238E27FC236}">
                  <a16:creationId xmlns:a16="http://schemas.microsoft.com/office/drawing/2014/main" id="{5DD52217-356D-0C4A-8652-39E442F651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3226" y="5728827"/>
              <a:ext cx="300038" cy="30003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en-CN" altLang="en-CN" sz="2400"/>
            </a:p>
          </p:txBody>
        </p:sp>
        <p:sp>
          <p:nvSpPr>
            <p:cNvPr id="38" name="Oval 16">
              <a:extLst>
                <a:ext uri="{FF2B5EF4-FFF2-40B4-BE49-F238E27FC236}">
                  <a16:creationId xmlns:a16="http://schemas.microsoft.com/office/drawing/2014/main" id="{63C9C10A-909D-064C-B23F-82A7070A6E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2064" y="4581065"/>
              <a:ext cx="300037" cy="300037"/>
            </a:xfrm>
            <a:prstGeom prst="ellipse">
              <a:avLst/>
            </a:prstGeom>
            <a:solidFill>
              <a:srgbClr val="FF9966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en-CN" altLang="en-CN" sz="2400"/>
            </a:p>
          </p:txBody>
        </p:sp>
        <p:sp>
          <p:nvSpPr>
            <p:cNvPr id="39" name="Oval 17">
              <a:extLst>
                <a:ext uri="{FF2B5EF4-FFF2-40B4-BE49-F238E27FC236}">
                  <a16:creationId xmlns:a16="http://schemas.microsoft.com/office/drawing/2014/main" id="{14375AEC-A995-104E-A702-0D2D7BB2DF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0751" y="4581065"/>
              <a:ext cx="300038" cy="300037"/>
            </a:xfrm>
            <a:prstGeom prst="ellipse">
              <a:avLst/>
            </a:prstGeom>
            <a:solidFill>
              <a:srgbClr val="FF9966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en-CN" altLang="en-CN" sz="2400"/>
            </a:p>
          </p:txBody>
        </p:sp>
        <p:sp>
          <p:nvSpPr>
            <p:cNvPr id="40" name="Oval 18">
              <a:extLst>
                <a:ext uri="{FF2B5EF4-FFF2-40B4-BE49-F238E27FC236}">
                  <a16:creationId xmlns:a16="http://schemas.microsoft.com/office/drawing/2014/main" id="{46700E55-6224-7E4E-82D9-58B2C38A68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19439" y="4581065"/>
              <a:ext cx="300037" cy="30003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en-CN" altLang="en-CN" sz="2400"/>
            </a:p>
          </p:txBody>
        </p:sp>
        <p:sp>
          <p:nvSpPr>
            <p:cNvPr id="41" name="Oval 19">
              <a:extLst>
                <a:ext uri="{FF2B5EF4-FFF2-40B4-BE49-F238E27FC236}">
                  <a16:creationId xmlns:a16="http://schemas.microsoft.com/office/drawing/2014/main" id="{F54B6B10-7C32-A048-B2F1-167A882E5E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48126" y="4581065"/>
              <a:ext cx="300038" cy="300037"/>
            </a:xfrm>
            <a:prstGeom prst="ellipse">
              <a:avLst/>
            </a:prstGeom>
            <a:solidFill>
              <a:srgbClr val="FF9966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en-CN" altLang="en-CN" sz="2400"/>
            </a:p>
          </p:txBody>
        </p:sp>
        <p:sp>
          <p:nvSpPr>
            <p:cNvPr id="42" name="Oval 20">
              <a:extLst>
                <a:ext uri="{FF2B5EF4-FFF2-40B4-BE49-F238E27FC236}">
                  <a16:creationId xmlns:a16="http://schemas.microsoft.com/office/drawing/2014/main" id="{A2AEE43A-DB95-B24B-92DC-862D63A162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2064" y="5728827"/>
              <a:ext cx="300037" cy="300038"/>
            </a:xfrm>
            <a:prstGeom prst="ellipse">
              <a:avLst/>
            </a:prstGeom>
            <a:solidFill>
              <a:srgbClr val="FF9966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en-CN" altLang="en-CN" sz="2400"/>
            </a:p>
          </p:txBody>
        </p:sp>
        <p:sp>
          <p:nvSpPr>
            <p:cNvPr id="43" name="Oval 21">
              <a:extLst>
                <a:ext uri="{FF2B5EF4-FFF2-40B4-BE49-F238E27FC236}">
                  <a16:creationId xmlns:a16="http://schemas.microsoft.com/office/drawing/2014/main" id="{0DC1A890-FE2B-1A42-AE29-CCF67891B9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0751" y="5728827"/>
              <a:ext cx="300038" cy="300038"/>
            </a:xfrm>
            <a:prstGeom prst="ellipse">
              <a:avLst/>
            </a:prstGeom>
            <a:solidFill>
              <a:srgbClr val="FF9966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en-CN" altLang="en-CN" sz="2400"/>
            </a:p>
          </p:txBody>
        </p:sp>
        <p:sp>
          <p:nvSpPr>
            <p:cNvPr id="44" name="Oval 22">
              <a:extLst>
                <a:ext uri="{FF2B5EF4-FFF2-40B4-BE49-F238E27FC236}">
                  <a16:creationId xmlns:a16="http://schemas.microsoft.com/office/drawing/2014/main" id="{B93BFC5F-73DB-1B46-B52D-FEBF43DAE3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19439" y="5728827"/>
              <a:ext cx="300037" cy="30003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en-CN" altLang="en-CN" sz="2400"/>
            </a:p>
          </p:txBody>
        </p:sp>
        <p:sp>
          <p:nvSpPr>
            <p:cNvPr id="45" name="Oval 23">
              <a:extLst>
                <a:ext uri="{FF2B5EF4-FFF2-40B4-BE49-F238E27FC236}">
                  <a16:creationId xmlns:a16="http://schemas.microsoft.com/office/drawing/2014/main" id="{3565508B-3E2D-1A43-9235-1D1EA65DB9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48126" y="5728827"/>
              <a:ext cx="300038" cy="30003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en-CN" altLang="en-CN" sz="2400"/>
            </a:p>
          </p:txBody>
        </p:sp>
        <p:sp>
          <p:nvSpPr>
            <p:cNvPr id="46" name="Oval 24">
              <a:extLst>
                <a:ext uri="{FF2B5EF4-FFF2-40B4-BE49-F238E27FC236}">
                  <a16:creationId xmlns:a16="http://schemas.microsoft.com/office/drawing/2014/main" id="{07414887-10E6-624B-A668-7FD27873B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40276" y="5147802"/>
              <a:ext cx="300038" cy="30003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CN" sz="2400" dirty="0">
                  <a:solidFill>
                    <a:schemeClr val="bg1"/>
                  </a:solidFill>
                </a:rPr>
                <a:t>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11658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87901-8469-E748-AE60-B2370A54E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4CD0B-304D-C342-A2A1-B237C78B4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Structural Cohension</a:t>
            </a:r>
          </a:p>
          <a:p>
            <a:pPr lvl="1"/>
            <a:r>
              <a:rPr lang="en-US" dirty="0"/>
              <a:t>“Instead of focusing on the local involvement of actors (that their friends are friends with each other, or that there are a few with many ties), we ask what relational configuration is required for a cohesive network? </a:t>
            </a:r>
            <a:r>
              <a:rPr lang="en-US" altLang="en-CN" dirty="0"/>
              <a:t>we focus directly on the minimum requirements for holding a network together ”</a:t>
            </a:r>
            <a:r>
              <a:rPr lang="en-US" dirty="0"/>
              <a:t> - James Moody(2003, PAA)</a:t>
            </a:r>
          </a:p>
          <a:p>
            <a:endParaRPr lang="en-US" dirty="0"/>
          </a:p>
          <a:p>
            <a:r>
              <a:rPr lang="en-US" dirty="0"/>
              <a:t>An intuitive definition of structural cohesion:</a:t>
            </a:r>
          </a:p>
          <a:p>
            <a:pPr lvl="1"/>
            <a:r>
              <a:rPr lang="en-US" dirty="0"/>
              <a:t>A collectivity is structurally cohesive to the extent that the social relations of its members hold it together.</a:t>
            </a:r>
          </a:p>
          <a:p>
            <a:pPr lvl="1"/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105997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C430D-05CF-E34B-A89C-A368C9B4A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D9E59-BECE-CE4A-8873-AB0F77C14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CN" sz="2800" dirty="0"/>
              <a:t>The minimum requirement for structural cohesion is that the collection be connected.</a:t>
            </a:r>
          </a:p>
          <a:p>
            <a:endParaRPr lang="en-CN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370282D-6A0E-F44E-B0A9-4AA8C9E4B13A}"/>
              </a:ext>
            </a:extLst>
          </p:cNvPr>
          <p:cNvGrpSpPr/>
          <p:nvPr/>
        </p:nvGrpSpPr>
        <p:grpSpPr>
          <a:xfrm>
            <a:off x="4280770" y="3134032"/>
            <a:ext cx="3630459" cy="2368499"/>
            <a:chOff x="1089025" y="1371600"/>
            <a:chExt cx="5995988" cy="4071938"/>
          </a:xfrm>
        </p:grpSpPr>
        <p:sp>
          <p:nvSpPr>
            <p:cNvPr id="4" name="Line 17">
              <a:extLst>
                <a:ext uri="{FF2B5EF4-FFF2-40B4-BE49-F238E27FC236}">
                  <a16:creationId xmlns:a16="http://schemas.microsoft.com/office/drawing/2014/main" id="{956310C2-565D-4641-9FB4-839E0804B3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01750" y="1497013"/>
              <a:ext cx="1619250" cy="5492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5" name="Line 18">
              <a:extLst>
                <a:ext uri="{FF2B5EF4-FFF2-40B4-BE49-F238E27FC236}">
                  <a16:creationId xmlns:a16="http://schemas.microsoft.com/office/drawing/2014/main" id="{CAA64513-768D-6845-BAC1-5970369985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71975" y="1930400"/>
              <a:ext cx="593725" cy="1538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6" name="Line 19">
              <a:extLst>
                <a:ext uri="{FF2B5EF4-FFF2-40B4-BE49-F238E27FC236}">
                  <a16:creationId xmlns:a16="http://schemas.microsoft.com/office/drawing/2014/main" id="{2C72511A-8D8F-DC41-BA1D-2578EB4BC5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46825" y="2528888"/>
              <a:ext cx="592138" cy="939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7" name="Line 20">
              <a:extLst>
                <a:ext uri="{FF2B5EF4-FFF2-40B4-BE49-F238E27FC236}">
                  <a16:creationId xmlns:a16="http://schemas.microsoft.com/office/drawing/2014/main" id="{FB2F8C59-690E-8A4F-BB2A-BC3391BAA2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6538" y="4522788"/>
              <a:ext cx="1285875" cy="7572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8" name="Line 21">
              <a:extLst>
                <a:ext uri="{FF2B5EF4-FFF2-40B4-BE49-F238E27FC236}">
                  <a16:creationId xmlns:a16="http://schemas.microsoft.com/office/drawing/2014/main" id="{0FCCA934-F154-3148-A6F4-D448620249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65275" y="2390775"/>
              <a:ext cx="1617663" cy="9636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9" name="Line 22">
              <a:extLst>
                <a:ext uri="{FF2B5EF4-FFF2-40B4-BE49-F238E27FC236}">
                  <a16:creationId xmlns:a16="http://schemas.microsoft.com/office/drawing/2014/main" id="{AD8A94B0-EAC6-5047-9FCA-F514A5ABE4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99013" y="4202113"/>
              <a:ext cx="1214437" cy="390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0" name="Line 23">
              <a:extLst>
                <a:ext uri="{FF2B5EF4-FFF2-40B4-BE49-F238E27FC236}">
                  <a16:creationId xmlns:a16="http://schemas.microsoft.com/office/drawing/2014/main" id="{49A7DEA8-C800-EA41-9F20-5A7610045F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84475" y="3494088"/>
              <a:ext cx="3562350" cy="9826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" name="Line 24">
              <a:extLst>
                <a:ext uri="{FF2B5EF4-FFF2-40B4-BE49-F238E27FC236}">
                  <a16:creationId xmlns:a16="http://schemas.microsoft.com/office/drawing/2014/main" id="{15B197B5-75DE-BC4E-8541-0A85C5637D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7188" y="1541463"/>
              <a:ext cx="260350" cy="825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2" name="Line 25">
              <a:extLst>
                <a:ext uri="{FF2B5EF4-FFF2-40B4-BE49-F238E27FC236}">
                  <a16:creationId xmlns:a16="http://schemas.microsoft.com/office/drawing/2014/main" id="{F3FC3355-44D5-5E44-9822-28EBC017EC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49563" y="2482850"/>
              <a:ext cx="284162" cy="1927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3" name="Line 26">
              <a:extLst>
                <a:ext uri="{FF2B5EF4-FFF2-40B4-BE49-F238E27FC236}">
                  <a16:creationId xmlns:a16="http://schemas.microsoft.com/office/drawing/2014/main" id="{39965ABD-61F8-BF4B-B56C-1E5EB7670A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62413" y="4202113"/>
              <a:ext cx="758825" cy="1077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4" name="Line 27">
              <a:extLst>
                <a:ext uri="{FF2B5EF4-FFF2-40B4-BE49-F238E27FC236}">
                  <a16:creationId xmlns:a16="http://schemas.microsoft.com/office/drawing/2014/main" id="{380CB03B-DE3C-C547-BC88-952AC439E6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95788" y="3490913"/>
              <a:ext cx="476250" cy="6873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N"/>
            </a:p>
          </p:txBody>
        </p:sp>
        <p:grpSp>
          <p:nvGrpSpPr>
            <p:cNvPr id="15" name="Group 16">
              <a:extLst>
                <a:ext uri="{FF2B5EF4-FFF2-40B4-BE49-F238E27FC236}">
                  <a16:creationId xmlns:a16="http://schemas.microsoft.com/office/drawing/2014/main" id="{74FE46A8-60A0-7445-8BD3-0B4A680B47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89025" y="1371600"/>
              <a:ext cx="5995988" cy="4071938"/>
              <a:chOff x="1600" y="1011"/>
              <a:chExt cx="2305" cy="1623"/>
            </a:xfrm>
          </p:grpSpPr>
          <p:sp>
            <p:nvSpPr>
              <p:cNvPr id="16" name="Oval 4">
                <a:extLst>
                  <a:ext uri="{FF2B5EF4-FFF2-40B4-BE49-F238E27FC236}">
                    <a16:creationId xmlns:a16="http://schemas.microsoft.com/office/drawing/2014/main" id="{330ED445-AE7A-F14E-9A35-BC8CCD0376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00" y="1216"/>
                <a:ext cx="128" cy="11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17" name="Oval 5">
                <a:extLst>
                  <a:ext uri="{FF2B5EF4-FFF2-40B4-BE49-F238E27FC236}">
                    <a16:creationId xmlns:a16="http://schemas.microsoft.com/office/drawing/2014/main" id="{AD9BE9E3-E123-A847-9A70-3A3ED18509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7" y="1011"/>
                <a:ext cx="128" cy="11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18" name="Oval 6">
                <a:extLst>
                  <a:ext uri="{FF2B5EF4-FFF2-40B4-BE49-F238E27FC236}">
                    <a16:creationId xmlns:a16="http://schemas.microsoft.com/office/drawing/2014/main" id="{4D98F01D-B68B-1C43-9CA3-5C62ADD262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9" y="1737"/>
                <a:ext cx="128" cy="11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19" name="Oval 7">
                <a:extLst>
                  <a:ext uri="{FF2B5EF4-FFF2-40B4-BE49-F238E27FC236}">
                    <a16:creationId xmlns:a16="http://schemas.microsoft.com/office/drawing/2014/main" id="{554D0676-F5B8-B542-9BEB-5E4485CF70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8" y="1357"/>
                <a:ext cx="128" cy="11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20" name="Oval 8">
                <a:extLst>
                  <a:ext uri="{FF2B5EF4-FFF2-40B4-BE49-F238E27FC236}">
                    <a16:creationId xmlns:a16="http://schemas.microsoft.com/office/drawing/2014/main" id="{E756F44B-2621-CC48-8DB5-A150C65752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9" y="1801"/>
                <a:ext cx="128" cy="11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21" name="Oval 9">
                <a:extLst>
                  <a:ext uri="{FF2B5EF4-FFF2-40B4-BE49-F238E27FC236}">
                    <a16:creationId xmlns:a16="http://schemas.microsoft.com/office/drawing/2014/main" id="{648A746B-FE4E-B946-8F95-1E83EED44A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13" y="1184"/>
                <a:ext cx="128" cy="11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22" name="Oval 10">
                <a:extLst>
                  <a:ext uri="{FF2B5EF4-FFF2-40B4-BE49-F238E27FC236}">
                    <a16:creationId xmlns:a16="http://schemas.microsoft.com/office/drawing/2014/main" id="{8058B956-3A99-F34A-9302-05310366E2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6" y="2185"/>
                <a:ext cx="128" cy="11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23" name="Oval 11">
                <a:extLst>
                  <a:ext uri="{FF2B5EF4-FFF2-40B4-BE49-F238E27FC236}">
                    <a16:creationId xmlns:a16="http://schemas.microsoft.com/office/drawing/2014/main" id="{4560C5A1-8521-4247-ACE1-885203B48B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6" y="2071"/>
                <a:ext cx="128" cy="11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24" name="Oval 12">
                <a:extLst>
                  <a:ext uri="{FF2B5EF4-FFF2-40B4-BE49-F238E27FC236}">
                    <a16:creationId xmlns:a16="http://schemas.microsoft.com/office/drawing/2014/main" id="{47FC4699-1ECA-1A44-B1BE-20E10CE4FA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79" y="2515"/>
                <a:ext cx="128" cy="11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25" name="Oval 13">
                <a:extLst>
                  <a:ext uri="{FF2B5EF4-FFF2-40B4-BE49-F238E27FC236}">
                    <a16:creationId xmlns:a16="http://schemas.microsoft.com/office/drawing/2014/main" id="{D3BEABBC-656F-F046-B03D-926E5049C5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3" y="1779"/>
                <a:ext cx="128" cy="11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26" name="Oval 14">
                <a:extLst>
                  <a:ext uri="{FF2B5EF4-FFF2-40B4-BE49-F238E27FC236}">
                    <a16:creationId xmlns:a16="http://schemas.microsoft.com/office/drawing/2014/main" id="{552FB29C-CD1A-F049-9F65-EC079B73D4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77" y="1408"/>
                <a:ext cx="128" cy="11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27" name="Oval 15">
                <a:extLst>
                  <a:ext uri="{FF2B5EF4-FFF2-40B4-BE49-F238E27FC236}">
                    <a16:creationId xmlns:a16="http://schemas.microsoft.com/office/drawing/2014/main" id="{77CAF748-7B0C-6D40-99B3-3B095B8CB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33" y="2235"/>
                <a:ext cx="128" cy="11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30093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DF39-D3FC-D344-8C6D-CDF34B5FD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8C255-2156-C54A-8578-097166E6E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imaging we increase relational volume,</a:t>
            </a:r>
            <a:endParaRPr lang="en-CN" dirty="0"/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CDCF471E-ABCB-034E-94FD-4D12C62C4A69}"/>
              </a:ext>
            </a:extLst>
          </p:cNvPr>
          <p:cNvGrpSpPr/>
          <p:nvPr/>
        </p:nvGrpSpPr>
        <p:grpSpPr>
          <a:xfrm>
            <a:off x="4159044" y="3071049"/>
            <a:ext cx="4675240" cy="3105914"/>
            <a:chOff x="1089025" y="1371600"/>
            <a:chExt cx="5995988" cy="4071938"/>
          </a:xfrm>
        </p:grpSpPr>
        <p:sp>
          <p:nvSpPr>
            <p:cNvPr id="61" name="Line 1063">
              <a:extLst>
                <a:ext uri="{FF2B5EF4-FFF2-40B4-BE49-F238E27FC236}">
                  <a16:creationId xmlns:a16="http://schemas.microsoft.com/office/drawing/2014/main" id="{2359A777-728D-4943-8E1E-9B4943144C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873375" y="4484688"/>
              <a:ext cx="3163888" cy="130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62" name="Line 1064">
              <a:extLst>
                <a:ext uri="{FF2B5EF4-FFF2-40B4-BE49-F238E27FC236}">
                  <a16:creationId xmlns:a16="http://schemas.microsoft.com/office/drawing/2014/main" id="{5EA4F4E6-A583-C84D-827A-864F5C10FE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28913" y="2540000"/>
              <a:ext cx="4165600" cy="1930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63" name="Line 1057">
              <a:extLst>
                <a:ext uri="{FF2B5EF4-FFF2-40B4-BE49-F238E27FC236}">
                  <a16:creationId xmlns:a16="http://schemas.microsoft.com/office/drawing/2014/main" id="{95DC4A09-745D-4240-80D3-8F0D77593E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2738" y="3352800"/>
              <a:ext cx="1203325" cy="10890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64" name="Line 1058">
              <a:extLst>
                <a:ext uri="{FF2B5EF4-FFF2-40B4-BE49-F238E27FC236}">
                  <a16:creationId xmlns:a16="http://schemas.microsoft.com/office/drawing/2014/main" id="{0BB22F35-DD41-B241-84BC-7E466429AC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6513" y="2133600"/>
              <a:ext cx="1479550" cy="23510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65" name="Line 1059">
              <a:extLst>
                <a:ext uri="{FF2B5EF4-FFF2-40B4-BE49-F238E27FC236}">
                  <a16:creationId xmlns:a16="http://schemas.microsoft.com/office/drawing/2014/main" id="{241971F6-A23A-DA42-8992-159EB5764B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71775" y="1509713"/>
              <a:ext cx="87313" cy="2946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66" name="Line 1060">
              <a:extLst>
                <a:ext uri="{FF2B5EF4-FFF2-40B4-BE49-F238E27FC236}">
                  <a16:creationId xmlns:a16="http://schemas.microsoft.com/office/drawing/2014/main" id="{7D179196-9008-A84C-BF25-8BFD78D45E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71775" y="3527425"/>
              <a:ext cx="1538288" cy="9286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67" name="Line 1062">
              <a:extLst>
                <a:ext uri="{FF2B5EF4-FFF2-40B4-BE49-F238E27FC236}">
                  <a16:creationId xmlns:a16="http://schemas.microsoft.com/office/drawing/2014/main" id="{DA662F40-A42D-9249-A3DF-DE16FBE20B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01938" y="1989138"/>
              <a:ext cx="2133600" cy="2481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N"/>
            </a:p>
          </p:txBody>
        </p:sp>
        <p:grpSp>
          <p:nvGrpSpPr>
            <p:cNvPr id="68" name="Group 1067">
              <a:extLst>
                <a:ext uri="{FF2B5EF4-FFF2-40B4-BE49-F238E27FC236}">
                  <a16:creationId xmlns:a16="http://schemas.microsoft.com/office/drawing/2014/main" id="{1C18AD29-9C50-CA45-A9D6-8509B2F182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01750" y="1497013"/>
              <a:ext cx="5637213" cy="3783012"/>
              <a:chOff x="820" y="943"/>
              <a:chExt cx="3551" cy="2383"/>
            </a:xfrm>
          </p:grpSpPr>
          <p:sp>
            <p:nvSpPr>
              <p:cNvPr id="69" name="Line 1029">
                <a:extLst>
                  <a:ext uri="{FF2B5EF4-FFF2-40B4-BE49-F238E27FC236}">
                    <a16:creationId xmlns:a16="http://schemas.microsoft.com/office/drawing/2014/main" id="{23125FC5-7B69-8A4B-9163-87CCF82984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20" y="943"/>
                <a:ext cx="1020" cy="34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70" name="Line 1030">
                <a:extLst>
                  <a:ext uri="{FF2B5EF4-FFF2-40B4-BE49-F238E27FC236}">
                    <a16:creationId xmlns:a16="http://schemas.microsoft.com/office/drawing/2014/main" id="{32F6AB6C-B5BC-9D49-9429-851E654686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54" y="1216"/>
                <a:ext cx="374" cy="9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71" name="Line 1031">
                <a:extLst>
                  <a:ext uri="{FF2B5EF4-FFF2-40B4-BE49-F238E27FC236}">
                    <a16:creationId xmlns:a16="http://schemas.microsoft.com/office/drawing/2014/main" id="{1E422744-86C5-7B47-8CAE-60677C0D85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98" y="1593"/>
                <a:ext cx="373" cy="5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72" name="Line 1032">
                <a:extLst>
                  <a:ext uri="{FF2B5EF4-FFF2-40B4-BE49-F238E27FC236}">
                    <a16:creationId xmlns:a16="http://schemas.microsoft.com/office/drawing/2014/main" id="{48F2B8BE-0F14-F34E-A361-0127B22109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9" y="2849"/>
                <a:ext cx="810" cy="47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73" name="Line 1033">
                <a:extLst>
                  <a:ext uri="{FF2B5EF4-FFF2-40B4-BE49-F238E27FC236}">
                    <a16:creationId xmlns:a16="http://schemas.microsoft.com/office/drawing/2014/main" id="{ED63DF4D-4DA5-B14D-9309-ED5810CF22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86" y="1506"/>
                <a:ext cx="1019" cy="60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74" name="Line 1034">
                <a:extLst>
                  <a:ext uri="{FF2B5EF4-FFF2-40B4-BE49-F238E27FC236}">
                    <a16:creationId xmlns:a16="http://schemas.microsoft.com/office/drawing/2014/main" id="{1A6A19D9-C9A2-D14A-B481-0FE926FEBD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23" y="2647"/>
                <a:ext cx="765" cy="24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75" name="Line 1035">
                <a:extLst>
                  <a:ext uri="{FF2B5EF4-FFF2-40B4-BE49-F238E27FC236}">
                    <a16:creationId xmlns:a16="http://schemas.microsoft.com/office/drawing/2014/main" id="{A8D04E9C-18C3-7A45-B5C0-DC93141553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91" y="2201"/>
                <a:ext cx="2207" cy="5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76" name="Line 1036">
                <a:extLst>
                  <a:ext uri="{FF2B5EF4-FFF2-40B4-BE49-F238E27FC236}">
                    <a16:creationId xmlns:a16="http://schemas.microsoft.com/office/drawing/2014/main" id="{2E543513-427F-0745-839D-F0B1BC8E78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5" y="971"/>
                <a:ext cx="164" cy="52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77" name="Line 1037">
                <a:extLst>
                  <a:ext uri="{FF2B5EF4-FFF2-40B4-BE49-F238E27FC236}">
                    <a16:creationId xmlns:a16="http://schemas.microsoft.com/office/drawing/2014/main" id="{5D2F7672-E213-D040-8569-41905AFB23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95" y="1564"/>
                <a:ext cx="179" cy="121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78" name="Line 1038">
                <a:extLst>
                  <a:ext uri="{FF2B5EF4-FFF2-40B4-BE49-F238E27FC236}">
                    <a16:creationId xmlns:a16="http://schemas.microsoft.com/office/drawing/2014/main" id="{E5E52AAD-328D-CC44-80A3-26B1A9CFE9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59" y="2647"/>
                <a:ext cx="478" cy="67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79" name="Line 1039">
                <a:extLst>
                  <a:ext uri="{FF2B5EF4-FFF2-40B4-BE49-F238E27FC236}">
                    <a16:creationId xmlns:a16="http://schemas.microsoft.com/office/drawing/2014/main" id="{C97E34B0-9023-CF46-BDED-15792AB5AE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769" y="2199"/>
                <a:ext cx="300" cy="43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80" name="Group 1040">
              <a:extLst>
                <a:ext uri="{FF2B5EF4-FFF2-40B4-BE49-F238E27FC236}">
                  <a16:creationId xmlns:a16="http://schemas.microsoft.com/office/drawing/2014/main" id="{0B4A96CF-B621-AD49-AEA6-3DB09F0E46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89025" y="1371600"/>
              <a:ext cx="5995988" cy="4071938"/>
              <a:chOff x="1600" y="1011"/>
              <a:chExt cx="2305" cy="1623"/>
            </a:xfrm>
          </p:grpSpPr>
          <p:sp>
            <p:nvSpPr>
              <p:cNvPr id="81" name="Oval 1041">
                <a:extLst>
                  <a:ext uri="{FF2B5EF4-FFF2-40B4-BE49-F238E27FC236}">
                    <a16:creationId xmlns:a16="http://schemas.microsoft.com/office/drawing/2014/main" id="{FE2E72AA-ED9D-C747-8A7D-17F336312F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00" y="1216"/>
                <a:ext cx="128" cy="11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82" name="Oval 1042">
                <a:extLst>
                  <a:ext uri="{FF2B5EF4-FFF2-40B4-BE49-F238E27FC236}">
                    <a16:creationId xmlns:a16="http://schemas.microsoft.com/office/drawing/2014/main" id="{3F6CC7F8-08B5-3343-B7A7-21BA7670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7" y="1011"/>
                <a:ext cx="128" cy="11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83" name="Oval 1043">
                <a:extLst>
                  <a:ext uri="{FF2B5EF4-FFF2-40B4-BE49-F238E27FC236}">
                    <a16:creationId xmlns:a16="http://schemas.microsoft.com/office/drawing/2014/main" id="{6B4C4C82-72B5-504F-86E4-BB89DAC063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9" y="1737"/>
                <a:ext cx="128" cy="11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84" name="Oval 1044">
                <a:extLst>
                  <a:ext uri="{FF2B5EF4-FFF2-40B4-BE49-F238E27FC236}">
                    <a16:creationId xmlns:a16="http://schemas.microsoft.com/office/drawing/2014/main" id="{E05E6AD3-B2D6-604B-AD8D-3E577DCF84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8" y="1357"/>
                <a:ext cx="128" cy="11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85" name="Oval 1045">
                <a:extLst>
                  <a:ext uri="{FF2B5EF4-FFF2-40B4-BE49-F238E27FC236}">
                    <a16:creationId xmlns:a16="http://schemas.microsoft.com/office/drawing/2014/main" id="{D3D0D810-99BF-D242-9E2B-6B74E5BEFF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9" y="1801"/>
                <a:ext cx="128" cy="11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86" name="Oval 1046">
                <a:extLst>
                  <a:ext uri="{FF2B5EF4-FFF2-40B4-BE49-F238E27FC236}">
                    <a16:creationId xmlns:a16="http://schemas.microsoft.com/office/drawing/2014/main" id="{3191A42B-B972-AA49-8A6C-019EE42942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13" y="1184"/>
                <a:ext cx="128" cy="11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87" name="Oval 1047">
                <a:extLst>
                  <a:ext uri="{FF2B5EF4-FFF2-40B4-BE49-F238E27FC236}">
                    <a16:creationId xmlns:a16="http://schemas.microsoft.com/office/drawing/2014/main" id="{6D0A2C35-C964-C944-9335-FC036F7E4C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6" y="2185"/>
                <a:ext cx="128" cy="11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88" name="Oval 1048">
                <a:extLst>
                  <a:ext uri="{FF2B5EF4-FFF2-40B4-BE49-F238E27FC236}">
                    <a16:creationId xmlns:a16="http://schemas.microsoft.com/office/drawing/2014/main" id="{1F051587-3531-A341-85F3-22CBAC60DF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6" y="2071"/>
                <a:ext cx="128" cy="11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89" name="Oval 1049">
                <a:extLst>
                  <a:ext uri="{FF2B5EF4-FFF2-40B4-BE49-F238E27FC236}">
                    <a16:creationId xmlns:a16="http://schemas.microsoft.com/office/drawing/2014/main" id="{BE5EE04C-8D83-0147-92A1-CDDD11A3EF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79" y="2515"/>
                <a:ext cx="128" cy="11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90" name="Oval 1050">
                <a:extLst>
                  <a:ext uri="{FF2B5EF4-FFF2-40B4-BE49-F238E27FC236}">
                    <a16:creationId xmlns:a16="http://schemas.microsoft.com/office/drawing/2014/main" id="{334BC995-9B6B-144D-86DF-86E63F63EF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3" y="1779"/>
                <a:ext cx="128" cy="11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91" name="Oval 1051">
                <a:extLst>
                  <a:ext uri="{FF2B5EF4-FFF2-40B4-BE49-F238E27FC236}">
                    <a16:creationId xmlns:a16="http://schemas.microsoft.com/office/drawing/2014/main" id="{02D5DEC1-C8CB-144A-8B6C-1B90FD768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77" y="1408"/>
                <a:ext cx="128" cy="11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92" name="Oval 1052">
                <a:extLst>
                  <a:ext uri="{FF2B5EF4-FFF2-40B4-BE49-F238E27FC236}">
                    <a16:creationId xmlns:a16="http://schemas.microsoft.com/office/drawing/2014/main" id="{E721124F-0983-3349-B347-73E47B50B6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33" y="2235"/>
                <a:ext cx="128" cy="11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19812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DBA55-C7BB-D745-B819-C67A03DAA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717C5-53AD-204D-BD90-CA1D1E8D9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When focused on one node, the system is still fragile. Why?</a:t>
            </a:r>
          </a:p>
          <a:p>
            <a:endParaRPr lang="en-CN" dirty="0"/>
          </a:p>
          <a:p>
            <a:endParaRPr lang="en-CN" dirty="0"/>
          </a:p>
          <a:p>
            <a:endParaRPr lang="en-CN" dirty="0"/>
          </a:p>
          <a:p>
            <a:endParaRPr lang="en-CN" dirty="0"/>
          </a:p>
          <a:p>
            <a:endParaRPr lang="en-CN" dirty="0"/>
          </a:p>
          <a:p>
            <a:endParaRPr lang="en-CN" dirty="0"/>
          </a:p>
          <a:p>
            <a:endParaRPr lang="en-CN" dirty="0"/>
          </a:p>
          <a:p>
            <a:endParaRPr lang="en-CN" dirty="0"/>
          </a:p>
          <a:p>
            <a:endParaRPr lang="en-CN" dirty="0"/>
          </a:p>
          <a:p>
            <a:r>
              <a:rPr lang="en-US" altLang="en-CN" dirty="0"/>
              <a:t> The system’s connectivity depends crucially on a single person.</a:t>
            </a:r>
            <a:endParaRPr lang="en-C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4ADB643-3A24-C140-9590-AB8563C9A64B}"/>
              </a:ext>
            </a:extLst>
          </p:cNvPr>
          <p:cNvGrpSpPr/>
          <p:nvPr/>
        </p:nvGrpSpPr>
        <p:grpSpPr>
          <a:xfrm>
            <a:off x="4009103" y="2448337"/>
            <a:ext cx="4675240" cy="3105914"/>
            <a:chOff x="1089025" y="1371600"/>
            <a:chExt cx="5995988" cy="4071938"/>
          </a:xfrm>
        </p:grpSpPr>
        <p:sp>
          <p:nvSpPr>
            <p:cNvPr id="5" name="Line 1063">
              <a:extLst>
                <a:ext uri="{FF2B5EF4-FFF2-40B4-BE49-F238E27FC236}">
                  <a16:creationId xmlns:a16="http://schemas.microsoft.com/office/drawing/2014/main" id="{FA3B3C5E-6268-BD48-99C2-6F1EB9BE97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873375" y="4484688"/>
              <a:ext cx="3163888" cy="130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6" name="Line 1064">
              <a:extLst>
                <a:ext uri="{FF2B5EF4-FFF2-40B4-BE49-F238E27FC236}">
                  <a16:creationId xmlns:a16="http://schemas.microsoft.com/office/drawing/2014/main" id="{F22F1B31-E22F-7045-A5E9-7FEEC2AB35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28913" y="2540000"/>
              <a:ext cx="4165600" cy="1930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7" name="Line 1057">
              <a:extLst>
                <a:ext uri="{FF2B5EF4-FFF2-40B4-BE49-F238E27FC236}">
                  <a16:creationId xmlns:a16="http://schemas.microsoft.com/office/drawing/2014/main" id="{BE1E4DB7-A6BA-8340-A6BE-B6C7FDF35B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2738" y="3352800"/>
              <a:ext cx="1203325" cy="10890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8" name="Line 1058">
              <a:extLst>
                <a:ext uri="{FF2B5EF4-FFF2-40B4-BE49-F238E27FC236}">
                  <a16:creationId xmlns:a16="http://schemas.microsoft.com/office/drawing/2014/main" id="{2883D502-BCF8-CE41-A072-0A393B9D8A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6513" y="2133600"/>
              <a:ext cx="1479550" cy="23510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9" name="Line 1059">
              <a:extLst>
                <a:ext uri="{FF2B5EF4-FFF2-40B4-BE49-F238E27FC236}">
                  <a16:creationId xmlns:a16="http://schemas.microsoft.com/office/drawing/2014/main" id="{2C265E42-0D0C-1F4F-9E53-101091E272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71775" y="1509713"/>
              <a:ext cx="87313" cy="2946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0" name="Line 1060">
              <a:extLst>
                <a:ext uri="{FF2B5EF4-FFF2-40B4-BE49-F238E27FC236}">
                  <a16:creationId xmlns:a16="http://schemas.microsoft.com/office/drawing/2014/main" id="{1677A9F5-A9C9-DB4C-80BC-818861A19A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71775" y="3527425"/>
              <a:ext cx="1538288" cy="9286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" name="Line 1062">
              <a:extLst>
                <a:ext uri="{FF2B5EF4-FFF2-40B4-BE49-F238E27FC236}">
                  <a16:creationId xmlns:a16="http://schemas.microsoft.com/office/drawing/2014/main" id="{F05CBCCC-CE89-9B42-8757-94D016AD9C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01938" y="1989138"/>
              <a:ext cx="2133600" cy="2481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N"/>
            </a:p>
          </p:txBody>
        </p:sp>
        <p:grpSp>
          <p:nvGrpSpPr>
            <p:cNvPr id="12" name="Group 1067">
              <a:extLst>
                <a:ext uri="{FF2B5EF4-FFF2-40B4-BE49-F238E27FC236}">
                  <a16:creationId xmlns:a16="http://schemas.microsoft.com/office/drawing/2014/main" id="{7067C624-6F03-CA4D-B1B0-F654159B21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01750" y="1497013"/>
              <a:ext cx="5637213" cy="3783012"/>
              <a:chOff x="820" y="943"/>
              <a:chExt cx="3551" cy="2383"/>
            </a:xfrm>
          </p:grpSpPr>
          <p:sp>
            <p:nvSpPr>
              <p:cNvPr id="26" name="Line 1029">
                <a:extLst>
                  <a:ext uri="{FF2B5EF4-FFF2-40B4-BE49-F238E27FC236}">
                    <a16:creationId xmlns:a16="http://schemas.microsoft.com/office/drawing/2014/main" id="{6524515F-AB8B-8B46-AB9D-794E1144C5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20" y="943"/>
                <a:ext cx="1020" cy="34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7" name="Line 1030">
                <a:extLst>
                  <a:ext uri="{FF2B5EF4-FFF2-40B4-BE49-F238E27FC236}">
                    <a16:creationId xmlns:a16="http://schemas.microsoft.com/office/drawing/2014/main" id="{F917474C-BE3D-8A43-AEAA-53A9D61A02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54" y="1216"/>
                <a:ext cx="374" cy="9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8" name="Line 1031">
                <a:extLst>
                  <a:ext uri="{FF2B5EF4-FFF2-40B4-BE49-F238E27FC236}">
                    <a16:creationId xmlns:a16="http://schemas.microsoft.com/office/drawing/2014/main" id="{C94973C9-B501-0544-914A-94E96D4514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98" y="1593"/>
                <a:ext cx="373" cy="5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9" name="Line 1032">
                <a:extLst>
                  <a:ext uri="{FF2B5EF4-FFF2-40B4-BE49-F238E27FC236}">
                    <a16:creationId xmlns:a16="http://schemas.microsoft.com/office/drawing/2014/main" id="{223C2084-CEF3-F945-AEDA-1829FA0D2E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9" y="2849"/>
                <a:ext cx="810" cy="47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0" name="Line 1033">
                <a:extLst>
                  <a:ext uri="{FF2B5EF4-FFF2-40B4-BE49-F238E27FC236}">
                    <a16:creationId xmlns:a16="http://schemas.microsoft.com/office/drawing/2014/main" id="{A7729ECD-EA2C-3A4B-B3B1-59EF989C0B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86" y="1506"/>
                <a:ext cx="1019" cy="60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1" name="Line 1034">
                <a:extLst>
                  <a:ext uri="{FF2B5EF4-FFF2-40B4-BE49-F238E27FC236}">
                    <a16:creationId xmlns:a16="http://schemas.microsoft.com/office/drawing/2014/main" id="{0CBB9AD0-C827-FD4A-BF0F-5D7D696920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23" y="2647"/>
                <a:ext cx="765" cy="24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2" name="Line 1035">
                <a:extLst>
                  <a:ext uri="{FF2B5EF4-FFF2-40B4-BE49-F238E27FC236}">
                    <a16:creationId xmlns:a16="http://schemas.microsoft.com/office/drawing/2014/main" id="{67FABB5E-F41B-3841-B66A-6B35C6EDEF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91" y="2201"/>
                <a:ext cx="2207" cy="5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3" name="Line 1036">
                <a:extLst>
                  <a:ext uri="{FF2B5EF4-FFF2-40B4-BE49-F238E27FC236}">
                    <a16:creationId xmlns:a16="http://schemas.microsoft.com/office/drawing/2014/main" id="{2F50D4BD-FB5B-6243-81DE-9660508B60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5" y="971"/>
                <a:ext cx="164" cy="52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4" name="Line 1037">
                <a:extLst>
                  <a:ext uri="{FF2B5EF4-FFF2-40B4-BE49-F238E27FC236}">
                    <a16:creationId xmlns:a16="http://schemas.microsoft.com/office/drawing/2014/main" id="{02F06A04-A5EB-3D4B-8EE2-C42AA06871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95" y="1564"/>
                <a:ext cx="179" cy="121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5" name="Line 1038">
                <a:extLst>
                  <a:ext uri="{FF2B5EF4-FFF2-40B4-BE49-F238E27FC236}">
                    <a16:creationId xmlns:a16="http://schemas.microsoft.com/office/drawing/2014/main" id="{7D0F7370-AAA2-B44E-A667-15A5805CFA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59" y="2647"/>
                <a:ext cx="478" cy="67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6" name="Line 1039">
                <a:extLst>
                  <a:ext uri="{FF2B5EF4-FFF2-40B4-BE49-F238E27FC236}">
                    <a16:creationId xmlns:a16="http://schemas.microsoft.com/office/drawing/2014/main" id="{B284528F-1B0A-CB47-A16B-CE3BC8797E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769" y="2199"/>
                <a:ext cx="300" cy="43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3" name="Group 1040">
              <a:extLst>
                <a:ext uri="{FF2B5EF4-FFF2-40B4-BE49-F238E27FC236}">
                  <a16:creationId xmlns:a16="http://schemas.microsoft.com/office/drawing/2014/main" id="{A5260FEF-398E-594C-8C9D-83317ABBC1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89025" y="1371600"/>
              <a:ext cx="5995988" cy="4071938"/>
              <a:chOff x="1600" y="1011"/>
              <a:chExt cx="2305" cy="1623"/>
            </a:xfrm>
          </p:grpSpPr>
          <p:sp>
            <p:nvSpPr>
              <p:cNvPr id="14" name="Oval 1041">
                <a:extLst>
                  <a:ext uri="{FF2B5EF4-FFF2-40B4-BE49-F238E27FC236}">
                    <a16:creationId xmlns:a16="http://schemas.microsoft.com/office/drawing/2014/main" id="{86624A2B-1D57-F842-B1CF-44A39DDBB6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00" y="1216"/>
                <a:ext cx="128" cy="11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15" name="Oval 1042">
                <a:extLst>
                  <a:ext uri="{FF2B5EF4-FFF2-40B4-BE49-F238E27FC236}">
                    <a16:creationId xmlns:a16="http://schemas.microsoft.com/office/drawing/2014/main" id="{1537D738-F0EF-BE4F-9A0B-DBAFE9024A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7" y="1011"/>
                <a:ext cx="128" cy="11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16" name="Oval 1043">
                <a:extLst>
                  <a:ext uri="{FF2B5EF4-FFF2-40B4-BE49-F238E27FC236}">
                    <a16:creationId xmlns:a16="http://schemas.microsoft.com/office/drawing/2014/main" id="{E46D4073-160E-474D-8F84-6B4D58E1C6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9" y="1737"/>
                <a:ext cx="128" cy="11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17" name="Oval 1044">
                <a:extLst>
                  <a:ext uri="{FF2B5EF4-FFF2-40B4-BE49-F238E27FC236}">
                    <a16:creationId xmlns:a16="http://schemas.microsoft.com/office/drawing/2014/main" id="{FD2EA972-4913-AC4F-87C7-BE96D11F93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8" y="1357"/>
                <a:ext cx="128" cy="11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18" name="Oval 1045">
                <a:extLst>
                  <a:ext uri="{FF2B5EF4-FFF2-40B4-BE49-F238E27FC236}">
                    <a16:creationId xmlns:a16="http://schemas.microsoft.com/office/drawing/2014/main" id="{046C9893-2E43-7B4E-865A-2C21CE586E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9" y="1801"/>
                <a:ext cx="128" cy="11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19" name="Oval 1046">
                <a:extLst>
                  <a:ext uri="{FF2B5EF4-FFF2-40B4-BE49-F238E27FC236}">
                    <a16:creationId xmlns:a16="http://schemas.microsoft.com/office/drawing/2014/main" id="{BE029ACD-C761-0540-9153-5CFA8D5A5F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13" y="1184"/>
                <a:ext cx="128" cy="11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20" name="Oval 1047">
                <a:extLst>
                  <a:ext uri="{FF2B5EF4-FFF2-40B4-BE49-F238E27FC236}">
                    <a16:creationId xmlns:a16="http://schemas.microsoft.com/office/drawing/2014/main" id="{DD91F75F-C894-EF44-AF7F-3153817EA0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6" y="2185"/>
                <a:ext cx="128" cy="119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 dirty="0"/>
              </a:p>
            </p:txBody>
          </p:sp>
          <p:sp>
            <p:nvSpPr>
              <p:cNvPr id="21" name="Oval 1048">
                <a:extLst>
                  <a:ext uri="{FF2B5EF4-FFF2-40B4-BE49-F238E27FC236}">
                    <a16:creationId xmlns:a16="http://schemas.microsoft.com/office/drawing/2014/main" id="{AEB3B035-271C-CF4A-9FF4-D07606838D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6" y="2071"/>
                <a:ext cx="128" cy="11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22" name="Oval 1049">
                <a:extLst>
                  <a:ext uri="{FF2B5EF4-FFF2-40B4-BE49-F238E27FC236}">
                    <a16:creationId xmlns:a16="http://schemas.microsoft.com/office/drawing/2014/main" id="{4757A495-8FC1-B145-A064-60641746F4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79" y="2515"/>
                <a:ext cx="128" cy="11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23" name="Oval 1050">
                <a:extLst>
                  <a:ext uri="{FF2B5EF4-FFF2-40B4-BE49-F238E27FC236}">
                    <a16:creationId xmlns:a16="http://schemas.microsoft.com/office/drawing/2014/main" id="{06595B59-BD08-574C-B168-1BFC215402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3" y="1779"/>
                <a:ext cx="128" cy="11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24" name="Oval 1051">
                <a:extLst>
                  <a:ext uri="{FF2B5EF4-FFF2-40B4-BE49-F238E27FC236}">
                    <a16:creationId xmlns:a16="http://schemas.microsoft.com/office/drawing/2014/main" id="{DA8B2B88-3FE9-0E45-B915-88B65A3001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77" y="1408"/>
                <a:ext cx="128" cy="11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25" name="Oval 1052">
                <a:extLst>
                  <a:ext uri="{FF2B5EF4-FFF2-40B4-BE49-F238E27FC236}">
                    <a16:creationId xmlns:a16="http://schemas.microsoft.com/office/drawing/2014/main" id="{507182FD-53CC-E146-A1F5-D0F225DD7A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33" y="2235"/>
                <a:ext cx="128" cy="11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7626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8C3D3-7236-CC4C-921C-BDD5E7B18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E43A2-29FE-444B-9DA9-E559D29C6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4425" y="1881371"/>
            <a:ext cx="5308282" cy="4351338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If, on the other hand, the same number of ties are distributed widely throughout the network, many cycles form that re-connect the network, and no single star becomes the sole connector for the network.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Spreading relations around the structure make it robust to node removal.</a:t>
            </a:r>
          </a:p>
          <a:p>
            <a:endParaRPr lang="en-CN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56D3D45-E87E-EB46-8066-1D821A4E3A72}"/>
              </a:ext>
            </a:extLst>
          </p:cNvPr>
          <p:cNvGrpSpPr/>
          <p:nvPr/>
        </p:nvGrpSpPr>
        <p:grpSpPr>
          <a:xfrm>
            <a:off x="6813754" y="2144303"/>
            <a:ext cx="4430303" cy="3713982"/>
            <a:chOff x="5085838" y="2105025"/>
            <a:chExt cx="5995988" cy="4071938"/>
          </a:xfrm>
        </p:grpSpPr>
        <p:sp>
          <p:nvSpPr>
            <p:cNvPr id="4" name="Freeform 1053">
              <a:extLst>
                <a:ext uri="{FF2B5EF4-FFF2-40B4-BE49-F238E27FC236}">
                  <a16:creationId xmlns:a16="http://schemas.microsoft.com/office/drawing/2014/main" id="{2129AB40-D68E-B74E-A577-E4069F0F3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9038" y="2678113"/>
              <a:ext cx="5659438" cy="3381375"/>
            </a:xfrm>
            <a:custGeom>
              <a:avLst/>
              <a:gdLst>
                <a:gd name="T0" fmla="*/ 0 w 3565"/>
                <a:gd name="T1" fmla="*/ 73 h 2130"/>
                <a:gd name="T2" fmla="*/ 155 w 3565"/>
                <a:gd name="T3" fmla="*/ 896 h 2130"/>
                <a:gd name="T4" fmla="*/ 887 w 3565"/>
                <a:gd name="T5" fmla="*/ 1591 h 2130"/>
                <a:gd name="T6" fmla="*/ 2258 w 3565"/>
                <a:gd name="T7" fmla="*/ 0 h 2130"/>
                <a:gd name="T8" fmla="*/ 3565 w 3565"/>
                <a:gd name="T9" fmla="*/ 393 h 2130"/>
                <a:gd name="T10" fmla="*/ 3017 w 3565"/>
                <a:gd name="T11" fmla="*/ 1701 h 2130"/>
                <a:gd name="T12" fmla="*/ 1719 w 3565"/>
                <a:gd name="T13" fmla="*/ 2130 h 2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65" h="2130">
                  <a:moveTo>
                    <a:pt x="0" y="73"/>
                  </a:moveTo>
                  <a:lnTo>
                    <a:pt x="155" y="896"/>
                  </a:lnTo>
                  <a:lnTo>
                    <a:pt x="887" y="1591"/>
                  </a:lnTo>
                  <a:lnTo>
                    <a:pt x="2258" y="0"/>
                  </a:lnTo>
                  <a:lnTo>
                    <a:pt x="3565" y="393"/>
                  </a:lnTo>
                  <a:lnTo>
                    <a:pt x="3017" y="1701"/>
                  </a:lnTo>
                  <a:lnTo>
                    <a:pt x="1719" y="213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5" name="Line 1054">
              <a:extLst>
                <a:ext uri="{FF2B5EF4-FFF2-40B4-BE49-F238E27FC236}">
                  <a16:creationId xmlns:a16="http://schemas.microsoft.com/office/drawing/2014/main" id="{447AB9CB-4FBC-1440-A0BD-4A50D6E436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00351" y="2286000"/>
              <a:ext cx="2016125" cy="406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6" name="Line 1026">
              <a:extLst>
                <a:ext uri="{FF2B5EF4-FFF2-40B4-BE49-F238E27FC236}">
                  <a16:creationId xmlns:a16="http://schemas.microsoft.com/office/drawing/2014/main" id="{173378BC-98E8-944E-93E6-3EFEEE8CF0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98563" y="2230438"/>
              <a:ext cx="1619250" cy="5492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7" name="Line 1027">
              <a:extLst>
                <a:ext uri="{FF2B5EF4-FFF2-40B4-BE49-F238E27FC236}">
                  <a16:creationId xmlns:a16="http://schemas.microsoft.com/office/drawing/2014/main" id="{097359A6-CF3D-2244-AD1A-2B4C29E352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368788" y="2663825"/>
              <a:ext cx="593725" cy="1538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8" name="Line 1028">
              <a:extLst>
                <a:ext uri="{FF2B5EF4-FFF2-40B4-BE49-F238E27FC236}">
                  <a16:creationId xmlns:a16="http://schemas.microsoft.com/office/drawing/2014/main" id="{9F2E817B-8473-B241-A342-08BB579423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343638" y="3262313"/>
              <a:ext cx="592138" cy="939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9" name="Line 1029">
              <a:extLst>
                <a:ext uri="{FF2B5EF4-FFF2-40B4-BE49-F238E27FC236}">
                  <a16:creationId xmlns:a16="http://schemas.microsoft.com/office/drawing/2014/main" id="{458167D7-5035-1B46-9C9E-5159770001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73351" y="5256213"/>
              <a:ext cx="1285875" cy="7572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0" name="Line 1030">
              <a:extLst>
                <a:ext uri="{FF2B5EF4-FFF2-40B4-BE49-F238E27FC236}">
                  <a16:creationId xmlns:a16="http://schemas.microsoft.com/office/drawing/2014/main" id="{A1C60C98-C0D7-D546-B5DB-78E66CD7F4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62088" y="3124200"/>
              <a:ext cx="1617663" cy="9636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" name="Line 1031">
              <a:extLst>
                <a:ext uri="{FF2B5EF4-FFF2-40B4-BE49-F238E27FC236}">
                  <a16:creationId xmlns:a16="http://schemas.microsoft.com/office/drawing/2014/main" id="{67FBF30E-0B58-6743-9F13-5328C668CE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95826" y="4935538"/>
              <a:ext cx="1214437" cy="390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2" name="Line 1032">
              <a:extLst>
                <a:ext uri="{FF2B5EF4-FFF2-40B4-BE49-F238E27FC236}">
                  <a16:creationId xmlns:a16="http://schemas.microsoft.com/office/drawing/2014/main" id="{DE8526D0-F80E-2D4A-BB10-4A40204CA6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81288" y="4227513"/>
              <a:ext cx="3562350" cy="9826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3" name="Line 1033">
              <a:extLst>
                <a:ext uri="{FF2B5EF4-FFF2-40B4-BE49-F238E27FC236}">
                  <a16:creationId xmlns:a16="http://schemas.microsoft.com/office/drawing/2014/main" id="{E3BB5228-06F8-724C-9057-2E6C677329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94001" y="2274888"/>
              <a:ext cx="260350" cy="825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4" name="Line 1034">
              <a:extLst>
                <a:ext uri="{FF2B5EF4-FFF2-40B4-BE49-F238E27FC236}">
                  <a16:creationId xmlns:a16="http://schemas.microsoft.com/office/drawing/2014/main" id="{74951815-7667-8648-9969-340E8360B9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846376" y="3216275"/>
              <a:ext cx="284162" cy="1927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5" name="Line 1035">
              <a:extLst>
                <a:ext uri="{FF2B5EF4-FFF2-40B4-BE49-F238E27FC236}">
                  <a16:creationId xmlns:a16="http://schemas.microsoft.com/office/drawing/2014/main" id="{47BEF7FA-4748-5E44-83B7-CCBA6F677B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059226" y="4935538"/>
              <a:ext cx="758825" cy="1077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6" name="Line 1036">
              <a:extLst>
                <a:ext uri="{FF2B5EF4-FFF2-40B4-BE49-F238E27FC236}">
                  <a16:creationId xmlns:a16="http://schemas.microsoft.com/office/drawing/2014/main" id="{35ECBFF3-993C-564D-9C2E-24437E45B8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392601" y="4224338"/>
              <a:ext cx="476250" cy="6873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N"/>
            </a:p>
          </p:txBody>
        </p:sp>
        <p:grpSp>
          <p:nvGrpSpPr>
            <p:cNvPr id="17" name="Group 1037">
              <a:extLst>
                <a:ext uri="{FF2B5EF4-FFF2-40B4-BE49-F238E27FC236}">
                  <a16:creationId xmlns:a16="http://schemas.microsoft.com/office/drawing/2014/main" id="{14193471-8D66-1343-965B-CD7F25DBA1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5838" y="2105025"/>
              <a:ext cx="5995988" cy="4071938"/>
              <a:chOff x="1600" y="1011"/>
              <a:chExt cx="2305" cy="1623"/>
            </a:xfrm>
          </p:grpSpPr>
          <p:sp>
            <p:nvSpPr>
              <p:cNvPr id="18" name="Oval 1038">
                <a:extLst>
                  <a:ext uri="{FF2B5EF4-FFF2-40B4-BE49-F238E27FC236}">
                    <a16:creationId xmlns:a16="http://schemas.microsoft.com/office/drawing/2014/main" id="{30E7003E-F194-9849-9D19-F521F2F67B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00" y="1216"/>
                <a:ext cx="128" cy="11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19" name="Oval 1039">
                <a:extLst>
                  <a:ext uri="{FF2B5EF4-FFF2-40B4-BE49-F238E27FC236}">
                    <a16:creationId xmlns:a16="http://schemas.microsoft.com/office/drawing/2014/main" id="{2DE785E2-1391-F74D-98A9-4E954CFD8E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7" y="1011"/>
                <a:ext cx="128" cy="11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20" name="Oval 1040">
                <a:extLst>
                  <a:ext uri="{FF2B5EF4-FFF2-40B4-BE49-F238E27FC236}">
                    <a16:creationId xmlns:a16="http://schemas.microsoft.com/office/drawing/2014/main" id="{23F64873-6041-1545-8213-12D15C1556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9" y="1737"/>
                <a:ext cx="128" cy="11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21" name="Oval 1041">
                <a:extLst>
                  <a:ext uri="{FF2B5EF4-FFF2-40B4-BE49-F238E27FC236}">
                    <a16:creationId xmlns:a16="http://schemas.microsoft.com/office/drawing/2014/main" id="{43937C76-EF29-C846-85A2-24CEF593E7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8" y="1357"/>
                <a:ext cx="128" cy="11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22" name="Oval 1042">
                <a:extLst>
                  <a:ext uri="{FF2B5EF4-FFF2-40B4-BE49-F238E27FC236}">
                    <a16:creationId xmlns:a16="http://schemas.microsoft.com/office/drawing/2014/main" id="{7F65B3A6-A7D0-574B-BDC7-B82240DAC7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9" y="1801"/>
                <a:ext cx="128" cy="11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23" name="Oval 1043">
                <a:extLst>
                  <a:ext uri="{FF2B5EF4-FFF2-40B4-BE49-F238E27FC236}">
                    <a16:creationId xmlns:a16="http://schemas.microsoft.com/office/drawing/2014/main" id="{6F33275A-F001-C440-9208-FB7EB16FE1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13" y="1184"/>
                <a:ext cx="128" cy="11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24" name="Oval 1044">
                <a:extLst>
                  <a:ext uri="{FF2B5EF4-FFF2-40B4-BE49-F238E27FC236}">
                    <a16:creationId xmlns:a16="http://schemas.microsoft.com/office/drawing/2014/main" id="{3E40FAD9-90F7-1640-90E0-49E9B09D42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6" y="2185"/>
                <a:ext cx="128" cy="11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25" name="Oval 1045">
                <a:extLst>
                  <a:ext uri="{FF2B5EF4-FFF2-40B4-BE49-F238E27FC236}">
                    <a16:creationId xmlns:a16="http://schemas.microsoft.com/office/drawing/2014/main" id="{D14492A5-D01B-7549-B2E5-0BAFAD3109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6" y="2071"/>
                <a:ext cx="128" cy="11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26" name="Oval 1046">
                <a:extLst>
                  <a:ext uri="{FF2B5EF4-FFF2-40B4-BE49-F238E27FC236}">
                    <a16:creationId xmlns:a16="http://schemas.microsoft.com/office/drawing/2014/main" id="{40D9E05E-B51F-6F4D-8D7C-01C3B3F3B2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79" y="2515"/>
                <a:ext cx="128" cy="11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27" name="Oval 1047">
                <a:extLst>
                  <a:ext uri="{FF2B5EF4-FFF2-40B4-BE49-F238E27FC236}">
                    <a16:creationId xmlns:a16="http://schemas.microsoft.com/office/drawing/2014/main" id="{C74665FB-1BD5-4E44-8A47-9023BF9678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3" y="1779"/>
                <a:ext cx="128" cy="11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28" name="Oval 1048">
                <a:extLst>
                  <a:ext uri="{FF2B5EF4-FFF2-40B4-BE49-F238E27FC236}">
                    <a16:creationId xmlns:a16="http://schemas.microsoft.com/office/drawing/2014/main" id="{FBA7046C-B0D5-114B-9C7B-0E7430DA15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77" y="1408"/>
                <a:ext cx="128" cy="11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29" name="Oval 1049">
                <a:extLst>
                  <a:ext uri="{FF2B5EF4-FFF2-40B4-BE49-F238E27FC236}">
                    <a16:creationId xmlns:a16="http://schemas.microsoft.com/office/drawing/2014/main" id="{A55D7470-7E35-C34F-A716-628670A918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33" y="2235"/>
                <a:ext cx="128" cy="11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34537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92395-74BA-C748-BE32-94BD50ABD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5B7BA-7DCB-454F-8CF6-703951F9FF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Networks are structurally cohesive if they remain connected even when nodes are removed</a:t>
            </a:r>
          </a:p>
          <a:p>
            <a:endParaRPr lang="en-CN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A1CA5CF-E7B2-974C-BF63-FE7B92299587}"/>
              </a:ext>
            </a:extLst>
          </p:cNvPr>
          <p:cNvGrpSpPr/>
          <p:nvPr/>
        </p:nvGrpSpPr>
        <p:grpSpPr>
          <a:xfrm>
            <a:off x="1445251" y="2890836"/>
            <a:ext cx="9033017" cy="3967164"/>
            <a:chOff x="1445251" y="2890836"/>
            <a:chExt cx="9033017" cy="396716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C03761C-1DF1-F04B-9D15-5A5C045245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65" t="11963" r="63542" b="37500"/>
            <a:stretch>
              <a:fillRect/>
            </a:stretch>
          </p:blipFill>
          <p:spPr bwMode="auto">
            <a:xfrm>
              <a:off x="8519293" y="2890837"/>
              <a:ext cx="1958975" cy="3581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968BFC8-E02F-1940-B7FE-E26F589E69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323" t="11783" r="63135" b="37500"/>
            <a:stretch>
              <a:fillRect/>
            </a:stretch>
          </p:blipFill>
          <p:spPr bwMode="auto">
            <a:xfrm>
              <a:off x="3849860" y="2943944"/>
              <a:ext cx="1806887" cy="33043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F9AEFFC-7DC9-F842-A3DE-1692CACCE2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786" t="11783" r="63411" b="37679"/>
            <a:stretch>
              <a:fillRect/>
            </a:stretch>
          </p:blipFill>
          <p:spPr bwMode="auto">
            <a:xfrm>
              <a:off x="1445251" y="2890836"/>
              <a:ext cx="1830433" cy="34759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" name="Text Box 7">
              <a:extLst>
                <a:ext uri="{FF2B5EF4-FFF2-40B4-BE49-F238E27FC236}">
                  <a16:creationId xmlns:a16="http://schemas.microsoft.com/office/drawing/2014/main" id="{1DAF2E5D-1ADD-1048-8259-13188E362E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9031" y="6400800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/>
                <a:t>0</a:t>
              </a:r>
            </a:p>
          </p:txBody>
        </p:sp>
        <p:sp>
          <p:nvSpPr>
            <p:cNvPr id="10" name="Text Box 8">
              <a:extLst>
                <a:ext uri="{FF2B5EF4-FFF2-40B4-BE49-F238E27FC236}">
                  <a16:creationId xmlns:a16="http://schemas.microsoft.com/office/drawing/2014/main" id="{EB015DCB-F773-7043-AD2D-C97C5D34E5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7718" y="6400800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/>
                <a:t>1</a:t>
              </a:r>
            </a:p>
          </p:txBody>
        </p:sp>
        <p:sp>
          <p:nvSpPr>
            <p:cNvPr id="11" name="Text Box 9">
              <a:extLst>
                <a:ext uri="{FF2B5EF4-FFF2-40B4-BE49-F238E27FC236}">
                  <a16:creationId xmlns:a16="http://schemas.microsoft.com/office/drawing/2014/main" id="{AB5A65A2-CE07-DD45-B211-0399EC0FBE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5781" y="6399212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/>
                <a:t>2</a:t>
              </a:r>
            </a:p>
          </p:txBody>
        </p:sp>
        <p:sp>
          <p:nvSpPr>
            <p:cNvPr id="12" name="Text Box 10">
              <a:extLst>
                <a:ext uri="{FF2B5EF4-FFF2-40B4-BE49-F238E27FC236}">
                  <a16:creationId xmlns:a16="http://schemas.microsoft.com/office/drawing/2014/main" id="{19301601-90B8-3345-B0CA-8B99BE4654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76543" y="6399212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/>
                <a:t>3</a:t>
              </a:r>
            </a:p>
          </p:txBody>
        </p:sp>
        <p:pic>
          <p:nvPicPr>
            <p:cNvPr id="13" name="Picture 11">
              <a:extLst>
                <a:ext uri="{FF2B5EF4-FFF2-40B4-BE49-F238E27FC236}">
                  <a16:creationId xmlns:a16="http://schemas.microsoft.com/office/drawing/2014/main" id="{203BDFFC-ED68-B546-9F33-47291EB4FF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375" t="14180" r="70508" b="37679"/>
            <a:stretch>
              <a:fillRect/>
            </a:stretch>
          </p:blipFill>
          <p:spPr bwMode="auto">
            <a:xfrm>
              <a:off x="6293091" y="3014662"/>
              <a:ext cx="1725749" cy="32301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6874E55-C2FB-BA43-98E2-CF2237EFBA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19343" y="4521931"/>
              <a:ext cx="127000" cy="152400"/>
            </a:xfrm>
            <a:prstGeom prst="rect">
              <a:avLst/>
            </a:prstGeom>
            <a:solidFill>
              <a:srgbClr val="FF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A9E1DD8-CA47-B24D-8F7E-BA4B41A755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2118" y="4541837"/>
              <a:ext cx="127000" cy="146050"/>
            </a:xfrm>
            <a:prstGeom prst="rect">
              <a:avLst/>
            </a:prstGeom>
            <a:solidFill>
              <a:srgbClr val="FF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7D73EF85-6060-6B4F-8A5A-2E96FE4B815B}"/>
                </a:ext>
              </a:extLst>
            </p:cNvPr>
            <p:cNvSpPr>
              <a:spLocks/>
            </p:cNvSpPr>
            <p:nvPr/>
          </p:nvSpPr>
          <p:spPr bwMode="auto">
            <a:xfrm>
              <a:off x="8912993" y="3579812"/>
              <a:ext cx="1320800" cy="2146300"/>
            </a:xfrm>
            <a:custGeom>
              <a:avLst/>
              <a:gdLst>
                <a:gd name="T0" fmla="*/ 0 w 832"/>
                <a:gd name="T1" fmla="*/ 0 h 1352"/>
                <a:gd name="T2" fmla="*/ 1068546250 w 832"/>
                <a:gd name="T3" fmla="*/ 1683464375 h 1352"/>
                <a:gd name="T4" fmla="*/ 1058465625 w 832"/>
                <a:gd name="T5" fmla="*/ 2147483647 h 1352"/>
                <a:gd name="T6" fmla="*/ 1471771250 w 832"/>
                <a:gd name="T7" fmla="*/ 2147483647 h 1352"/>
                <a:gd name="T8" fmla="*/ 2096770000 w 832"/>
                <a:gd name="T9" fmla="*/ 2147483647 h 13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32" h="1352">
                  <a:moveTo>
                    <a:pt x="0" y="0"/>
                  </a:moveTo>
                  <a:lnTo>
                    <a:pt x="424" y="668"/>
                  </a:lnTo>
                  <a:lnTo>
                    <a:pt x="420" y="1072"/>
                  </a:lnTo>
                  <a:lnTo>
                    <a:pt x="584" y="1352"/>
                  </a:lnTo>
                  <a:lnTo>
                    <a:pt x="832" y="1352"/>
                  </a:lnTo>
                </a:path>
              </a:pathLst>
            </a:custGeom>
            <a:noFill/>
            <a:ln w="38100" cmpd="sng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4F774E83-FA05-3443-96C9-6C30F100BE01}"/>
                </a:ext>
              </a:extLst>
            </p:cNvPr>
            <p:cNvSpPr>
              <a:spLocks/>
            </p:cNvSpPr>
            <p:nvPr/>
          </p:nvSpPr>
          <p:spPr bwMode="auto">
            <a:xfrm>
              <a:off x="8633593" y="3586162"/>
              <a:ext cx="1574800" cy="2673350"/>
            </a:xfrm>
            <a:custGeom>
              <a:avLst/>
              <a:gdLst>
                <a:gd name="T0" fmla="*/ 332660625 w 992"/>
                <a:gd name="T1" fmla="*/ 0 h 1684"/>
                <a:gd name="T2" fmla="*/ 0 w 992"/>
                <a:gd name="T3" fmla="*/ 776208125 h 1684"/>
                <a:gd name="T4" fmla="*/ 544353750 w 992"/>
                <a:gd name="T5" fmla="*/ 1612900000 h 1684"/>
                <a:gd name="T6" fmla="*/ 524192500 w 992"/>
                <a:gd name="T7" fmla="*/ 2147483647 h 1684"/>
                <a:gd name="T8" fmla="*/ 1774190000 w 992"/>
                <a:gd name="T9" fmla="*/ 2147483647 h 1684"/>
                <a:gd name="T10" fmla="*/ 2147483647 w 992"/>
                <a:gd name="T11" fmla="*/ 2147483647 h 16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92" h="1684">
                  <a:moveTo>
                    <a:pt x="132" y="0"/>
                  </a:moveTo>
                  <a:lnTo>
                    <a:pt x="0" y="308"/>
                  </a:lnTo>
                  <a:lnTo>
                    <a:pt x="216" y="640"/>
                  </a:lnTo>
                  <a:lnTo>
                    <a:pt x="208" y="1148"/>
                  </a:lnTo>
                  <a:lnTo>
                    <a:pt x="704" y="1684"/>
                  </a:lnTo>
                  <a:lnTo>
                    <a:pt x="992" y="1392"/>
                  </a:lnTo>
                </a:path>
              </a:pathLst>
            </a:custGeom>
            <a:noFill/>
            <a:ln w="38100" cmpd="sng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DF74040-FB28-5143-AFF8-4E1217D264DE}"/>
                </a:ext>
              </a:extLst>
            </p:cNvPr>
            <p:cNvSpPr>
              <a:spLocks/>
            </p:cNvSpPr>
            <p:nvPr/>
          </p:nvSpPr>
          <p:spPr bwMode="auto">
            <a:xfrm>
              <a:off x="8919343" y="3014662"/>
              <a:ext cx="1352550" cy="2717800"/>
            </a:xfrm>
            <a:custGeom>
              <a:avLst/>
              <a:gdLst>
                <a:gd name="T0" fmla="*/ 0 w 852"/>
                <a:gd name="T1" fmla="*/ 655240625 h 1712"/>
                <a:gd name="T2" fmla="*/ 504031250 w 852"/>
                <a:gd name="T3" fmla="*/ 0 h 1712"/>
                <a:gd name="T4" fmla="*/ 695563125 w 852"/>
                <a:gd name="T5" fmla="*/ 1088707500 h 1712"/>
                <a:gd name="T6" fmla="*/ 2147173125 w 852"/>
                <a:gd name="T7" fmla="*/ 2147483647 h 1712"/>
                <a:gd name="T8" fmla="*/ 2137092500 w 852"/>
                <a:gd name="T9" fmla="*/ 2147483647 h 17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2" h="1712">
                  <a:moveTo>
                    <a:pt x="0" y="260"/>
                  </a:moveTo>
                  <a:lnTo>
                    <a:pt x="200" y="0"/>
                  </a:lnTo>
                  <a:lnTo>
                    <a:pt x="276" y="432"/>
                  </a:lnTo>
                  <a:lnTo>
                    <a:pt x="852" y="1012"/>
                  </a:lnTo>
                  <a:lnTo>
                    <a:pt x="848" y="1712"/>
                  </a:lnTo>
                </a:path>
              </a:pathLst>
            </a:custGeom>
            <a:noFill/>
            <a:ln w="38100" cmpd="sng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Rectangle 14">
              <a:extLst>
                <a:ext uri="{FF2B5EF4-FFF2-40B4-BE49-F238E27FC236}">
                  <a16:creationId xmlns:a16="http://schemas.microsoft.com/office/drawing/2014/main" id="{E0913A06-D61C-8546-A505-8378E7E3E8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95693" y="4531274"/>
              <a:ext cx="127000" cy="146050"/>
            </a:xfrm>
            <a:prstGeom prst="rect">
              <a:avLst/>
            </a:prstGeom>
            <a:solidFill>
              <a:srgbClr val="FF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2429232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A46E6-C5EC-5149-8731-3BC88D7DA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8BDED-B306-8C4F-A808-B25E5D4EA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Structural cohesion gives rise automatically to a clear notion of embeddedness, since cohesive sets nest inside of each other.</a:t>
            </a:r>
          </a:p>
          <a:p>
            <a:endParaRPr lang="en-CN" dirty="0"/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A29C5002-762E-6040-8C8D-75DE2894663F}"/>
              </a:ext>
            </a:extLst>
          </p:cNvPr>
          <p:cNvGrpSpPr/>
          <p:nvPr/>
        </p:nvGrpSpPr>
        <p:grpSpPr>
          <a:xfrm>
            <a:off x="4114799" y="3000580"/>
            <a:ext cx="5100023" cy="3857420"/>
            <a:chOff x="1525588" y="1774825"/>
            <a:chExt cx="7099300" cy="4781550"/>
          </a:xfrm>
        </p:grpSpPr>
        <p:sp>
          <p:nvSpPr>
            <p:cNvPr id="6" name="Line 6">
              <a:extLst>
                <a:ext uri="{FF2B5EF4-FFF2-40B4-BE49-F238E27FC236}">
                  <a16:creationId xmlns:a16="http://schemas.microsoft.com/office/drawing/2014/main" id="{D9361A58-D338-0D41-BFBD-040EE33711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9800" y="3717925"/>
              <a:ext cx="346075" cy="1758950"/>
            </a:xfrm>
            <a:prstGeom prst="line">
              <a:avLst/>
            </a:prstGeom>
            <a:noFill/>
            <a:ln w="762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7" name="Line 7">
              <a:extLst>
                <a:ext uri="{FF2B5EF4-FFF2-40B4-BE49-F238E27FC236}">
                  <a16:creationId xmlns:a16="http://schemas.microsoft.com/office/drawing/2014/main" id="{E704850B-E584-4346-8229-1BD55882CF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5400" y="3717925"/>
              <a:ext cx="36513" cy="1201738"/>
            </a:xfrm>
            <a:prstGeom prst="line">
              <a:avLst/>
            </a:prstGeom>
            <a:noFill/>
            <a:ln w="762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FC58E578-1E95-5844-BE58-3407DE046B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7150" y="4383088"/>
              <a:ext cx="1282700" cy="1677987"/>
            </a:xfrm>
            <a:custGeom>
              <a:avLst/>
              <a:gdLst>
                <a:gd name="T0" fmla="*/ 627 w 938"/>
                <a:gd name="T1" fmla="*/ 0 h 1695"/>
                <a:gd name="T2" fmla="*/ 151 w 938"/>
                <a:gd name="T3" fmla="*/ 347 h 1695"/>
                <a:gd name="T4" fmla="*/ 400 w 938"/>
                <a:gd name="T5" fmla="*/ 798 h 1695"/>
                <a:gd name="T6" fmla="*/ 0 w 938"/>
                <a:gd name="T7" fmla="*/ 1062 h 1695"/>
                <a:gd name="T8" fmla="*/ 242 w 938"/>
                <a:gd name="T9" fmla="*/ 1695 h 1695"/>
                <a:gd name="T10" fmla="*/ 685 w 938"/>
                <a:gd name="T11" fmla="*/ 1270 h 1695"/>
                <a:gd name="T12" fmla="*/ 938 w 938"/>
                <a:gd name="T13" fmla="*/ 480 h 1695"/>
                <a:gd name="T14" fmla="*/ 477 w 938"/>
                <a:gd name="T15" fmla="*/ 765 h 1695"/>
                <a:gd name="T16" fmla="*/ 627 w 938"/>
                <a:gd name="T17" fmla="*/ 0 h 1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38" h="1695">
                  <a:moveTo>
                    <a:pt x="627" y="0"/>
                  </a:moveTo>
                  <a:lnTo>
                    <a:pt x="151" y="347"/>
                  </a:lnTo>
                  <a:lnTo>
                    <a:pt x="400" y="798"/>
                  </a:lnTo>
                  <a:lnTo>
                    <a:pt x="0" y="1062"/>
                  </a:lnTo>
                  <a:lnTo>
                    <a:pt x="242" y="1695"/>
                  </a:lnTo>
                  <a:lnTo>
                    <a:pt x="685" y="1270"/>
                  </a:lnTo>
                  <a:lnTo>
                    <a:pt x="938" y="480"/>
                  </a:lnTo>
                  <a:lnTo>
                    <a:pt x="477" y="765"/>
                  </a:lnTo>
                  <a:lnTo>
                    <a:pt x="627" y="0"/>
                  </a:lnTo>
                  <a:close/>
                </a:path>
              </a:pathLst>
            </a:custGeom>
            <a:noFill/>
            <a:ln w="7620" cap="flat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43290B6C-1B34-8745-9168-509BC76F99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65400" y="4819650"/>
              <a:ext cx="222250" cy="598488"/>
            </a:xfrm>
            <a:prstGeom prst="line">
              <a:avLst/>
            </a:prstGeom>
            <a:noFill/>
            <a:ln w="762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0" name="Line 10">
              <a:extLst>
                <a:ext uri="{FF2B5EF4-FFF2-40B4-BE49-F238E27FC236}">
                  <a16:creationId xmlns:a16="http://schemas.microsoft.com/office/drawing/2014/main" id="{E1DCBD0A-8C02-3F45-9FDB-1930AC1EA1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7588" y="4425950"/>
              <a:ext cx="266700" cy="430213"/>
            </a:xfrm>
            <a:prstGeom prst="line">
              <a:avLst/>
            </a:prstGeom>
            <a:noFill/>
            <a:ln w="762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3CB0D9B4-ABB9-A849-BA7A-93A3B56057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09850" y="5489575"/>
              <a:ext cx="938213" cy="142875"/>
            </a:xfrm>
            <a:prstGeom prst="line">
              <a:avLst/>
            </a:prstGeom>
            <a:noFill/>
            <a:ln w="762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2" name="Line 12">
              <a:extLst>
                <a:ext uri="{FF2B5EF4-FFF2-40B4-BE49-F238E27FC236}">
                  <a16:creationId xmlns:a16="http://schemas.microsoft.com/office/drawing/2014/main" id="{460EF206-52C5-4E41-9C5C-05746FB0D7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59100" y="4900613"/>
              <a:ext cx="879475" cy="1114425"/>
            </a:xfrm>
            <a:prstGeom prst="line">
              <a:avLst/>
            </a:prstGeom>
            <a:noFill/>
            <a:ln w="762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9F8EC037-117E-0948-A7B5-18B2C8F9B4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2000" y="4257675"/>
              <a:ext cx="327025" cy="239713"/>
            </a:xfrm>
            <a:custGeom>
              <a:avLst/>
              <a:gdLst>
                <a:gd name="T0" fmla="*/ 120 w 239"/>
                <a:gd name="T1" fmla="*/ 0 h 243"/>
                <a:gd name="T2" fmla="*/ 97 w 239"/>
                <a:gd name="T3" fmla="*/ 2 h 243"/>
                <a:gd name="T4" fmla="*/ 74 w 239"/>
                <a:gd name="T5" fmla="*/ 10 h 243"/>
                <a:gd name="T6" fmla="*/ 52 w 239"/>
                <a:gd name="T7" fmla="*/ 22 h 243"/>
                <a:gd name="T8" fmla="*/ 35 w 239"/>
                <a:gd name="T9" fmla="*/ 35 h 243"/>
                <a:gd name="T10" fmla="*/ 21 w 239"/>
                <a:gd name="T11" fmla="*/ 54 h 243"/>
                <a:gd name="T12" fmla="*/ 10 w 239"/>
                <a:gd name="T13" fmla="*/ 74 h 243"/>
                <a:gd name="T14" fmla="*/ 2 w 239"/>
                <a:gd name="T15" fmla="*/ 97 h 243"/>
                <a:gd name="T16" fmla="*/ 0 w 239"/>
                <a:gd name="T17" fmla="*/ 122 h 243"/>
                <a:gd name="T18" fmla="*/ 2 w 239"/>
                <a:gd name="T19" fmla="*/ 147 h 243"/>
                <a:gd name="T20" fmla="*/ 10 w 239"/>
                <a:gd name="T21" fmla="*/ 168 h 243"/>
                <a:gd name="T22" fmla="*/ 20 w 239"/>
                <a:gd name="T23" fmla="*/ 189 h 243"/>
                <a:gd name="T24" fmla="*/ 35 w 239"/>
                <a:gd name="T25" fmla="*/ 207 h 243"/>
                <a:gd name="T26" fmla="*/ 52 w 239"/>
                <a:gd name="T27" fmla="*/ 222 h 243"/>
                <a:gd name="T28" fmla="*/ 74 w 239"/>
                <a:gd name="T29" fmla="*/ 234 h 243"/>
                <a:gd name="T30" fmla="*/ 95 w 239"/>
                <a:gd name="T31" fmla="*/ 241 h 243"/>
                <a:gd name="T32" fmla="*/ 120 w 239"/>
                <a:gd name="T33" fmla="*/ 243 h 243"/>
                <a:gd name="T34" fmla="*/ 143 w 239"/>
                <a:gd name="T35" fmla="*/ 241 h 243"/>
                <a:gd name="T36" fmla="*/ 166 w 239"/>
                <a:gd name="T37" fmla="*/ 234 h 243"/>
                <a:gd name="T38" fmla="*/ 187 w 239"/>
                <a:gd name="T39" fmla="*/ 222 h 243"/>
                <a:gd name="T40" fmla="*/ 205 w 239"/>
                <a:gd name="T41" fmla="*/ 209 h 243"/>
                <a:gd name="T42" fmla="*/ 218 w 239"/>
                <a:gd name="T43" fmla="*/ 189 h 243"/>
                <a:gd name="T44" fmla="*/ 230 w 239"/>
                <a:gd name="T45" fmla="*/ 170 h 243"/>
                <a:gd name="T46" fmla="*/ 237 w 239"/>
                <a:gd name="T47" fmla="*/ 147 h 243"/>
                <a:gd name="T48" fmla="*/ 239 w 239"/>
                <a:gd name="T49" fmla="*/ 122 h 243"/>
                <a:gd name="T50" fmla="*/ 237 w 239"/>
                <a:gd name="T51" fmla="*/ 99 h 243"/>
                <a:gd name="T52" fmla="*/ 230 w 239"/>
                <a:gd name="T53" fmla="*/ 76 h 243"/>
                <a:gd name="T54" fmla="*/ 220 w 239"/>
                <a:gd name="T55" fmla="*/ 54 h 243"/>
                <a:gd name="T56" fmla="*/ 205 w 239"/>
                <a:gd name="T57" fmla="*/ 37 h 243"/>
                <a:gd name="T58" fmla="*/ 187 w 239"/>
                <a:gd name="T59" fmla="*/ 22 h 243"/>
                <a:gd name="T60" fmla="*/ 166 w 239"/>
                <a:gd name="T61" fmla="*/ 10 h 243"/>
                <a:gd name="T62" fmla="*/ 145 w 239"/>
                <a:gd name="T63" fmla="*/ 2 h 243"/>
                <a:gd name="T64" fmla="*/ 120 w 239"/>
                <a:gd name="T65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39" h="243">
                  <a:moveTo>
                    <a:pt x="120" y="0"/>
                  </a:moveTo>
                  <a:lnTo>
                    <a:pt x="97" y="2"/>
                  </a:lnTo>
                  <a:lnTo>
                    <a:pt x="74" y="10"/>
                  </a:lnTo>
                  <a:lnTo>
                    <a:pt x="52" y="22"/>
                  </a:lnTo>
                  <a:lnTo>
                    <a:pt x="35" y="35"/>
                  </a:lnTo>
                  <a:lnTo>
                    <a:pt x="21" y="54"/>
                  </a:lnTo>
                  <a:lnTo>
                    <a:pt x="10" y="74"/>
                  </a:lnTo>
                  <a:lnTo>
                    <a:pt x="2" y="97"/>
                  </a:lnTo>
                  <a:lnTo>
                    <a:pt x="0" y="122"/>
                  </a:lnTo>
                  <a:lnTo>
                    <a:pt x="2" y="147"/>
                  </a:lnTo>
                  <a:lnTo>
                    <a:pt x="10" y="168"/>
                  </a:lnTo>
                  <a:lnTo>
                    <a:pt x="20" y="189"/>
                  </a:lnTo>
                  <a:lnTo>
                    <a:pt x="35" y="207"/>
                  </a:lnTo>
                  <a:lnTo>
                    <a:pt x="52" y="222"/>
                  </a:lnTo>
                  <a:lnTo>
                    <a:pt x="74" y="234"/>
                  </a:lnTo>
                  <a:lnTo>
                    <a:pt x="95" y="241"/>
                  </a:lnTo>
                  <a:lnTo>
                    <a:pt x="120" y="243"/>
                  </a:lnTo>
                  <a:lnTo>
                    <a:pt x="143" y="241"/>
                  </a:lnTo>
                  <a:lnTo>
                    <a:pt x="166" y="234"/>
                  </a:lnTo>
                  <a:lnTo>
                    <a:pt x="187" y="222"/>
                  </a:lnTo>
                  <a:lnTo>
                    <a:pt x="205" y="209"/>
                  </a:lnTo>
                  <a:lnTo>
                    <a:pt x="218" y="189"/>
                  </a:lnTo>
                  <a:lnTo>
                    <a:pt x="230" y="170"/>
                  </a:lnTo>
                  <a:lnTo>
                    <a:pt x="237" y="147"/>
                  </a:lnTo>
                  <a:lnTo>
                    <a:pt x="239" y="122"/>
                  </a:lnTo>
                  <a:lnTo>
                    <a:pt x="237" y="99"/>
                  </a:lnTo>
                  <a:lnTo>
                    <a:pt x="230" y="76"/>
                  </a:lnTo>
                  <a:lnTo>
                    <a:pt x="220" y="54"/>
                  </a:lnTo>
                  <a:lnTo>
                    <a:pt x="205" y="37"/>
                  </a:lnTo>
                  <a:lnTo>
                    <a:pt x="187" y="22"/>
                  </a:lnTo>
                  <a:lnTo>
                    <a:pt x="166" y="10"/>
                  </a:lnTo>
                  <a:lnTo>
                    <a:pt x="145" y="2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rgbClr val="00CC99"/>
            </a:solidFill>
            <a:ln w="762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14" name="Rectangle 14">
              <a:extLst>
                <a:ext uri="{FF2B5EF4-FFF2-40B4-BE49-F238E27FC236}">
                  <a16:creationId xmlns:a16="http://schemas.microsoft.com/office/drawing/2014/main" id="{46F1494C-1BA0-7D4F-B131-8919C6BFE0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0263" y="4306888"/>
              <a:ext cx="152400" cy="18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altLang="en-CN" sz="1200">
                  <a:solidFill>
                    <a:srgbClr val="000000"/>
                  </a:solidFill>
                </a:rPr>
                <a:t>17</a:t>
              </a:r>
              <a:endParaRPr lang="en-US" altLang="en-CN" sz="1200"/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B957C6A2-2BE4-0549-9625-12AEDDF739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5413" y="4608513"/>
              <a:ext cx="323850" cy="239712"/>
            </a:xfrm>
            <a:custGeom>
              <a:avLst/>
              <a:gdLst>
                <a:gd name="T0" fmla="*/ 119 w 237"/>
                <a:gd name="T1" fmla="*/ 0 h 243"/>
                <a:gd name="T2" fmla="*/ 96 w 237"/>
                <a:gd name="T3" fmla="*/ 2 h 243"/>
                <a:gd name="T4" fmla="*/ 73 w 237"/>
                <a:gd name="T5" fmla="*/ 10 h 243"/>
                <a:gd name="T6" fmla="*/ 52 w 237"/>
                <a:gd name="T7" fmla="*/ 21 h 243"/>
                <a:gd name="T8" fmla="*/ 34 w 237"/>
                <a:gd name="T9" fmla="*/ 35 h 243"/>
                <a:gd name="T10" fmla="*/ 21 w 237"/>
                <a:gd name="T11" fmla="*/ 54 h 243"/>
                <a:gd name="T12" fmla="*/ 9 w 237"/>
                <a:gd name="T13" fmla="*/ 73 h 243"/>
                <a:gd name="T14" fmla="*/ 2 w 237"/>
                <a:gd name="T15" fmla="*/ 97 h 243"/>
                <a:gd name="T16" fmla="*/ 0 w 237"/>
                <a:gd name="T17" fmla="*/ 122 h 243"/>
                <a:gd name="T18" fmla="*/ 2 w 237"/>
                <a:gd name="T19" fmla="*/ 147 h 243"/>
                <a:gd name="T20" fmla="*/ 9 w 237"/>
                <a:gd name="T21" fmla="*/ 168 h 243"/>
                <a:gd name="T22" fmla="*/ 19 w 237"/>
                <a:gd name="T23" fmla="*/ 189 h 243"/>
                <a:gd name="T24" fmla="*/ 34 w 237"/>
                <a:gd name="T25" fmla="*/ 207 h 243"/>
                <a:gd name="T26" fmla="*/ 52 w 237"/>
                <a:gd name="T27" fmla="*/ 222 h 243"/>
                <a:gd name="T28" fmla="*/ 71 w 237"/>
                <a:gd name="T29" fmla="*/ 234 h 243"/>
                <a:gd name="T30" fmla="*/ 94 w 237"/>
                <a:gd name="T31" fmla="*/ 241 h 243"/>
                <a:gd name="T32" fmla="*/ 117 w 237"/>
                <a:gd name="T33" fmla="*/ 243 h 243"/>
                <a:gd name="T34" fmla="*/ 140 w 237"/>
                <a:gd name="T35" fmla="*/ 241 h 243"/>
                <a:gd name="T36" fmla="*/ 164 w 237"/>
                <a:gd name="T37" fmla="*/ 234 h 243"/>
                <a:gd name="T38" fmla="*/ 185 w 237"/>
                <a:gd name="T39" fmla="*/ 222 h 243"/>
                <a:gd name="T40" fmla="*/ 202 w 237"/>
                <a:gd name="T41" fmla="*/ 208 h 243"/>
                <a:gd name="T42" fmla="*/ 216 w 237"/>
                <a:gd name="T43" fmla="*/ 189 h 243"/>
                <a:gd name="T44" fmla="*/ 227 w 237"/>
                <a:gd name="T45" fmla="*/ 170 h 243"/>
                <a:gd name="T46" fmla="*/ 235 w 237"/>
                <a:gd name="T47" fmla="*/ 147 h 243"/>
                <a:gd name="T48" fmla="*/ 237 w 237"/>
                <a:gd name="T49" fmla="*/ 122 h 243"/>
                <a:gd name="T50" fmla="*/ 235 w 237"/>
                <a:gd name="T51" fmla="*/ 99 h 243"/>
                <a:gd name="T52" fmla="*/ 227 w 237"/>
                <a:gd name="T53" fmla="*/ 75 h 243"/>
                <a:gd name="T54" fmla="*/ 218 w 237"/>
                <a:gd name="T55" fmla="*/ 54 h 243"/>
                <a:gd name="T56" fmla="*/ 202 w 237"/>
                <a:gd name="T57" fmla="*/ 37 h 243"/>
                <a:gd name="T58" fmla="*/ 185 w 237"/>
                <a:gd name="T59" fmla="*/ 21 h 243"/>
                <a:gd name="T60" fmla="*/ 165 w 237"/>
                <a:gd name="T61" fmla="*/ 10 h 243"/>
                <a:gd name="T62" fmla="*/ 142 w 237"/>
                <a:gd name="T63" fmla="*/ 2 h 243"/>
                <a:gd name="T64" fmla="*/ 119 w 237"/>
                <a:gd name="T65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37" h="243">
                  <a:moveTo>
                    <a:pt x="119" y="0"/>
                  </a:moveTo>
                  <a:lnTo>
                    <a:pt x="96" y="2"/>
                  </a:lnTo>
                  <a:lnTo>
                    <a:pt x="73" y="10"/>
                  </a:lnTo>
                  <a:lnTo>
                    <a:pt x="52" y="21"/>
                  </a:lnTo>
                  <a:lnTo>
                    <a:pt x="34" y="35"/>
                  </a:lnTo>
                  <a:lnTo>
                    <a:pt x="21" y="54"/>
                  </a:lnTo>
                  <a:lnTo>
                    <a:pt x="9" y="73"/>
                  </a:lnTo>
                  <a:lnTo>
                    <a:pt x="2" y="97"/>
                  </a:lnTo>
                  <a:lnTo>
                    <a:pt x="0" y="122"/>
                  </a:lnTo>
                  <a:lnTo>
                    <a:pt x="2" y="147"/>
                  </a:lnTo>
                  <a:lnTo>
                    <a:pt x="9" y="168"/>
                  </a:lnTo>
                  <a:lnTo>
                    <a:pt x="19" y="189"/>
                  </a:lnTo>
                  <a:lnTo>
                    <a:pt x="34" y="207"/>
                  </a:lnTo>
                  <a:lnTo>
                    <a:pt x="52" y="222"/>
                  </a:lnTo>
                  <a:lnTo>
                    <a:pt x="71" y="234"/>
                  </a:lnTo>
                  <a:lnTo>
                    <a:pt x="94" y="241"/>
                  </a:lnTo>
                  <a:lnTo>
                    <a:pt x="117" y="243"/>
                  </a:lnTo>
                  <a:lnTo>
                    <a:pt x="140" y="241"/>
                  </a:lnTo>
                  <a:lnTo>
                    <a:pt x="164" y="234"/>
                  </a:lnTo>
                  <a:lnTo>
                    <a:pt x="185" y="222"/>
                  </a:lnTo>
                  <a:lnTo>
                    <a:pt x="202" y="208"/>
                  </a:lnTo>
                  <a:lnTo>
                    <a:pt x="216" y="189"/>
                  </a:lnTo>
                  <a:lnTo>
                    <a:pt x="227" y="170"/>
                  </a:lnTo>
                  <a:lnTo>
                    <a:pt x="235" y="147"/>
                  </a:lnTo>
                  <a:lnTo>
                    <a:pt x="237" y="122"/>
                  </a:lnTo>
                  <a:lnTo>
                    <a:pt x="235" y="99"/>
                  </a:lnTo>
                  <a:lnTo>
                    <a:pt x="227" y="75"/>
                  </a:lnTo>
                  <a:lnTo>
                    <a:pt x="218" y="54"/>
                  </a:lnTo>
                  <a:lnTo>
                    <a:pt x="202" y="37"/>
                  </a:lnTo>
                  <a:lnTo>
                    <a:pt x="185" y="21"/>
                  </a:lnTo>
                  <a:lnTo>
                    <a:pt x="165" y="10"/>
                  </a:lnTo>
                  <a:lnTo>
                    <a:pt x="142" y="2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00CC99"/>
            </a:solidFill>
            <a:ln w="762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16" name="Rectangle 16">
              <a:extLst>
                <a:ext uri="{FF2B5EF4-FFF2-40B4-BE49-F238E27FC236}">
                  <a16:creationId xmlns:a16="http://schemas.microsoft.com/office/drawing/2014/main" id="{283A9FE1-EEE1-7446-8344-CA5A30008F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0500" y="4657725"/>
              <a:ext cx="152400" cy="1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altLang="en-CN" sz="1200">
                  <a:solidFill>
                    <a:srgbClr val="000000"/>
                  </a:solidFill>
                </a:rPr>
                <a:t>18</a:t>
              </a:r>
              <a:endParaRPr lang="en-US" altLang="en-CN" sz="1200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33E55894-3B21-CA4E-902E-B061EE8EC1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8400" y="4764088"/>
              <a:ext cx="325438" cy="241300"/>
            </a:xfrm>
            <a:custGeom>
              <a:avLst/>
              <a:gdLst>
                <a:gd name="T0" fmla="*/ 120 w 237"/>
                <a:gd name="T1" fmla="*/ 0 h 243"/>
                <a:gd name="T2" fmla="*/ 97 w 237"/>
                <a:gd name="T3" fmla="*/ 2 h 243"/>
                <a:gd name="T4" fmla="*/ 74 w 237"/>
                <a:gd name="T5" fmla="*/ 10 h 243"/>
                <a:gd name="T6" fmla="*/ 52 w 237"/>
                <a:gd name="T7" fmla="*/ 22 h 243"/>
                <a:gd name="T8" fmla="*/ 35 w 237"/>
                <a:gd name="T9" fmla="*/ 35 h 243"/>
                <a:gd name="T10" fmla="*/ 21 w 237"/>
                <a:gd name="T11" fmla="*/ 54 h 243"/>
                <a:gd name="T12" fmla="*/ 10 w 237"/>
                <a:gd name="T13" fmla="*/ 74 h 243"/>
                <a:gd name="T14" fmla="*/ 2 w 237"/>
                <a:gd name="T15" fmla="*/ 97 h 243"/>
                <a:gd name="T16" fmla="*/ 0 w 237"/>
                <a:gd name="T17" fmla="*/ 122 h 243"/>
                <a:gd name="T18" fmla="*/ 2 w 237"/>
                <a:gd name="T19" fmla="*/ 147 h 243"/>
                <a:gd name="T20" fmla="*/ 10 w 237"/>
                <a:gd name="T21" fmla="*/ 168 h 243"/>
                <a:gd name="T22" fmla="*/ 20 w 237"/>
                <a:gd name="T23" fmla="*/ 189 h 243"/>
                <a:gd name="T24" fmla="*/ 35 w 237"/>
                <a:gd name="T25" fmla="*/ 207 h 243"/>
                <a:gd name="T26" fmla="*/ 52 w 237"/>
                <a:gd name="T27" fmla="*/ 222 h 243"/>
                <a:gd name="T28" fmla="*/ 72 w 237"/>
                <a:gd name="T29" fmla="*/ 234 h 243"/>
                <a:gd name="T30" fmla="*/ 95 w 237"/>
                <a:gd name="T31" fmla="*/ 241 h 243"/>
                <a:gd name="T32" fmla="*/ 118 w 237"/>
                <a:gd name="T33" fmla="*/ 243 h 243"/>
                <a:gd name="T34" fmla="*/ 141 w 237"/>
                <a:gd name="T35" fmla="*/ 241 h 243"/>
                <a:gd name="T36" fmla="*/ 164 w 237"/>
                <a:gd name="T37" fmla="*/ 234 h 243"/>
                <a:gd name="T38" fmla="*/ 185 w 237"/>
                <a:gd name="T39" fmla="*/ 222 h 243"/>
                <a:gd name="T40" fmla="*/ 203 w 237"/>
                <a:gd name="T41" fmla="*/ 209 h 243"/>
                <a:gd name="T42" fmla="*/ 216 w 237"/>
                <a:gd name="T43" fmla="*/ 189 h 243"/>
                <a:gd name="T44" fmla="*/ 228 w 237"/>
                <a:gd name="T45" fmla="*/ 170 h 243"/>
                <a:gd name="T46" fmla="*/ 236 w 237"/>
                <a:gd name="T47" fmla="*/ 147 h 243"/>
                <a:gd name="T48" fmla="*/ 237 w 237"/>
                <a:gd name="T49" fmla="*/ 122 h 243"/>
                <a:gd name="T50" fmla="*/ 236 w 237"/>
                <a:gd name="T51" fmla="*/ 99 h 243"/>
                <a:gd name="T52" fmla="*/ 228 w 237"/>
                <a:gd name="T53" fmla="*/ 76 h 243"/>
                <a:gd name="T54" fmla="*/ 218 w 237"/>
                <a:gd name="T55" fmla="*/ 54 h 243"/>
                <a:gd name="T56" fmla="*/ 203 w 237"/>
                <a:gd name="T57" fmla="*/ 37 h 243"/>
                <a:gd name="T58" fmla="*/ 185 w 237"/>
                <a:gd name="T59" fmla="*/ 22 h 243"/>
                <a:gd name="T60" fmla="*/ 166 w 237"/>
                <a:gd name="T61" fmla="*/ 10 h 243"/>
                <a:gd name="T62" fmla="*/ 143 w 237"/>
                <a:gd name="T63" fmla="*/ 2 h 243"/>
                <a:gd name="T64" fmla="*/ 120 w 237"/>
                <a:gd name="T65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37" h="243">
                  <a:moveTo>
                    <a:pt x="120" y="0"/>
                  </a:moveTo>
                  <a:lnTo>
                    <a:pt x="97" y="2"/>
                  </a:lnTo>
                  <a:lnTo>
                    <a:pt x="74" y="10"/>
                  </a:lnTo>
                  <a:lnTo>
                    <a:pt x="52" y="22"/>
                  </a:lnTo>
                  <a:lnTo>
                    <a:pt x="35" y="35"/>
                  </a:lnTo>
                  <a:lnTo>
                    <a:pt x="21" y="54"/>
                  </a:lnTo>
                  <a:lnTo>
                    <a:pt x="10" y="74"/>
                  </a:lnTo>
                  <a:lnTo>
                    <a:pt x="2" y="97"/>
                  </a:lnTo>
                  <a:lnTo>
                    <a:pt x="0" y="122"/>
                  </a:lnTo>
                  <a:lnTo>
                    <a:pt x="2" y="147"/>
                  </a:lnTo>
                  <a:lnTo>
                    <a:pt x="10" y="168"/>
                  </a:lnTo>
                  <a:lnTo>
                    <a:pt x="20" y="189"/>
                  </a:lnTo>
                  <a:lnTo>
                    <a:pt x="35" y="207"/>
                  </a:lnTo>
                  <a:lnTo>
                    <a:pt x="52" y="222"/>
                  </a:lnTo>
                  <a:lnTo>
                    <a:pt x="72" y="234"/>
                  </a:lnTo>
                  <a:lnTo>
                    <a:pt x="95" y="241"/>
                  </a:lnTo>
                  <a:lnTo>
                    <a:pt x="118" y="243"/>
                  </a:lnTo>
                  <a:lnTo>
                    <a:pt x="141" y="241"/>
                  </a:lnTo>
                  <a:lnTo>
                    <a:pt x="164" y="234"/>
                  </a:lnTo>
                  <a:lnTo>
                    <a:pt x="185" y="222"/>
                  </a:lnTo>
                  <a:lnTo>
                    <a:pt x="203" y="209"/>
                  </a:lnTo>
                  <a:lnTo>
                    <a:pt x="216" y="189"/>
                  </a:lnTo>
                  <a:lnTo>
                    <a:pt x="228" y="170"/>
                  </a:lnTo>
                  <a:lnTo>
                    <a:pt x="236" y="147"/>
                  </a:lnTo>
                  <a:lnTo>
                    <a:pt x="237" y="122"/>
                  </a:lnTo>
                  <a:lnTo>
                    <a:pt x="236" y="99"/>
                  </a:lnTo>
                  <a:lnTo>
                    <a:pt x="228" y="76"/>
                  </a:lnTo>
                  <a:lnTo>
                    <a:pt x="218" y="54"/>
                  </a:lnTo>
                  <a:lnTo>
                    <a:pt x="203" y="37"/>
                  </a:lnTo>
                  <a:lnTo>
                    <a:pt x="185" y="22"/>
                  </a:lnTo>
                  <a:lnTo>
                    <a:pt x="166" y="10"/>
                  </a:lnTo>
                  <a:lnTo>
                    <a:pt x="143" y="2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rgbClr val="00CC99"/>
            </a:solidFill>
            <a:ln w="762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18" name="Rectangle 18">
              <a:extLst>
                <a:ext uri="{FF2B5EF4-FFF2-40B4-BE49-F238E27FC236}">
                  <a16:creationId xmlns:a16="http://schemas.microsoft.com/office/drawing/2014/main" id="{DB119CE6-3ED9-6E44-A21C-2FCD562EF6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3488" y="4813300"/>
              <a:ext cx="152400" cy="1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altLang="en-CN" sz="1200">
                  <a:solidFill>
                    <a:srgbClr val="000000"/>
                  </a:solidFill>
                </a:rPr>
                <a:t>19</a:t>
              </a:r>
              <a:endParaRPr lang="en-US" altLang="en-CN" sz="1200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30DAF809-D453-0847-87D2-0B09F98C20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4663" y="5014913"/>
              <a:ext cx="323850" cy="239712"/>
            </a:xfrm>
            <a:custGeom>
              <a:avLst/>
              <a:gdLst>
                <a:gd name="T0" fmla="*/ 120 w 237"/>
                <a:gd name="T1" fmla="*/ 0 h 243"/>
                <a:gd name="T2" fmla="*/ 97 w 237"/>
                <a:gd name="T3" fmla="*/ 2 h 243"/>
                <a:gd name="T4" fmla="*/ 73 w 237"/>
                <a:gd name="T5" fmla="*/ 10 h 243"/>
                <a:gd name="T6" fmla="*/ 52 w 237"/>
                <a:gd name="T7" fmla="*/ 21 h 243"/>
                <a:gd name="T8" fmla="*/ 35 w 237"/>
                <a:gd name="T9" fmla="*/ 35 h 243"/>
                <a:gd name="T10" fmla="*/ 21 w 237"/>
                <a:gd name="T11" fmla="*/ 54 h 243"/>
                <a:gd name="T12" fmla="*/ 10 w 237"/>
                <a:gd name="T13" fmla="*/ 73 h 243"/>
                <a:gd name="T14" fmla="*/ 2 w 237"/>
                <a:gd name="T15" fmla="*/ 96 h 243"/>
                <a:gd name="T16" fmla="*/ 0 w 237"/>
                <a:gd name="T17" fmla="*/ 121 h 243"/>
                <a:gd name="T18" fmla="*/ 2 w 237"/>
                <a:gd name="T19" fmla="*/ 146 h 243"/>
                <a:gd name="T20" fmla="*/ 10 w 237"/>
                <a:gd name="T21" fmla="*/ 168 h 243"/>
                <a:gd name="T22" fmla="*/ 19 w 237"/>
                <a:gd name="T23" fmla="*/ 189 h 243"/>
                <a:gd name="T24" fmla="*/ 35 w 237"/>
                <a:gd name="T25" fmla="*/ 206 h 243"/>
                <a:gd name="T26" fmla="*/ 52 w 237"/>
                <a:gd name="T27" fmla="*/ 222 h 243"/>
                <a:gd name="T28" fmla="*/ 71 w 237"/>
                <a:gd name="T29" fmla="*/ 233 h 243"/>
                <a:gd name="T30" fmla="*/ 95 w 237"/>
                <a:gd name="T31" fmla="*/ 241 h 243"/>
                <a:gd name="T32" fmla="*/ 118 w 237"/>
                <a:gd name="T33" fmla="*/ 243 h 243"/>
                <a:gd name="T34" fmla="*/ 141 w 237"/>
                <a:gd name="T35" fmla="*/ 241 h 243"/>
                <a:gd name="T36" fmla="*/ 164 w 237"/>
                <a:gd name="T37" fmla="*/ 233 h 243"/>
                <a:gd name="T38" fmla="*/ 185 w 237"/>
                <a:gd name="T39" fmla="*/ 222 h 243"/>
                <a:gd name="T40" fmla="*/ 203 w 237"/>
                <a:gd name="T41" fmla="*/ 208 h 243"/>
                <a:gd name="T42" fmla="*/ 216 w 237"/>
                <a:gd name="T43" fmla="*/ 189 h 243"/>
                <a:gd name="T44" fmla="*/ 228 w 237"/>
                <a:gd name="T45" fmla="*/ 170 h 243"/>
                <a:gd name="T46" fmla="*/ 235 w 237"/>
                <a:gd name="T47" fmla="*/ 146 h 243"/>
                <a:gd name="T48" fmla="*/ 237 w 237"/>
                <a:gd name="T49" fmla="*/ 121 h 243"/>
                <a:gd name="T50" fmla="*/ 235 w 237"/>
                <a:gd name="T51" fmla="*/ 98 h 243"/>
                <a:gd name="T52" fmla="*/ 228 w 237"/>
                <a:gd name="T53" fmla="*/ 75 h 243"/>
                <a:gd name="T54" fmla="*/ 218 w 237"/>
                <a:gd name="T55" fmla="*/ 54 h 243"/>
                <a:gd name="T56" fmla="*/ 203 w 237"/>
                <a:gd name="T57" fmla="*/ 37 h 243"/>
                <a:gd name="T58" fmla="*/ 185 w 237"/>
                <a:gd name="T59" fmla="*/ 21 h 243"/>
                <a:gd name="T60" fmla="*/ 166 w 237"/>
                <a:gd name="T61" fmla="*/ 10 h 243"/>
                <a:gd name="T62" fmla="*/ 143 w 237"/>
                <a:gd name="T63" fmla="*/ 2 h 243"/>
                <a:gd name="T64" fmla="*/ 120 w 237"/>
                <a:gd name="T65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37" h="243">
                  <a:moveTo>
                    <a:pt x="120" y="0"/>
                  </a:moveTo>
                  <a:lnTo>
                    <a:pt x="97" y="2"/>
                  </a:lnTo>
                  <a:lnTo>
                    <a:pt x="73" y="10"/>
                  </a:lnTo>
                  <a:lnTo>
                    <a:pt x="52" y="21"/>
                  </a:lnTo>
                  <a:lnTo>
                    <a:pt x="35" y="35"/>
                  </a:lnTo>
                  <a:lnTo>
                    <a:pt x="21" y="54"/>
                  </a:lnTo>
                  <a:lnTo>
                    <a:pt x="10" y="73"/>
                  </a:lnTo>
                  <a:lnTo>
                    <a:pt x="2" y="96"/>
                  </a:lnTo>
                  <a:lnTo>
                    <a:pt x="0" y="121"/>
                  </a:lnTo>
                  <a:lnTo>
                    <a:pt x="2" y="146"/>
                  </a:lnTo>
                  <a:lnTo>
                    <a:pt x="10" y="168"/>
                  </a:lnTo>
                  <a:lnTo>
                    <a:pt x="19" y="189"/>
                  </a:lnTo>
                  <a:lnTo>
                    <a:pt x="35" y="206"/>
                  </a:lnTo>
                  <a:lnTo>
                    <a:pt x="52" y="222"/>
                  </a:lnTo>
                  <a:lnTo>
                    <a:pt x="71" y="233"/>
                  </a:lnTo>
                  <a:lnTo>
                    <a:pt x="95" y="241"/>
                  </a:lnTo>
                  <a:lnTo>
                    <a:pt x="118" y="243"/>
                  </a:lnTo>
                  <a:lnTo>
                    <a:pt x="141" y="241"/>
                  </a:lnTo>
                  <a:lnTo>
                    <a:pt x="164" y="233"/>
                  </a:lnTo>
                  <a:lnTo>
                    <a:pt x="185" y="222"/>
                  </a:lnTo>
                  <a:lnTo>
                    <a:pt x="203" y="208"/>
                  </a:lnTo>
                  <a:lnTo>
                    <a:pt x="216" y="189"/>
                  </a:lnTo>
                  <a:lnTo>
                    <a:pt x="228" y="170"/>
                  </a:lnTo>
                  <a:lnTo>
                    <a:pt x="235" y="146"/>
                  </a:lnTo>
                  <a:lnTo>
                    <a:pt x="237" y="121"/>
                  </a:lnTo>
                  <a:lnTo>
                    <a:pt x="235" y="98"/>
                  </a:lnTo>
                  <a:lnTo>
                    <a:pt x="228" y="75"/>
                  </a:lnTo>
                  <a:lnTo>
                    <a:pt x="218" y="54"/>
                  </a:lnTo>
                  <a:lnTo>
                    <a:pt x="203" y="37"/>
                  </a:lnTo>
                  <a:lnTo>
                    <a:pt x="185" y="21"/>
                  </a:lnTo>
                  <a:lnTo>
                    <a:pt x="166" y="10"/>
                  </a:lnTo>
                  <a:lnTo>
                    <a:pt x="143" y="2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rgbClr val="00CC99"/>
            </a:solidFill>
            <a:ln w="762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0" name="Rectangle 20">
              <a:extLst>
                <a:ext uri="{FF2B5EF4-FFF2-40B4-BE49-F238E27FC236}">
                  <a16:creationId xmlns:a16="http://schemas.microsoft.com/office/drawing/2014/main" id="{48961B1A-398A-6545-973B-68CC905F9D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2925" y="5064125"/>
              <a:ext cx="152400" cy="1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altLang="en-CN" sz="1200"/>
                <a:t>20</a:t>
              </a:r>
            </a:p>
          </p:txBody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02112DDD-C77E-7A4B-844B-EA4D78ABDE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5700" y="5321300"/>
              <a:ext cx="325438" cy="242888"/>
            </a:xfrm>
            <a:custGeom>
              <a:avLst/>
              <a:gdLst>
                <a:gd name="T0" fmla="*/ 120 w 237"/>
                <a:gd name="T1" fmla="*/ 0 h 243"/>
                <a:gd name="T2" fmla="*/ 96 w 237"/>
                <a:gd name="T3" fmla="*/ 2 h 243"/>
                <a:gd name="T4" fmla="*/ 73 w 237"/>
                <a:gd name="T5" fmla="*/ 10 h 243"/>
                <a:gd name="T6" fmla="*/ 52 w 237"/>
                <a:gd name="T7" fmla="*/ 22 h 243"/>
                <a:gd name="T8" fmla="*/ 35 w 237"/>
                <a:gd name="T9" fmla="*/ 35 h 243"/>
                <a:gd name="T10" fmla="*/ 21 w 237"/>
                <a:gd name="T11" fmla="*/ 54 h 243"/>
                <a:gd name="T12" fmla="*/ 10 w 237"/>
                <a:gd name="T13" fmla="*/ 74 h 243"/>
                <a:gd name="T14" fmla="*/ 2 w 237"/>
                <a:gd name="T15" fmla="*/ 97 h 243"/>
                <a:gd name="T16" fmla="*/ 0 w 237"/>
                <a:gd name="T17" fmla="*/ 122 h 243"/>
                <a:gd name="T18" fmla="*/ 2 w 237"/>
                <a:gd name="T19" fmla="*/ 147 h 243"/>
                <a:gd name="T20" fmla="*/ 10 w 237"/>
                <a:gd name="T21" fmla="*/ 168 h 243"/>
                <a:gd name="T22" fmla="*/ 19 w 237"/>
                <a:gd name="T23" fmla="*/ 189 h 243"/>
                <a:gd name="T24" fmla="*/ 35 w 237"/>
                <a:gd name="T25" fmla="*/ 207 h 243"/>
                <a:gd name="T26" fmla="*/ 52 w 237"/>
                <a:gd name="T27" fmla="*/ 222 h 243"/>
                <a:gd name="T28" fmla="*/ 71 w 237"/>
                <a:gd name="T29" fmla="*/ 234 h 243"/>
                <a:gd name="T30" fmla="*/ 95 w 237"/>
                <a:gd name="T31" fmla="*/ 241 h 243"/>
                <a:gd name="T32" fmla="*/ 118 w 237"/>
                <a:gd name="T33" fmla="*/ 243 h 243"/>
                <a:gd name="T34" fmla="*/ 141 w 237"/>
                <a:gd name="T35" fmla="*/ 241 h 243"/>
                <a:gd name="T36" fmla="*/ 164 w 237"/>
                <a:gd name="T37" fmla="*/ 234 h 243"/>
                <a:gd name="T38" fmla="*/ 185 w 237"/>
                <a:gd name="T39" fmla="*/ 222 h 243"/>
                <a:gd name="T40" fmla="*/ 203 w 237"/>
                <a:gd name="T41" fmla="*/ 209 h 243"/>
                <a:gd name="T42" fmla="*/ 216 w 237"/>
                <a:gd name="T43" fmla="*/ 189 h 243"/>
                <a:gd name="T44" fmla="*/ 228 w 237"/>
                <a:gd name="T45" fmla="*/ 170 h 243"/>
                <a:gd name="T46" fmla="*/ 235 w 237"/>
                <a:gd name="T47" fmla="*/ 147 h 243"/>
                <a:gd name="T48" fmla="*/ 237 w 237"/>
                <a:gd name="T49" fmla="*/ 122 h 243"/>
                <a:gd name="T50" fmla="*/ 235 w 237"/>
                <a:gd name="T51" fmla="*/ 99 h 243"/>
                <a:gd name="T52" fmla="*/ 228 w 237"/>
                <a:gd name="T53" fmla="*/ 76 h 243"/>
                <a:gd name="T54" fmla="*/ 218 w 237"/>
                <a:gd name="T55" fmla="*/ 54 h 243"/>
                <a:gd name="T56" fmla="*/ 203 w 237"/>
                <a:gd name="T57" fmla="*/ 37 h 243"/>
                <a:gd name="T58" fmla="*/ 185 w 237"/>
                <a:gd name="T59" fmla="*/ 22 h 243"/>
                <a:gd name="T60" fmla="*/ 166 w 237"/>
                <a:gd name="T61" fmla="*/ 10 h 243"/>
                <a:gd name="T62" fmla="*/ 143 w 237"/>
                <a:gd name="T63" fmla="*/ 2 h 243"/>
                <a:gd name="T64" fmla="*/ 120 w 237"/>
                <a:gd name="T65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37" h="243">
                  <a:moveTo>
                    <a:pt x="120" y="0"/>
                  </a:moveTo>
                  <a:lnTo>
                    <a:pt x="96" y="2"/>
                  </a:lnTo>
                  <a:lnTo>
                    <a:pt x="73" y="10"/>
                  </a:lnTo>
                  <a:lnTo>
                    <a:pt x="52" y="22"/>
                  </a:lnTo>
                  <a:lnTo>
                    <a:pt x="35" y="35"/>
                  </a:lnTo>
                  <a:lnTo>
                    <a:pt x="21" y="54"/>
                  </a:lnTo>
                  <a:lnTo>
                    <a:pt x="10" y="74"/>
                  </a:lnTo>
                  <a:lnTo>
                    <a:pt x="2" y="97"/>
                  </a:lnTo>
                  <a:lnTo>
                    <a:pt x="0" y="122"/>
                  </a:lnTo>
                  <a:lnTo>
                    <a:pt x="2" y="147"/>
                  </a:lnTo>
                  <a:lnTo>
                    <a:pt x="10" y="168"/>
                  </a:lnTo>
                  <a:lnTo>
                    <a:pt x="19" y="189"/>
                  </a:lnTo>
                  <a:lnTo>
                    <a:pt x="35" y="207"/>
                  </a:lnTo>
                  <a:lnTo>
                    <a:pt x="52" y="222"/>
                  </a:lnTo>
                  <a:lnTo>
                    <a:pt x="71" y="234"/>
                  </a:lnTo>
                  <a:lnTo>
                    <a:pt x="95" y="241"/>
                  </a:lnTo>
                  <a:lnTo>
                    <a:pt x="118" y="243"/>
                  </a:lnTo>
                  <a:lnTo>
                    <a:pt x="141" y="241"/>
                  </a:lnTo>
                  <a:lnTo>
                    <a:pt x="164" y="234"/>
                  </a:lnTo>
                  <a:lnTo>
                    <a:pt x="185" y="222"/>
                  </a:lnTo>
                  <a:lnTo>
                    <a:pt x="203" y="209"/>
                  </a:lnTo>
                  <a:lnTo>
                    <a:pt x="216" y="189"/>
                  </a:lnTo>
                  <a:lnTo>
                    <a:pt x="228" y="170"/>
                  </a:lnTo>
                  <a:lnTo>
                    <a:pt x="235" y="147"/>
                  </a:lnTo>
                  <a:lnTo>
                    <a:pt x="237" y="122"/>
                  </a:lnTo>
                  <a:lnTo>
                    <a:pt x="235" y="99"/>
                  </a:lnTo>
                  <a:lnTo>
                    <a:pt x="228" y="76"/>
                  </a:lnTo>
                  <a:lnTo>
                    <a:pt x="218" y="54"/>
                  </a:lnTo>
                  <a:lnTo>
                    <a:pt x="203" y="37"/>
                  </a:lnTo>
                  <a:lnTo>
                    <a:pt x="185" y="22"/>
                  </a:lnTo>
                  <a:lnTo>
                    <a:pt x="166" y="10"/>
                  </a:lnTo>
                  <a:lnTo>
                    <a:pt x="143" y="2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rgbClr val="00CC99"/>
            </a:solidFill>
            <a:ln w="762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2" name="Rectangle 22">
              <a:extLst>
                <a:ext uri="{FF2B5EF4-FFF2-40B4-BE49-F238E27FC236}">
                  <a16:creationId xmlns:a16="http://schemas.microsoft.com/office/drawing/2014/main" id="{9DFBE505-856D-CB4E-A56B-C0F3A4EF01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3963" y="5370513"/>
              <a:ext cx="76200" cy="18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altLang="en-CN" sz="1200">
                  <a:solidFill>
                    <a:srgbClr val="000000"/>
                  </a:solidFill>
                </a:rPr>
                <a:t>2</a:t>
              </a:r>
              <a:endParaRPr lang="en-US" altLang="en-CN" sz="1200"/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DE98F1CA-C7FD-C64C-843F-E634A0E376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2800" y="5497513"/>
              <a:ext cx="325438" cy="239712"/>
            </a:xfrm>
            <a:custGeom>
              <a:avLst/>
              <a:gdLst>
                <a:gd name="T0" fmla="*/ 119 w 237"/>
                <a:gd name="T1" fmla="*/ 0 h 243"/>
                <a:gd name="T2" fmla="*/ 96 w 237"/>
                <a:gd name="T3" fmla="*/ 2 h 243"/>
                <a:gd name="T4" fmla="*/ 73 w 237"/>
                <a:gd name="T5" fmla="*/ 10 h 243"/>
                <a:gd name="T6" fmla="*/ 52 w 237"/>
                <a:gd name="T7" fmla="*/ 21 h 243"/>
                <a:gd name="T8" fmla="*/ 35 w 237"/>
                <a:gd name="T9" fmla="*/ 35 h 243"/>
                <a:gd name="T10" fmla="*/ 21 w 237"/>
                <a:gd name="T11" fmla="*/ 54 h 243"/>
                <a:gd name="T12" fmla="*/ 10 w 237"/>
                <a:gd name="T13" fmla="*/ 73 h 243"/>
                <a:gd name="T14" fmla="*/ 2 w 237"/>
                <a:gd name="T15" fmla="*/ 96 h 243"/>
                <a:gd name="T16" fmla="*/ 0 w 237"/>
                <a:gd name="T17" fmla="*/ 121 h 243"/>
                <a:gd name="T18" fmla="*/ 2 w 237"/>
                <a:gd name="T19" fmla="*/ 146 h 243"/>
                <a:gd name="T20" fmla="*/ 10 w 237"/>
                <a:gd name="T21" fmla="*/ 168 h 243"/>
                <a:gd name="T22" fmla="*/ 19 w 237"/>
                <a:gd name="T23" fmla="*/ 189 h 243"/>
                <a:gd name="T24" fmla="*/ 35 w 237"/>
                <a:gd name="T25" fmla="*/ 206 h 243"/>
                <a:gd name="T26" fmla="*/ 52 w 237"/>
                <a:gd name="T27" fmla="*/ 222 h 243"/>
                <a:gd name="T28" fmla="*/ 71 w 237"/>
                <a:gd name="T29" fmla="*/ 233 h 243"/>
                <a:gd name="T30" fmla="*/ 94 w 237"/>
                <a:gd name="T31" fmla="*/ 241 h 243"/>
                <a:gd name="T32" fmla="*/ 118 w 237"/>
                <a:gd name="T33" fmla="*/ 243 h 243"/>
                <a:gd name="T34" fmla="*/ 141 w 237"/>
                <a:gd name="T35" fmla="*/ 241 h 243"/>
                <a:gd name="T36" fmla="*/ 164 w 237"/>
                <a:gd name="T37" fmla="*/ 233 h 243"/>
                <a:gd name="T38" fmla="*/ 185 w 237"/>
                <a:gd name="T39" fmla="*/ 222 h 243"/>
                <a:gd name="T40" fmla="*/ 202 w 237"/>
                <a:gd name="T41" fmla="*/ 208 h 243"/>
                <a:gd name="T42" fmla="*/ 216 w 237"/>
                <a:gd name="T43" fmla="*/ 189 h 243"/>
                <a:gd name="T44" fmla="*/ 227 w 237"/>
                <a:gd name="T45" fmla="*/ 170 h 243"/>
                <a:gd name="T46" fmla="*/ 235 w 237"/>
                <a:gd name="T47" fmla="*/ 146 h 243"/>
                <a:gd name="T48" fmla="*/ 237 w 237"/>
                <a:gd name="T49" fmla="*/ 121 h 243"/>
                <a:gd name="T50" fmla="*/ 235 w 237"/>
                <a:gd name="T51" fmla="*/ 98 h 243"/>
                <a:gd name="T52" fmla="*/ 227 w 237"/>
                <a:gd name="T53" fmla="*/ 75 h 243"/>
                <a:gd name="T54" fmla="*/ 218 w 237"/>
                <a:gd name="T55" fmla="*/ 54 h 243"/>
                <a:gd name="T56" fmla="*/ 202 w 237"/>
                <a:gd name="T57" fmla="*/ 37 h 243"/>
                <a:gd name="T58" fmla="*/ 185 w 237"/>
                <a:gd name="T59" fmla="*/ 21 h 243"/>
                <a:gd name="T60" fmla="*/ 166 w 237"/>
                <a:gd name="T61" fmla="*/ 10 h 243"/>
                <a:gd name="T62" fmla="*/ 143 w 237"/>
                <a:gd name="T63" fmla="*/ 2 h 243"/>
                <a:gd name="T64" fmla="*/ 119 w 237"/>
                <a:gd name="T65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37" h="243">
                  <a:moveTo>
                    <a:pt x="119" y="0"/>
                  </a:moveTo>
                  <a:lnTo>
                    <a:pt x="96" y="2"/>
                  </a:lnTo>
                  <a:lnTo>
                    <a:pt x="73" y="10"/>
                  </a:lnTo>
                  <a:lnTo>
                    <a:pt x="52" y="21"/>
                  </a:lnTo>
                  <a:lnTo>
                    <a:pt x="35" y="35"/>
                  </a:lnTo>
                  <a:lnTo>
                    <a:pt x="21" y="54"/>
                  </a:lnTo>
                  <a:lnTo>
                    <a:pt x="10" y="73"/>
                  </a:lnTo>
                  <a:lnTo>
                    <a:pt x="2" y="96"/>
                  </a:lnTo>
                  <a:lnTo>
                    <a:pt x="0" y="121"/>
                  </a:lnTo>
                  <a:lnTo>
                    <a:pt x="2" y="146"/>
                  </a:lnTo>
                  <a:lnTo>
                    <a:pt x="10" y="168"/>
                  </a:lnTo>
                  <a:lnTo>
                    <a:pt x="19" y="189"/>
                  </a:lnTo>
                  <a:lnTo>
                    <a:pt x="35" y="206"/>
                  </a:lnTo>
                  <a:lnTo>
                    <a:pt x="52" y="222"/>
                  </a:lnTo>
                  <a:lnTo>
                    <a:pt x="71" y="233"/>
                  </a:lnTo>
                  <a:lnTo>
                    <a:pt x="94" y="241"/>
                  </a:lnTo>
                  <a:lnTo>
                    <a:pt x="118" y="243"/>
                  </a:lnTo>
                  <a:lnTo>
                    <a:pt x="141" y="241"/>
                  </a:lnTo>
                  <a:lnTo>
                    <a:pt x="164" y="233"/>
                  </a:lnTo>
                  <a:lnTo>
                    <a:pt x="185" y="222"/>
                  </a:lnTo>
                  <a:lnTo>
                    <a:pt x="202" y="208"/>
                  </a:lnTo>
                  <a:lnTo>
                    <a:pt x="216" y="189"/>
                  </a:lnTo>
                  <a:lnTo>
                    <a:pt x="227" y="170"/>
                  </a:lnTo>
                  <a:lnTo>
                    <a:pt x="235" y="146"/>
                  </a:lnTo>
                  <a:lnTo>
                    <a:pt x="237" y="121"/>
                  </a:lnTo>
                  <a:lnTo>
                    <a:pt x="235" y="98"/>
                  </a:lnTo>
                  <a:lnTo>
                    <a:pt x="227" y="75"/>
                  </a:lnTo>
                  <a:lnTo>
                    <a:pt x="218" y="54"/>
                  </a:lnTo>
                  <a:lnTo>
                    <a:pt x="202" y="37"/>
                  </a:lnTo>
                  <a:lnTo>
                    <a:pt x="185" y="21"/>
                  </a:lnTo>
                  <a:lnTo>
                    <a:pt x="166" y="10"/>
                  </a:lnTo>
                  <a:lnTo>
                    <a:pt x="143" y="2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00CC99"/>
            </a:solidFill>
            <a:ln w="762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4" name="Rectangle 24">
              <a:extLst>
                <a:ext uri="{FF2B5EF4-FFF2-40B4-BE49-F238E27FC236}">
                  <a16:creationId xmlns:a16="http://schemas.microsoft.com/office/drawing/2014/main" id="{60B21580-6C7B-C148-B177-18185322FB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888" y="5546725"/>
              <a:ext cx="152400" cy="1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altLang="en-CN" sz="1200">
                  <a:solidFill>
                    <a:srgbClr val="000000"/>
                  </a:solidFill>
                </a:rPr>
                <a:t>22</a:t>
              </a:r>
              <a:endParaRPr lang="en-US" altLang="en-CN" sz="1200"/>
            </a:p>
          </p:txBody>
        </p:sp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F1F0A1AF-CE51-6043-81B5-5D587269F3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0663" y="5922963"/>
              <a:ext cx="322262" cy="239712"/>
            </a:xfrm>
            <a:custGeom>
              <a:avLst/>
              <a:gdLst>
                <a:gd name="T0" fmla="*/ 120 w 237"/>
                <a:gd name="T1" fmla="*/ 0 h 243"/>
                <a:gd name="T2" fmla="*/ 96 w 237"/>
                <a:gd name="T3" fmla="*/ 2 h 243"/>
                <a:gd name="T4" fmla="*/ 73 w 237"/>
                <a:gd name="T5" fmla="*/ 10 h 243"/>
                <a:gd name="T6" fmla="*/ 52 w 237"/>
                <a:gd name="T7" fmla="*/ 21 h 243"/>
                <a:gd name="T8" fmla="*/ 35 w 237"/>
                <a:gd name="T9" fmla="*/ 35 h 243"/>
                <a:gd name="T10" fmla="*/ 21 w 237"/>
                <a:gd name="T11" fmla="*/ 54 h 243"/>
                <a:gd name="T12" fmla="*/ 10 w 237"/>
                <a:gd name="T13" fmla="*/ 73 h 243"/>
                <a:gd name="T14" fmla="*/ 2 w 237"/>
                <a:gd name="T15" fmla="*/ 96 h 243"/>
                <a:gd name="T16" fmla="*/ 0 w 237"/>
                <a:gd name="T17" fmla="*/ 121 h 243"/>
                <a:gd name="T18" fmla="*/ 2 w 237"/>
                <a:gd name="T19" fmla="*/ 146 h 243"/>
                <a:gd name="T20" fmla="*/ 10 w 237"/>
                <a:gd name="T21" fmla="*/ 168 h 243"/>
                <a:gd name="T22" fmla="*/ 19 w 237"/>
                <a:gd name="T23" fmla="*/ 189 h 243"/>
                <a:gd name="T24" fmla="*/ 35 w 237"/>
                <a:gd name="T25" fmla="*/ 206 h 243"/>
                <a:gd name="T26" fmla="*/ 52 w 237"/>
                <a:gd name="T27" fmla="*/ 222 h 243"/>
                <a:gd name="T28" fmla="*/ 71 w 237"/>
                <a:gd name="T29" fmla="*/ 233 h 243"/>
                <a:gd name="T30" fmla="*/ 95 w 237"/>
                <a:gd name="T31" fmla="*/ 241 h 243"/>
                <a:gd name="T32" fmla="*/ 118 w 237"/>
                <a:gd name="T33" fmla="*/ 243 h 243"/>
                <a:gd name="T34" fmla="*/ 141 w 237"/>
                <a:gd name="T35" fmla="*/ 241 h 243"/>
                <a:gd name="T36" fmla="*/ 164 w 237"/>
                <a:gd name="T37" fmla="*/ 233 h 243"/>
                <a:gd name="T38" fmla="*/ 185 w 237"/>
                <a:gd name="T39" fmla="*/ 222 h 243"/>
                <a:gd name="T40" fmla="*/ 203 w 237"/>
                <a:gd name="T41" fmla="*/ 208 h 243"/>
                <a:gd name="T42" fmla="*/ 216 w 237"/>
                <a:gd name="T43" fmla="*/ 189 h 243"/>
                <a:gd name="T44" fmla="*/ 228 w 237"/>
                <a:gd name="T45" fmla="*/ 170 h 243"/>
                <a:gd name="T46" fmla="*/ 235 w 237"/>
                <a:gd name="T47" fmla="*/ 146 h 243"/>
                <a:gd name="T48" fmla="*/ 237 w 237"/>
                <a:gd name="T49" fmla="*/ 121 h 243"/>
                <a:gd name="T50" fmla="*/ 235 w 237"/>
                <a:gd name="T51" fmla="*/ 98 h 243"/>
                <a:gd name="T52" fmla="*/ 228 w 237"/>
                <a:gd name="T53" fmla="*/ 75 h 243"/>
                <a:gd name="T54" fmla="*/ 218 w 237"/>
                <a:gd name="T55" fmla="*/ 54 h 243"/>
                <a:gd name="T56" fmla="*/ 203 w 237"/>
                <a:gd name="T57" fmla="*/ 37 h 243"/>
                <a:gd name="T58" fmla="*/ 185 w 237"/>
                <a:gd name="T59" fmla="*/ 21 h 243"/>
                <a:gd name="T60" fmla="*/ 166 w 237"/>
                <a:gd name="T61" fmla="*/ 10 h 243"/>
                <a:gd name="T62" fmla="*/ 143 w 237"/>
                <a:gd name="T63" fmla="*/ 2 h 243"/>
                <a:gd name="T64" fmla="*/ 120 w 237"/>
                <a:gd name="T65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37" h="243">
                  <a:moveTo>
                    <a:pt x="120" y="0"/>
                  </a:moveTo>
                  <a:lnTo>
                    <a:pt x="96" y="2"/>
                  </a:lnTo>
                  <a:lnTo>
                    <a:pt x="73" y="10"/>
                  </a:lnTo>
                  <a:lnTo>
                    <a:pt x="52" y="21"/>
                  </a:lnTo>
                  <a:lnTo>
                    <a:pt x="35" y="35"/>
                  </a:lnTo>
                  <a:lnTo>
                    <a:pt x="21" y="54"/>
                  </a:lnTo>
                  <a:lnTo>
                    <a:pt x="10" y="73"/>
                  </a:lnTo>
                  <a:lnTo>
                    <a:pt x="2" y="96"/>
                  </a:lnTo>
                  <a:lnTo>
                    <a:pt x="0" y="121"/>
                  </a:lnTo>
                  <a:lnTo>
                    <a:pt x="2" y="146"/>
                  </a:lnTo>
                  <a:lnTo>
                    <a:pt x="10" y="168"/>
                  </a:lnTo>
                  <a:lnTo>
                    <a:pt x="19" y="189"/>
                  </a:lnTo>
                  <a:lnTo>
                    <a:pt x="35" y="206"/>
                  </a:lnTo>
                  <a:lnTo>
                    <a:pt x="52" y="222"/>
                  </a:lnTo>
                  <a:lnTo>
                    <a:pt x="71" y="233"/>
                  </a:lnTo>
                  <a:lnTo>
                    <a:pt x="95" y="241"/>
                  </a:lnTo>
                  <a:lnTo>
                    <a:pt x="118" y="243"/>
                  </a:lnTo>
                  <a:lnTo>
                    <a:pt x="141" y="241"/>
                  </a:lnTo>
                  <a:lnTo>
                    <a:pt x="164" y="233"/>
                  </a:lnTo>
                  <a:lnTo>
                    <a:pt x="185" y="222"/>
                  </a:lnTo>
                  <a:lnTo>
                    <a:pt x="203" y="208"/>
                  </a:lnTo>
                  <a:lnTo>
                    <a:pt x="216" y="189"/>
                  </a:lnTo>
                  <a:lnTo>
                    <a:pt x="228" y="170"/>
                  </a:lnTo>
                  <a:lnTo>
                    <a:pt x="235" y="146"/>
                  </a:lnTo>
                  <a:lnTo>
                    <a:pt x="237" y="121"/>
                  </a:lnTo>
                  <a:lnTo>
                    <a:pt x="235" y="98"/>
                  </a:lnTo>
                  <a:lnTo>
                    <a:pt x="228" y="75"/>
                  </a:lnTo>
                  <a:lnTo>
                    <a:pt x="218" y="54"/>
                  </a:lnTo>
                  <a:lnTo>
                    <a:pt x="203" y="37"/>
                  </a:lnTo>
                  <a:lnTo>
                    <a:pt x="185" y="21"/>
                  </a:lnTo>
                  <a:lnTo>
                    <a:pt x="166" y="10"/>
                  </a:lnTo>
                  <a:lnTo>
                    <a:pt x="143" y="2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rgbClr val="00CC99"/>
            </a:solidFill>
            <a:ln w="762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6" name="Rectangle 26">
              <a:extLst>
                <a:ext uri="{FF2B5EF4-FFF2-40B4-BE49-F238E27FC236}">
                  <a16:creationId xmlns:a16="http://schemas.microsoft.com/office/drawing/2014/main" id="{EBEF4E3A-AA3D-B549-9F28-1842E94F01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5750" y="5972175"/>
              <a:ext cx="152400" cy="1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altLang="en-CN" sz="1200">
                  <a:solidFill>
                    <a:srgbClr val="000000"/>
                  </a:solidFill>
                </a:rPr>
                <a:t>23</a:t>
              </a:r>
              <a:endParaRPr lang="en-US" altLang="en-CN" sz="1200"/>
            </a:p>
          </p:txBody>
        </p:sp>
        <p:sp>
          <p:nvSpPr>
            <p:cNvPr id="27" name="Line 27">
              <a:extLst>
                <a:ext uri="{FF2B5EF4-FFF2-40B4-BE49-F238E27FC236}">
                  <a16:creationId xmlns:a16="http://schemas.microsoft.com/office/drawing/2014/main" id="{BC9FDA40-F106-064C-8DDF-A7B1303127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21113" y="3071813"/>
              <a:ext cx="992187" cy="620712"/>
            </a:xfrm>
            <a:prstGeom prst="line">
              <a:avLst/>
            </a:prstGeom>
            <a:noFill/>
            <a:ln w="762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8" name="Line 28">
              <a:extLst>
                <a:ext uri="{FF2B5EF4-FFF2-40B4-BE49-F238E27FC236}">
                  <a16:creationId xmlns:a16="http://schemas.microsoft.com/office/drawing/2014/main" id="{2D98048E-BE30-4E4C-B3CF-ED6E2B348A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1113" y="3692525"/>
              <a:ext cx="958850" cy="366713"/>
            </a:xfrm>
            <a:prstGeom prst="line">
              <a:avLst/>
            </a:prstGeom>
            <a:noFill/>
            <a:ln w="762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9" name="Line 29">
              <a:extLst>
                <a:ext uri="{FF2B5EF4-FFF2-40B4-BE49-F238E27FC236}">
                  <a16:creationId xmlns:a16="http://schemas.microsoft.com/office/drawing/2014/main" id="{DD6B83BB-2DEE-A845-A488-8973BB7203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54575" y="4062413"/>
              <a:ext cx="1066800" cy="161925"/>
            </a:xfrm>
            <a:prstGeom prst="line">
              <a:avLst/>
            </a:prstGeom>
            <a:noFill/>
            <a:ln w="762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30" name="Line 30">
              <a:extLst>
                <a:ext uri="{FF2B5EF4-FFF2-40B4-BE49-F238E27FC236}">
                  <a16:creationId xmlns:a16="http://schemas.microsoft.com/office/drawing/2014/main" id="{E731237A-BB6A-3845-A2A5-E19BD35B33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953125" y="4252913"/>
              <a:ext cx="1381125" cy="390525"/>
            </a:xfrm>
            <a:prstGeom prst="line">
              <a:avLst/>
            </a:prstGeom>
            <a:noFill/>
            <a:ln w="762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31" name="Line 31">
              <a:extLst>
                <a:ext uri="{FF2B5EF4-FFF2-40B4-BE49-F238E27FC236}">
                  <a16:creationId xmlns:a16="http://schemas.microsoft.com/office/drawing/2014/main" id="{C9D2A394-5F98-C44F-9EAC-5113ABB808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85063" y="3851275"/>
              <a:ext cx="336550" cy="855663"/>
            </a:xfrm>
            <a:prstGeom prst="line">
              <a:avLst/>
            </a:prstGeom>
            <a:noFill/>
            <a:ln w="762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32" name="Line 32">
              <a:extLst>
                <a:ext uri="{FF2B5EF4-FFF2-40B4-BE49-F238E27FC236}">
                  <a16:creationId xmlns:a16="http://schemas.microsoft.com/office/drawing/2014/main" id="{6E58B800-31C5-EC4F-A1F4-3AA067B799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456363" y="3035300"/>
              <a:ext cx="1395412" cy="815975"/>
            </a:xfrm>
            <a:prstGeom prst="line">
              <a:avLst/>
            </a:prstGeom>
            <a:noFill/>
            <a:ln w="762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33" name="Line 33">
              <a:extLst>
                <a:ext uri="{FF2B5EF4-FFF2-40B4-BE49-F238E27FC236}">
                  <a16:creationId xmlns:a16="http://schemas.microsoft.com/office/drawing/2014/main" id="{3FC6C9C7-A09C-D947-9F2D-A87B643A83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630863" y="2871788"/>
              <a:ext cx="820737" cy="157162"/>
            </a:xfrm>
            <a:prstGeom prst="line">
              <a:avLst/>
            </a:prstGeom>
            <a:noFill/>
            <a:ln w="762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34" name="Line 34">
              <a:extLst>
                <a:ext uri="{FF2B5EF4-FFF2-40B4-BE49-F238E27FC236}">
                  <a16:creationId xmlns:a16="http://schemas.microsoft.com/office/drawing/2014/main" id="{9FC33DB0-B81B-1D41-B1D0-5E933A99E5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27588" y="2868613"/>
              <a:ext cx="827087" cy="173037"/>
            </a:xfrm>
            <a:prstGeom prst="line">
              <a:avLst/>
            </a:prstGeom>
            <a:noFill/>
            <a:ln w="762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35" name="Line 35">
              <a:extLst>
                <a:ext uri="{FF2B5EF4-FFF2-40B4-BE49-F238E27FC236}">
                  <a16:creationId xmlns:a16="http://schemas.microsoft.com/office/drawing/2014/main" id="{8C179F92-C392-D449-9797-96622F2DF5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6313" y="3062288"/>
              <a:ext cx="900112" cy="544512"/>
            </a:xfrm>
            <a:prstGeom prst="line">
              <a:avLst/>
            </a:prstGeom>
            <a:noFill/>
            <a:ln w="762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36" name="Line 36">
              <a:extLst>
                <a:ext uri="{FF2B5EF4-FFF2-40B4-BE49-F238E27FC236}">
                  <a16:creationId xmlns:a16="http://schemas.microsoft.com/office/drawing/2014/main" id="{EB4C5E9C-7683-084E-911F-8F385CBC6D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30875" y="3584575"/>
              <a:ext cx="963613" cy="117475"/>
            </a:xfrm>
            <a:prstGeom prst="line">
              <a:avLst/>
            </a:prstGeom>
            <a:noFill/>
            <a:ln w="762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37" name="Line 37">
              <a:extLst>
                <a:ext uri="{FF2B5EF4-FFF2-40B4-BE49-F238E27FC236}">
                  <a16:creationId xmlns:a16="http://schemas.microsoft.com/office/drawing/2014/main" id="{89519DCA-EA8F-1C46-83FA-364B63BD3A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40300" y="3595688"/>
              <a:ext cx="708025" cy="482600"/>
            </a:xfrm>
            <a:prstGeom prst="line">
              <a:avLst/>
            </a:prstGeom>
            <a:noFill/>
            <a:ln w="762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38" name="Line 38">
              <a:extLst>
                <a:ext uri="{FF2B5EF4-FFF2-40B4-BE49-F238E27FC236}">
                  <a16:creationId xmlns:a16="http://schemas.microsoft.com/office/drawing/2014/main" id="{AD6E02EF-AD6F-6540-AF8F-54511D247A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3063" y="3730625"/>
              <a:ext cx="676275" cy="931863"/>
            </a:xfrm>
            <a:prstGeom prst="line">
              <a:avLst/>
            </a:prstGeom>
            <a:noFill/>
            <a:ln w="762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39" name="Line 39">
              <a:extLst>
                <a:ext uri="{FF2B5EF4-FFF2-40B4-BE49-F238E27FC236}">
                  <a16:creationId xmlns:a16="http://schemas.microsoft.com/office/drawing/2014/main" id="{902C7B73-88C5-B64F-8ACB-FFC234FD19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0763" y="3057525"/>
              <a:ext cx="17462" cy="1020763"/>
            </a:xfrm>
            <a:prstGeom prst="line">
              <a:avLst/>
            </a:prstGeom>
            <a:noFill/>
            <a:ln w="762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40" name="Line 40">
              <a:extLst>
                <a:ext uri="{FF2B5EF4-FFF2-40B4-BE49-F238E27FC236}">
                  <a16:creationId xmlns:a16="http://schemas.microsoft.com/office/drawing/2014/main" id="{08561BAA-6426-B643-B15F-11C74E3D9A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71913" y="3613150"/>
              <a:ext cx="1844675" cy="79375"/>
            </a:xfrm>
            <a:prstGeom prst="line">
              <a:avLst/>
            </a:prstGeom>
            <a:noFill/>
            <a:ln w="762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41" name="Line 41">
              <a:extLst>
                <a:ext uri="{FF2B5EF4-FFF2-40B4-BE49-F238E27FC236}">
                  <a16:creationId xmlns:a16="http://schemas.microsoft.com/office/drawing/2014/main" id="{502626C2-80FD-314C-90BB-335593C9B5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03988" y="3051175"/>
              <a:ext cx="163512" cy="657225"/>
            </a:xfrm>
            <a:prstGeom prst="line">
              <a:avLst/>
            </a:prstGeom>
            <a:noFill/>
            <a:ln w="762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42" name="Freeform 42">
              <a:extLst>
                <a:ext uri="{FF2B5EF4-FFF2-40B4-BE49-F238E27FC236}">
                  <a16:creationId xmlns:a16="http://schemas.microsoft.com/office/drawing/2014/main" id="{B420F021-9615-1446-899A-FD400EA05D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6775" y="2935288"/>
              <a:ext cx="325438" cy="239712"/>
            </a:xfrm>
            <a:custGeom>
              <a:avLst/>
              <a:gdLst>
                <a:gd name="T0" fmla="*/ 122 w 239"/>
                <a:gd name="T1" fmla="*/ 0 h 243"/>
                <a:gd name="T2" fmla="*/ 96 w 239"/>
                <a:gd name="T3" fmla="*/ 2 h 243"/>
                <a:gd name="T4" fmla="*/ 73 w 239"/>
                <a:gd name="T5" fmla="*/ 10 h 243"/>
                <a:gd name="T6" fmla="*/ 54 w 239"/>
                <a:gd name="T7" fmla="*/ 21 h 243"/>
                <a:gd name="T8" fmla="*/ 35 w 239"/>
                <a:gd name="T9" fmla="*/ 35 h 243"/>
                <a:gd name="T10" fmla="*/ 21 w 239"/>
                <a:gd name="T11" fmla="*/ 52 h 243"/>
                <a:gd name="T12" fmla="*/ 10 w 239"/>
                <a:gd name="T13" fmla="*/ 73 h 243"/>
                <a:gd name="T14" fmla="*/ 2 w 239"/>
                <a:gd name="T15" fmla="*/ 96 h 243"/>
                <a:gd name="T16" fmla="*/ 0 w 239"/>
                <a:gd name="T17" fmla="*/ 119 h 243"/>
                <a:gd name="T18" fmla="*/ 2 w 239"/>
                <a:gd name="T19" fmla="*/ 145 h 243"/>
                <a:gd name="T20" fmla="*/ 10 w 239"/>
                <a:gd name="T21" fmla="*/ 168 h 243"/>
                <a:gd name="T22" fmla="*/ 19 w 239"/>
                <a:gd name="T23" fmla="*/ 189 h 243"/>
                <a:gd name="T24" fmla="*/ 35 w 239"/>
                <a:gd name="T25" fmla="*/ 206 h 243"/>
                <a:gd name="T26" fmla="*/ 52 w 239"/>
                <a:gd name="T27" fmla="*/ 222 h 243"/>
                <a:gd name="T28" fmla="*/ 71 w 239"/>
                <a:gd name="T29" fmla="*/ 233 h 243"/>
                <a:gd name="T30" fmla="*/ 95 w 239"/>
                <a:gd name="T31" fmla="*/ 241 h 243"/>
                <a:gd name="T32" fmla="*/ 118 w 239"/>
                <a:gd name="T33" fmla="*/ 243 h 243"/>
                <a:gd name="T34" fmla="*/ 143 w 239"/>
                <a:gd name="T35" fmla="*/ 241 h 243"/>
                <a:gd name="T36" fmla="*/ 166 w 239"/>
                <a:gd name="T37" fmla="*/ 233 h 243"/>
                <a:gd name="T38" fmla="*/ 185 w 239"/>
                <a:gd name="T39" fmla="*/ 222 h 243"/>
                <a:gd name="T40" fmla="*/ 204 w 239"/>
                <a:gd name="T41" fmla="*/ 208 h 243"/>
                <a:gd name="T42" fmla="*/ 218 w 239"/>
                <a:gd name="T43" fmla="*/ 191 h 243"/>
                <a:gd name="T44" fmla="*/ 230 w 239"/>
                <a:gd name="T45" fmla="*/ 170 h 243"/>
                <a:gd name="T46" fmla="*/ 237 w 239"/>
                <a:gd name="T47" fmla="*/ 146 h 243"/>
                <a:gd name="T48" fmla="*/ 239 w 239"/>
                <a:gd name="T49" fmla="*/ 123 h 243"/>
                <a:gd name="T50" fmla="*/ 237 w 239"/>
                <a:gd name="T51" fmla="*/ 98 h 243"/>
                <a:gd name="T52" fmla="*/ 230 w 239"/>
                <a:gd name="T53" fmla="*/ 75 h 243"/>
                <a:gd name="T54" fmla="*/ 220 w 239"/>
                <a:gd name="T55" fmla="*/ 54 h 243"/>
                <a:gd name="T56" fmla="*/ 204 w 239"/>
                <a:gd name="T57" fmla="*/ 37 h 243"/>
                <a:gd name="T58" fmla="*/ 187 w 239"/>
                <a:gd name="T59" fmla="*/ 21 h 243"/>
                <a:gd name="T60" fmla="*/ 168 w 239"/>
                <a:gd name="T61" fmla="*/ 10 h 243"/>
                <a:gd name="T62" fmla="*/ 145 w 239"/>
                <a:gd name="T63" fmla="*/ 2 h 243"/>
                <a:gd name="T64" fmla="*/ 122 w 239"/>
                <a:gd name="T65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39" h="243">
                  <a:moveTo>
                    <a:pt x="122" y="0"/>
                  </a:moveTo>
                  <a:lnTo>
                    <a:pt x="96" y="2"/>
                  </a:lnTo>
                  <a:lnTo>
                    <a:pt x="73" y="10"/>
                  </a:lnTo>
                  <a:lnTo>
                    <a:pt x="54" y="21"/>
                  </a:lnTo>
                  <a:lnTo>
                    <a:pt x="35" y="35"/>
                  </a:lnTo>
                  <a:lnTo>
                    <a:pt x="21" y="52"/>
                  </a:lnTo>
                  <a:lnTo>
                    <a:pt x="10" y="73"/>
                  </a:lnTo>
                  <a:lnTo>
                    <a:pt x="2" y="96"/>
                  </a:lnTo>
                  <a:lnTo>
                    <a:pt x="0" y="119"/>
                  </a:lnTo>
                  <a:lnTo>
                    <a:pt x="2" y="145"/>
                  </a:lnTo>
                  <a:lnTo>
                    <a:pt x="10" y="168"/>
                  </a:lnTo>
                  <a:lnTo>
                    <a:pt x="19" y="189"/>
                  </a:lnTo>
                  <a:lnTo>
                    <a:pt x="35" y="206"/>
                  </a:lnTo>
                  <a:lnTo>
                    <a:pt x="52" y="222"/>
                  </a:lnTo>
                  <a:lnTo>
                    <a:pt x="71" y="233"/>
                  </a:lnTo>
                  <a:lnTo>
                    <a:pt x="95" y="241"/>
                  </a:lnTo>
                  <a:lnTo>
                    <a:pt x="118" y="243"/>
                  </a:lnTo>
                  <a:lnTo>
                    <a:pt x="143" y="241"/>
                  </a:lnTo>
                  <a:lnTo>
                    <a:pt x="166" y="233"/>
                  </a:lnTo>
                  <a:lnTo>
                    <a:pt x="185" y="222"/>
                  </a:lnTo>
                  <a:lnTo>
                    <a:pt x="204" y="208"/>
                  </a:lnTo>
                  <a:lnTo>
                    <a:pt x="218" y="191"/>
                  </a:lnTo>
                  <a:lnTo>
                    <a:pt x="230" y="170"/>
                  </a:lnTo>
                  <a:lnTo>
                    <a:pt x="237" y="146"/>
                  </a:lnTo>
                  <a:lnTo>
                    <a:pt x="239" y="123"/>
                  </a:lnTo>
                  <a:lnTo>
                    <a:pt x="237" y="98"/>
                  </a:lnTo>
                  <a:lnTo>
                    <a:pt x="230" y="75"/>
                  </a:lnTo>
                  <a:lnTo>
                    <a:pt x="220" y="54"/>
                  </a:lnTo>
                  <a:lnTo>
                    <a:pt x="204" y="37"/>
                  </a:lnTo>
                  <a:lnTo>
                    <a:pt x="187" y="21"/>
                  </a:lnTo>
                  <a:lnTo>
                    <a:pt x="168" y="10"/>
                  </a:lnTo>
                  <a:lnTo>
                    <a:pt x="145" y="2"/>
                  </a:lnTo>
                  <a:lnTo>
                    <a:pt x="122" y="0"/>
                  </a:lnTo>
                  <a:close/>
                </a:path>
              </a:pathLst>
            </a:custGeom>
            <a:solidFill>
              <a:srgbClr val="00CC99"/>
            </a:solidFill>
            <a:ln w="762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43" name="Rectangle 43">
              <a:extLst>
                <a:ext uri="{FF2B5EF4-FFF2-40B4-BE49-F238E27FC236}">
                  <a16:creationId xmlns:a16="http://schemas.microsoft.com/office/drawing/2014/main" id="{1B6CBAD1-3AB9-EA45-8358-A0FC1C8929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2663" y="2984500"/>
              <a:ext cx="76200" cy="1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altLang="en-CN" sz="1200">
                  <a:solidFill>
                    <a:srgbClr val="000000"/>
                  </a:solidFill>
                </a:rPr>
                <a:t>8</a:t>
              </a:r>
              <a:endParaRPr lang="en-US" altLang="en-CN" sz="1200"/>
            </a:p>
          </p:txBody>
        </p:sp>
        <p:sp>
          <p:nvSpPr>
            <p:cNvPr id="44" name="Freeform 44">
              <a:extLst>
                <a:ext uri="{FF2B5EF4-FFF2-40B4-BE49-F238E27FC236}">
                  <a16:creationId xmlns:a16="http://schemas.microsoft.com/office/drawing/2014/main" id="{AC8AE0DC-BC0F-854E-BC35-3FEFD68307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2600" y="3479800"/>
              <a:ext cx="325438" cy="239713"/>
            </a:xfrm>
            <a:custGeom>
              <a:avLst/>
              <a:gdLst>
                <a:gd name="T0" fmla="*/ 121 w 239"/>
                <a:gd name="T1" fmla="*/ 0 h 243"/>
                <a:gd name="T2" fmla="*/ 96 w 239"/>
                <a:gd name="T3" fmla="*/ 2 h 243"/>
                <a:gd name="T4" fmla="*/ 73 w 239"/>
                <a:gd name="T5" fmla="*/ 10 h 243"/>
                <a:gd name="T6" fmla="*/ 54 w 239"/>
                <a:gd name="T7" fmla="*/ 22 h 243"/>
                <a:gd name="T8" fmla="*/ 35 w 239"/>
                <a:gd name="T9" fmla="*/ 35 h 243"/>
                <a:gd name="T10" fmla="*/ 21 w 239"/>
                <a:gd name="T11" fmla="*/ 53 h 243"/>
                <a:gd name="T12" fmla="*/ 10 w 239"/>
                <a:gd name="T13" fmla="*/ 74 h 243"/>
                <a:gd name="T14" fmla="*/ 2 w 239"/>
                <a:gd name="T15" fmla="*/ 97 h 243"/>
                <a:gd name="T16" fmla="*/ 0 w 239"/>
                <a:gd name="T17" fmla="*/ 120 h 243"/>
                <a:gd name="T18" fmla="*/ 2 w 239"/>
                <a:gd name="T19" fmla="*/ 145 h 243"/>
                <a:gd name="T20" fmla="*/ 10 w 239"/>
                <a:gd name="T21" fmla="*/ 168 h 243"/>
                <a:gd name="T22" fmla="*/ 19 w 239"/>
                <a:gd name="T23" fmla="*/ 189 h 243"/>
                <a:gd name="T24" fmla="*/ 35 w 239"/>
                <a:gd name="T25" fmla="*/ 207 h 243"/>
                <a:gd name="T26" fmla="*/ 52 w 239"/>
                <a:gd name="T27" fmla="*/ 222 h 243"/>
                <a:gd name="T28" fmla="*/ 71 w 239"/>
                <a:gd name="T29" fmla="*/ 234 h 243"/>
                <a:gd name="T30" fmla="*/ 94 w 239"/>
                <a:gd name="T31" fmla="*/ 242 h 243"/>
                <a:gd name="T32" fmla="*/ 118 w 239"/>
                <a:gd name="T33" fmla="*/ 243 h 243"/>
                <a:gd name="T34" fmla="*/ 143 w 239"/>
                <a:gd name="T35" fmla="*/ 242 h 243"/>
                <a:gd name="T36" fmla="*/ 166 w 239"/>
                <a:gd name="T37" fmla="*/ 234 h 243"/>
                <a:gd name="T38" fmla="*/ 185 w 239"/>
                <a:gd name="T39" fmla="*/ 222 h 243"/>
                <a:gd name="T40" fmla="*/ 204 w 239"/>
                <a:gd name="T41" fmla="*/ 209 h 243"/>
                <a:gd name="T42" fmla="*/ 218 w 239"/>
                <a:gd name="T43" fmla="*/ 191 h 243"/>
                <a:gd name="T44" fmla="*/ 229 w 239"/>
                <a:gd name="T45" fmla="*/ 170 h 243"/>
                <a:gd name="T46" fmla="*/ 237 w 239"/>
                <a:gd name="T47" fmla="*/ 147 h 243"/>
                <a:gd name="T48" fmla="*/ 239 w 239"/>
                <a:gd name="T49" fmla="*/ 124 h 243"/>
                <a:gd name="T50" fmla="*/ 237 w 239"/>
                <a:gd name="T51" fmla="*/ 99 h 243"/>
                <a:gd name="T52" fmla="*/ 229 w 239"/>
                <a:gd name="T53" fmla="*/ 76 h 243"/>
                <a:gd name="T54" fmla="*/ 220 w 239"/>
                <a:gd name="T55" fmla="*/ 54 h 243"/>
                <a:gd name="T56" fmla="*/ 204 w 239"/>
                <a:gd name="T57" fmla="*/ 37 h 243"/>
                <a:gd name="T58" fmla="*/ 187 w 239"/>
                <a:gd name="T59" fmla="*/ 22 h 243"/>
                <a:gd name="T60" fmla="*/ 168 w 239"/>
                <a:gd name="T61" fmla="*/ 10 h 243"/>
                <a:gd name="T62" fmla="*/ 145 w 239"/>
                <a:gd name="T63" fmla="*/ 2 h 243"/>
                <a:gd name="T64" fmla="*/ 121 w 239"/>
                <a:gd name="T65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39" h="243">
                  <a:moveTo>
                    <a:pt x="121" y="0"/>
                  </a:moveTo>
                  <a:lnTo>
                    <a:pt x="96" y="2"/>
                  </a:lnTo>
                  <a:lnTo>
                    <a:pt x="73" y="10"/>
                  </a:lnTo>
                  <a:lnTo>
                    <a:pt x="54" y="22"/>
                  </a:lnTo>
                  <a:lnTo>
                    <a:pt x="35" y="35"/>
                  </a:lnTo>
                  <a:lnTo>
                    <a:pt x="21" y="53"/>
                  </a:lnTo>
                  <a:lnTo>
                    <a:pt x="10" y="74"/>
                  </a:lnTo>
                  <a:lnTo>
                    <a:pt x="2" y="97"/>
                  </a:lnTo>
                  <a:lnTo>
                    <a:pt x="0" y="120"/>
                  </a:lnTo>
                  <a:lnTo>
                    <a:pt x="2" y="145"/>
                  </a:lnTo>
                  <a:lnTo>
                    <a:pt x="10" y="168"/>
                  </a:lnTo>
                  <a:lnTo>
                    <a:pt x="19" y="189"/>
                  </a:lnTo>
                  <a:lnTo>
                    <a:pt x="35" y="207"/>
                  </a:lnTo>
                  <a:lnTo>
                    <a:pt x="52" y="222"/>
                  </a:lnTo>
                  <a:lnTo>
                    <a:pt x="71" y="234"/>
                  </a:lnTo>
                  <a:lnTo>
                    <a:pt x="94" y="242"/>
                  </a:lnTo>
                  <a:lnTo>
                    <a:pt x="118" y="243"/>
                  </a:lnTo>
                  <a:lnTo>
                    <a:pt x="143" y="242"/>
                  </a:lnTo>
                  <a:lnTo>
                    <a:pt x="166" y="234"/>
                  </a:lnTo>
                  <a:lnTo>
                    <a:pt x="185" y="222"/>
                  </a:lnTo>
                  <a:lnTo>
                    <a:pt x="204" y="209"/>
                  </a:lnTo>
                  <a:lnTo>
                    <a:pt x="218" y="191"/>
                  </a:lnTo>
                  <a:lnTo>
                    <a:pt x="229" y="170"/>
                  </a:lnTo>
                  <a:lnTo>
                    <a:pt x="237" y="147"/>
                  </a:lnTo>
                  <a:lnTo>
                    <a:pt x="239" y="124"/>
                  </a:lnTo>
                  <a:lnTo>
                    <a:pt x="237" y="99"/>
                  </a:lnTo>
                  <a:lnTo>
                    <a:pt x="229" y="76"/>
                  </a:lnTo>
                  <a:lnTo>
                    <a:pt x="220" y="54"/>
                  </a:lnTo>
                  <a:lnTo>
                    <a:pt x="204" y="37"/>
                  </a:lnTo>
                  <a:lnTo>
                    <a:pt x="187" y="22"/>
                  </a:lnTo>
                  <a:lnTo>
                    <a:pt x="168" y="10"/>
                  </a:lnTo>
                  <a:lnTo>
                    <a:pt x="145" y="2"/>
                  </a:lnTo>
                  <a:lnTo>
                    <a:pt x="121" y="0"/>
                  </a:lnTo>
                  <a:close/>
                </a:path>
              </a:pathLst>
            </a:custGeom>
            <a:solidFill>
              <a:srgbClr val="00CC99"/>
            </a:solidFill>
            <a:ln w="762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45" name="Rectangle 45">
              <a:extLst>
                <a:ext uri="{FF2B5EF4-FFF2-40B4-BE49-F238E27FC236}">
                  <a16:creationId xmlns:a16="http://schemas.microsoft.com/office/drawing/2014/main" id="{E2E48B1C-CF1E-6941-BE5B-A8651C561D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0863" y="3527425"/>
              <a:ext cx="152400" cy="1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altLang="en-CN" sz="1200">
                  <a:solidFill>
                    <a:srgbClr val="000000"/>
                  </a:solidFill>
                </a:rPr>
                <a:t>11</a:t>
              </a:r>
              <a:endParaRPr lang="en-US" altLang="en-CN" sz="1200"/>
            </a:p>
          </p:txBody>
        </p:sp>
        <p:sp>
          <p:nvSpPr>
            <p:cNvPr id="46" name="Freeform 46">
              <a:extLst>
                <a:ext uri="{FF2B5EF4-FFF2-40B4-BE49-F238E27FC236}">
                  <a16:creationId xmlns:a16="http://schemas.microsoft.com/office/drawing/2014/main" id="{AAA1D084-1322-3143-8809-74E0A323225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5550" y="2922588"/>
              <a:ext cx="325438" cy="241300"/>
            </a:xfrm>
            <a:custGeom>
              <a:avLst/>
              <a:gdLst>
                <a:gd name="T0" fmla="*/ 121 w 239"/>
                <a:gd name="T1" fmla="*/ 0 h 243"/>
                <a:gd name="T2" fmla="*/ 96 w 239"/>
                <a:gd name="T3" fmla="*/ 2 h 243"/>
                <a:gd name="T4" fmla="*/ 73 w 239"/>
                <a:gd name="T5" fmla="*/ 10 h 243"/>
                <a:gd name="T6" fmla="*/ 54 w 239"/>
                <a:gd name="T7" fmla="*/ 22 h 243"/>
                <a:gd name="T8" fmla="*/ 35 w 239"/>
                <a:gd name="T9" fmla="*/ 35 h 243"/>
                <a:gd name="T10" fmla="*/ 21 w 239"/>
                <a:gd name="T11" fmla="*/ 52 h 243"/>
                <a:gd name="T12" fmla="*/ 9 w 239"/>
                <a:gd name="T13" fmla="*/ 74 h 243"/>
                <a:gd name="T14" fmla="*/ 2 w 239"/>
                <a:gd name="T15" fmla="*/ 97 h 243"/>
                <a:gd name="T16" fmla="*/ 0 w 239"/>
                <a:gd name="T17" fmla="*/ 120 h 243"/>
                <a:gd name="T18" fmla="*/ 2 w 239"/>
                <a:gd name="T19" fmla="*/ 145 h 243"/>
                <a:gd name="T20" fmla="*/ 9 w 239"/>
                <a:gd name="T21" fmla="*/ 168 h 243"/>
                <a:gd name="T22" fmla="*/ 19 w 239"/>
                <a:gd name="T23" fmla="*/ 189 h 243"/>
                <a:gd name="T24" fmla="*/ 35 w 239"/>
                <a:gd name="T25" fmla="*/ 207 h 243"/>
                <a:gd name="T26" fmla="*/ 52 w 239"/>
                <a:gd name="T27" fmla="*/ 222 h 243"/>
                <a:gd name="T28" fmla="*/ 71 w 239"/>
                <a:gd name="T29" fmla="*/ 234 h 243"/>
                <a:gd name="T30" fmla="*/ 94 w 239"/>
                <a:gd name="T31" fmla="*/ 241 h 243"/>
                <a:gd name="T32" fmla="*/ 117 w 239"/>
                <a:gd name="T33" fmla="*/ 243 h 243"/>
                <a:gd name="T34" fmla="*/ 143 w 239"/>
                <a:gd name="T35" fmla="*/ 241 h 243"/>
                <a:gd name="T36" fmla="*/ 166 w 239"/>
                <a:gd name="T37" fmla="*/ 234 h 243"/>
                <a:gd name="T38" fmla="*/ 185 w 239"/>
                <a:gd name="T39" fmla="*/ 222 h 243"/>
                <a:gd name="T40" fmla="*/ 204 w 239"/>
                <a:gd name="T41" fmla="*/ 209 h 243"/>
                <a:gd name="T42" fmla="*/ 218 w 239"/>
                <a:gd name="T43" fmla="*/ 191 h 243"/>
                <a:gd name="T44" fmla="*/ 229 w 239"/>
                <a:gd name="T45" fmla="*/ 170 h 243"/>
                <a:gd name="T46" fmla="*/ 237 w 239"/>
                <a:gd name="T47" fmla="*/ 147 h 243"/>
                <a:gd name="T48" fmla="*/ 239 w 239"/>
                <a:gd name="T49" fmla="*/ 124 h 243"/>
                <a:gd name="T50" fmla="*/ 237 w 239"/>
                <a:gd name="T51" fmla="*/ 99 h 243"/>
                <a:gd name="T52" fmla="*/ 229 w 239"/>
                <a:gd name="T53" fmla="*/ 76 h 243"/>
                <a:gd name="T54" fmla="*/ 220 w 239"/>
                <a:gd name="T55" fmla="*/ 54 h 243"/>
                <a:gd name="T56" fmla="*/ 204 w 239"/>
                <a:gd name="T57" fmla="*/ 37 h 243"/>
                <a:gd name="T58" fmla="*/ 187 w 239"/>
                <a:gd name="T59" fmla="*/ 22 h 243"/>
                <a:gd name="T60" fmla="*/ 168 w 239"/>
                <a:gd name="T61" fmla="*/ 10 h 243"/>
                <a:gd name="T62" fmla="*/ 144 w 239"/>
                <a:gd name="T63" fmla="*/ 2 h 243"/>
                <a:gd name="T64" fmla="*/ 121 w 239"/>
                <a:gd name="T65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39" h="243">
                  <a:moveTo>
                    <a:pt x="121" y="0"/>
                  </a:moveTo>
                  <a:lnTo>
                    <a:pt x="96" y="2"/>
                  </a:lnTo>
                  <a:lnTo>
                    <a:pt x="73" y="10"/>
                  </a:lnTo>
                  <a:lnTo>
                    <a:pt x="54" y="22"/>
                  </a:lnTo>
                  <a:lnTo>
                    <a:pt x="35" y="35"/>
                  </a:lnTo>
                  <a:lnTo>
                    <a:pt x="21" y="52"/>
                  </a:lnTo>
                  <a:lnTo>
                    <a:pt x="9" y="74"/>
                  </a:lnTo>
                  <a:lnTo>
                    <a:pt x="2" y="97"/>
                  </a:lnTo>
                  <a:lnTo>
                    <a:pt x="0" y="120"/>
                  </a:lnTo>
                  <a:lnTo>
                    <a:pt x="2" y="145"/>
                  </a:lnTo>
                  <a:lnTo>
                    <a:pt x="9" y="168"/>
                  </a:lnTo>
                  <a:lnTo>
                    <a:pt x="19" y="189"/>
                  </a:lnTo>
                  <a:lnTo>
                    <a:pt x="35" y="207"/>
                  </a:lnTo>
                  <a:lnTo>
                    <a:pt x="52" y="222"/>
                  </a:lnTo>
                  <a:lnTo>
                    <a:pt x="71" y="234"/>
                  </a:lnTo>
                  <a:lnTo>
                    <a:pt x="94" y="241"/>
                  </a:lnTo>
                  <a:lnTo>
                    <a:pt x="117" y="243"/>
                  </a:lnTo>
                  <a:lnTo>
                    <a:pt x="143" y="241"/>
                  </a:lnTo>
                  <a:lnTo>
                    <a:pt x="166" y="234"/>
                  </a:lnTo>
                  <a:lnTo>
                    <a:pt x="185" y="222"/>
                  </a:lnTo>
                  <a:lnTo>
                    <a:pt x="204" y="209"/>
                  </a:lnTo>
                  <a:lnTo>
                    <a:pt x="218" y="191"/>
                  </a:lnTo>
                  <a:lnTo>
                    <a:pt x="229" y="170"/>
                  </a:lnTo>
                  <a:lnTo>
                    <a:pt x="237" y="147"/>
                  </a:lnTo>
                  <a:lnTo>
                    <a:pt x="239" y="124"/>
                  </a:lnTo>
                  <a:lnTo>
                    <a:pt x="237" y="99"/>
                  </a:lnTo>
                  <a:lnTo>
                    <a:pt x="229" y="76"/>
                  </a:lnTo>
                  <a:lnTo>
                    <a:pt x="220" y="54"/>
                  </a:lnTo>
                  <a:lnTo>
                    <a:pt x="204" y="37"/>
                  </a:lnTo>
                  <a:lnTo>
                    <a:pt x="187" y="22"/>
                  </a:lnTo>
                  <a:lnTo>
                    <a:pt x="168" y="10"/>
                  </a:lnTo>
                  <a:lnTo>
                    <a:pt x="144" y="2"/>
                  </a:lnTo>
                  <a:lnTo>
                    <a:pt x="121" y="0"/>
                  </a:lnTo>
                  <a:close/>
                </a:path>
              </a:pathLst>
            </a:custGeom>
            <a:solidFill>
              <a:srgbClr val="00CC99"/>
            </a:solidFill>
            <a:ln w="762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47" name="Rectangle 47">
              <a:extLst>
                <a:ext uri="{FF2B5EF4-FFF2-40B4-BE49-F238E27FC236}">
                  <a16:creationId xmlns:a16="http://schemas.microsoft.com/office/drawing/2014/main" id="{8192DC9B-AEDA-5B4D-A9CC-B4CE64F03C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73813" y="2973388"/>
              <a:ext cx="152400" cy="18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altLang="en-CN" sz="1200">
                  <a:solidFill>
                    <a:srgbClr val="000000"/>
                  </a:solidFill>
                </a:rPr>
                <a:t>10</a:t>
              </a:r>
              <a:endParaRPr lang="en-US" altLang="en-CN" sz="1200"/>
            </a:p>
          </p:txBody>
        </p:sp>
        <p:sp>
          <p:nvSpPr>
            <p:cNvPr id="48" name="Freeform 48">
              <a:extLst>
                <a:ext uri="{FF2B5EF4-FFF2-40B4-BE49-F238E27FC236}">
                  <a16:creationId xmlns:a16="http://schemas.microsoft.com/office/drawing/2014/main" id="{EDD0CC83-A3F6-294C-8528-07F6A14A84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6775" y="3935413"/>
              <a:ext cx="325438" cy="239712"/>
            </a:xfrm>
            <a:custGeom>
              <a:avLst/>
              <a:gdLst>
                <a:gd name="T0" fmla="*/ 122 w 239"/>
                <a:gd name="T1" fmla="*/ 0 h 243"/>
                <a:gd name="T2" fmla="*/ 96 w 239"/>
                <a:gd name="T3" fmla="*/ 2 h 243"/>
                <a:gd name="T4" fmla="*/ 73 w 239"/>
                <a:gd name="T5" fmla="*/ 10 h 243"/>
                <a:gd name="T6" fmla="*/ 54 w 239"/>
                <a:gd name="T7" fmla="*/ 22 h 243"/>
                <a:gd name="T8" fmla="*/ 35 w 239"/>
                <a:gd name="T9" fmla="*/ 35 h 243"/>
                <a:gd name="T10" fmla="*/ 21 w 239"/>
                <a:gd name="T11" fmla="*/ 52 h 243"/>
                <a:gd name="T12" fmla="*/ 10 w 239"/>
                <a:gd name="T13" fmla="*/ 74 h 243"/>
                <a:gd name="T14" fmla="*/ 2 w 239"/>
                <a:gd name="T15" fmla="*/ 97 h 243"/>
                <a:gd name="T16" fmla="*/ 0 w 239"/>
                <a:gd name="T17" fmla="*/ 120 h 243"/>
                <a:gd name="T18" fmla="*/ 2 w 239"/>
                <a:gd name="T19" fmla="*/ 145 h 243"/>
                <a:gd name="T20" fmla="*/ 10 w 239"/>
                <a:gd name="T21" fmla="*/ 168 h 243"/>
                <a:gd name="T22" fmla="*/ 19 w 239"/>
                <a:gd name="T23" fmla="*/ 189 h 243"/>
                <a:gd name="T24" fmla="*/ 35 w 239"/>
                <a:gd name="T25" fmla="*/ 207 h 243"/>
                <a:gd name="T26" fmla="*/ 52 w 239"/>
                <a:gd name="T27" fmla="*/ 222 h 243"/>
                <a:gd name="T28" fmla="*/ 71 w 239"/>
                <a:gd name="T29" fmla="*/ 234 h 243"/>
                <a:gd name="T30" fmla="*/ 95 w 239"/>
                <a:gd name="T31" fmla="*/ 241 h 243"/>
                <a:gd name="T32" fmla="*/ 118 w 239"/>
                <a:gd name="T33" fmla="*/ 243 h 243"/>
                <a:gd name="T34" fmla="*/ 143 w 239"/>
                <a:gd name="T35" fmla="*/ 241 h 243"/>
                <a:gd name="T36" fmla="*/ 166 w 239"/>
                <a:gd name="T37" fmla="*/ 234 h 243"/>
                <a:gd name="T38" fmla="*/ 185 w 239"/>
                <a:gd name="T39" fmla="*/ 222 h 243"/>
                <a:gd name="T40" fmla="*/ 204 w 239"/>
                <a:gd name="T41" fmla="*/ 209 h 243"/>
                <a:gd name="T42" fmla="*/ 218 w 239"/>
                <a:gd name="T43" fmla="*/ 191 h 243"/>
                <a:gd name="T44" fmla="*/ 230 w 239"/>
                <a:gd name="T45" fmla="*/ 170 h 243"/>
                <a:gd name="T46" fmla="*/ 237 w 239"/>
                <a:gd name="T47" fmla="*/ 147 h 243"/>
                <a:gd name="T48" fmla="*/ 239 w 239"/>
                <a:gd name="T49" fmla="*/ 124 h 243"/>
                <a:gd name="T50" fmla="*/ 237 w 239"/>
                <a:gd name="T51" fmla="*/ 99 h 243"/>
                <a:gd name="T52" fmla="*/ 230 w 239"/>
                <a:gd name="T53" fmla="*/ 76 h 243"/>
                <a:gd name="T54" fmla="*/ 220 w 239"/>
                <a:gd name="T55" fmla="*/ 54 h 243"/>
                <a:gd name="T56" fmla="*/ 204 w 239"/>
                <a:gd name="T57" fmla="*/ 37 h 243"/>
                <a:gd name="T58" fmla="*/ 187 w 239"/>
                <a:gd name="T59" fmla="*/ 22 h 243"/>
                <a:gd name="T60" fmla="*/ 168 w 239"/>
                <a:gd name="T61" fmla="*/ 10 h 243"/>
                <a:gd name="T62" fmla="*/ 145 w 239"/>
                <a:gd name="T63" fmla="*/ 2 h 243"/>
                <a:gd name="T64" fmla="*/ 122 w 239"/>
                <a:gd name="T65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39" h="243">
                  <a:moveTo>
                    <a:pt x="122" y="0"/>
                  </a:moveTo>
                  <a:lnTo>
                    <a:pt x="96" y="2"/>
                  </a:lnTo>
                  <a:lnTo>
                    <a:pt x="73" y="10"/>
                  </a:lnTo>
                  <a:lnTo>
                    <a:pt x="54" y="22"/>
                  </a:lnTo>
                  <a:lnTo>
                    <a:pt x="35" y="35"/>
                  </a:lnTo>
                  <a:lnTo>
                    <a:pt x="21" y="52"/>
                  </a:lnTo>
                  <a:lnTo>
                    <a:pt x="10" y="74"/>
                  </a:lnTo>
                  <a:lnTo>
                    <a:pt x="2" y="97"/>
                  </a:lnTo>
                  <a:lnTo>
                    <a:pt x="0" y="120"/>
                  </a:lnTo>
                  <a:lnTo>
                    <a:pt x="2" y="145"/>
                  </a:lnTo>
                  <a:lnTo>
                    <a:pt x="10" y="168"/>
                  </a:lnTo>
                  <a:lnTo>
                    <a:pt x="19" y="189"/>
                  </a:lnTo>
                  <a:lnTo>
                    <a:pt x="35" y="207"/>
                  </a:lnTo>
                  <a:lnTo>
                    <a:pt x="52" y="222"/>
                  </a:lnTo>
                  <a:lnTo>
                    <a:pt x="71" y="234"/>
                  </a:lnTo>
                  <a:lnTo>
                    <a:pt x="95" y="241"/>
                  </a:lnTo>
                  <a:lnTo>
                    <a:pt x="118" y="243"/>
                  </a:lnTo>
                  <a:lnTo>
                    <a:pt x="143" y="241"/>
                  </a:lnTo>
                  <a:lnTo>
                    <a:pt x="166" y="234"/>
                  </a:lnTo>
                  <a:lnTo>
                    <a:pt x="185" y="222"/>
                  </a:lnTo>
                  <a:lnTo>
                    <a:pt x="204" y="209"/>
                  </a:lnTo>
                  <a:lnTo>
                    <a:pt x="218" y="191"/>
                  </a:lnTo>
                  <a:lnTo>
                    <a:pt x="230" y="170"/>
                  </a:lnTo>
                  <a:lnTo>
                    <a:pt x="237" y="147"/>
                  </a:lnTo>
                  <a:lnTo>
                    <a:pt x="239" y="124"/>
                  </a:lnTo>
                  <a:lnTo>
                    <a:pt x="237" y="99"/>
                  </a:lnTo>
                  <a:lnTo>
                    <a:pt x="230" y="76"/>
                  </a:lnTo>
                  <a:lnTo>
                    <a:pt x="220" y="54"/>
                  </a:lnTo>
                  <a:lnTo>
                    <a:pt x="204" y="37"/>
                  </a:lnTo>
                  <a:lnTo>
                    <a:pt x="187" y="22"/>
                  </a:lnTo>
                  <a:lnTo>
                    <a:pt x="168" y="10"/>
                  </a:lnTo>
                  <a:lnTo>
                    <a:pt x="145" y="2"/>
                  </a:lnTo>
                  <a:lnTo>
                    <a:pt x="122" y="0"/>
                  </a:lnTo>
                  <a:close/>
                </a:path>
              </a:pathLst>
            </a:custGeom>
            <a:solidFill>
              <a:srgbClr val="00CC99"/>
            </a:solidFill>
            <a:ln w="762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49" name="Rectangle 49">
              <a:extLst>
                <a:ext uri="{FF2B5EF4-FFF2-40B4-BE49-F238E27FC236}">
                  <a16:creationId xmlns:a16="http://schemas.microsoft.com/office/drawing/2014/main" id="{20F6849A-BDF9-9245-9710-E2F9EBFBF1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5038" y="3984625"/>
              <a:ext cx="152400" cy="1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altLang="en-CN" sz="1200">
                  <a:solidFill>
                    <a:srgbClr val="000000"/>
                  </a:solidFill>
                </a:rPr>
                <a:t>14</a:t>
              </a:r>
              <a:endParaRPr lang="en-US" altLang="en-CN" sz="1200"/>
            </a:p>
          </p:txBody>
        </p:sp>
        <p:sp>
          <p:nvSpPr>
            <p:cNvPr id="50" name="Freeform 50">
              <a:extLst>
                <a:ext uri="{FF2B5EF4-FFF2-40B4-BE49-F238E27FC236}">
                  <a16:creationId xmlns:a16="http://schemas.microsoft.com/office/drawing/2014/main" id="{B6111588-35EB-EB49-B47B-BEDCAD30389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7325" y="3581400"/>
              <a:ext cx="328613" cy="239713"/>
            </a:xfrm>
            <a:custGeom>
              <a:avLst/>
              <a:gdLst>
                <a:gd name="T0" fmla="*/ 122 w 240"/>
                <a:gd name="T1" fmla="*/ 0 h 243"/>
                <a:gd name="T2" fmla="*/ 97 w 240"/>
                <a:gd name="T3" fmla="*/ 2 h 243"/>
                <a:gd name="T4" fmla="*/ 74 w 240"/>
                <a:gd name="T5" fmla="*/ 9 h 243"/>
                <a:gd name="T6" fmla="*/ 54 w 240"/>
                <a:gd name="T7" fmla="*/ 21 h 243"/>
                <a:gd name="T8" fmla="*/ 35 w 240"/>
                <a:gd name="T9" fmla="*/ 34 h 243"/>
                <a:gd name="T10" fmla="*/ 22 w 240"/>
                <a:gd name="T11" fmla="*/ 52 h 243"/>
                <a:gd name="T12" fmla="*/ 10 w 240"/>
                <a:gd name="T13" fmla="*/ 73 h 243"/>
                <a:gd name="T14" fmla="*/ 2 w 240"/>
                <a:gd name="T15" fmla="*/ 96 h 243"/>
                <a:gd name="T16" fmla="*/ 0 w 240"/>
                <a:gd name="T17" fmla="*/ 119 h 243"/>
                <a:gd name="T18" fmla="*/ 2 w 240"/>
                <a:gd name="T19" fmla="*/ 144 h 243"/>
                <a:gd name="T20" fmla="*/ 10 w 240"/>
                <a:gd name="T21" fmla="*/ 167 h 243"/>
                <a:gd name="T22" fmla="*/ 20 w 240"/>
                <a:gd name="T23" fmla="*/ 189 h 243"/>
                <a:gd name="T24" fmla="*/ 35 w 240"/>
                <a:gd name="T25" fmla="*/ 206 h 243"/>
                <a:gd name="T26" fmla="*/ 53 w 240"/>
                <a:gd name="T27" fmla="*/ 221 h 243"/>
                <a:gd name="T28" fmla="*/ 72 w 240"/>
                <a:gd name="T29" fmla="*/ 233 h 243"/>
                <a:gd name="T30" fmla="*/ 95 w 240"/>
                <a:gd name="T31" fmla="*/ 241 h 243"/>
                <a:gd name="T32" fmla="*/ 118 w 240"/>
                <a:gd name="T33" fmla="*/ 243 h 243"/>
                <a:gd name="T34" fmla="*/ 143 w 240"/>
                <a:gd name="T35" fmla="*/ 241 h 243"/>
                <a:gd name="T36" fmla="*/ 166 w 240"/>
                <a:gd name="T37" fmla="*/ 233 h 243"/>
                <a:gd name="T38" fmla="*/ 186 w 240"/>
                <a:gd name="T39" fmla="*/ 221 h 243"/>
                <a:gd name="T40" fmla="*/ 205 w 240"/>
                <a:gd name="T41" fmla="*/ 208 h 243"/>
                <a:gd name="T42" fmla="*/ 218 w 240"/>
                <a:gd name="T43" fmla="*/ 191 h 243"/>
                <a:gd name="T44" fmla="*/ 230 w 240"/>
                <a:gd name="T45" fmla="*/ 169 h 243"/>
                <a:gd name="T46" fmla="*/ 238 w 240"/>
                <a:gd name="T47" fmla="*/ 146 h 243"/>
                <a:gd name="T48" fmla="*/ 240 w 240"/>
                <a:gd name="T49" fmla="*/ 123 h 243"/>
                <a:gd name="T50" fmla="*/ 238 w 240"/>
                <a:gd name="T51" fmla="*/ 98 h 243"/>
                <a:gd name="T52" fmla="*/ 230 w 240"/>
                <a:gd name="T53" fmla="*/ 75 h 243"/>
                <a:gd name="T54" fmla="*/ 220 w 240"/>
                <a:gd name="T55" fmla="*/ 54 h 243"/>
                <a:gd name="T56" fmla="*/ 205 w 240"/>
                <a:gd name="T57" fmla="*/ 36 h 243"/>
                <a:gd name="T58" fmla="*/ 188 w 240"/>
                <a:gd name="T59" fmla="*/ 21 h 243"/>
                <a:gd name="T60" fmla="*/ 168 w 240"/>
                <a:gd name="T61" fmla="*/ 9 h 243"/>
                <a:gd name="T62" fmla="*/ 145 w 240"/>
                <a:gd name="T63" fmla="*/ 2 h 243"/>
                <a:gd name="T64" fmla="*/ 122 w 240"/>
                <a:gd name="T65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0" h="243">
                  <a:moveTo>
                    <a:pt x="122" y="0"/>
                  </a:moveTo>
                  <a:lnTo>
                    <a:pt x="97" y="2"/>
                  </a:lnTo>
                  <a:lnTo>
                    <a:pt x="74" y="9"/>
                  </a:lnTo>
                  <a:lnTo>
                    <a:pt x="54" y="21"/>
                  </a:lnTo>
                  <a:lnTo>
                    <a:pt x="35" y="34"/>
                  </a:lnTo>
                  <a:lnTo>
                    <a:pt x="22" y="52"/>
                  </a:lnTo>
                  <a:lnTo>
                    <a:pt x="10" y="73"/>
                  </a:lnTo>
                  <a:lnTo>
                    <a:pt x="2" y="96"/>
                  </a:lnTo>
                  <a:lnTo>
                    <a:pt x="0" y="119"/>
                  </a:lnTo>
                  <a:lnTo>
                    <a:pt x="2" y="144"/>
                  </a:lnTo>
                  <a:lnTo>
                    <a:pt x="10" y="167"/>
                  </a:lnTo>
                  <a:lnTo>
                    <a:pt x="20" y="189"/>
                  </a:lnTo>
                  <a:lnTo>
                    <a:pt x="35" y="206"/>
                  </a:lnTo>
                  <a:lnTo>
                    <a:pt x="53" y="221"/>
                  </a:lnTo>
                  <a:lnTo>
                    <a:pt x="72" y="233"/>
                  </a:lnTo>
                  <a:lnTo>
                    <a:pt x="95" y="241"/>
                  </a:lnTo>
                  <a:lnTo>
                    <a:pt x="118" y="243"/>
                  </a:lnTo>
                  <a:lnTo>
                    <a:pt x="143" y="241"/>
                  </a:lnTo>
                  <a:lnTo>
                    <a:pt x="166" y="233"/>
                  </a:lnTo>
                  <a:lnTo>
                    <a:pt x="186" y="221"/>
                  </a:lnTo>
                  <a:lnTo>
                    <a:pt x="205" y="208"/>
                  </a:lnTo>
                  <a:lnTo>
                    <a:pt x="218" y="191"/>
                  </a:lnTo>
                  <a:lnTo>
                    <a:pt x="230" y="169"/>
                  </a:lnTo>
                  <a:lnTo>
                    <a:pt x="238" y="146"/>
                  </a:lnTo>
                  <a:lnTo>
                    <a:pt x="240" y="123"/>
                  </a:lnTo>
                  <a:lnTo>
                    <a:pt x="238" y="98"/>
                  </a:lnTo>
                  <a:lnTo>
                    <a:pt x="230" y="75"/>
                  </a:lnTo>
                  <a:lnTo>
                    <a:pt x="220" y="54"/>
                  </a:lnTo>
                  <a:lnTo>
                    <a:pt x="205" y="36"/>
                  </a:lnTo>
                  <a:lnTo>
                    <a:pt x="188" y="21"/>
                  </a:lnTo>
                  <a:lnTo>
                    <a:pt x="168" y="9"/>
                  </a:lnTo>
                  <a:lnTo>
                    <a:pt x="145" y="2"/>
                  </a:lnTo>
                  <a:lnTo>
                    <a:pt x="122" y="0"/>
                  </a:lnTo>
                  <a:close/>
                </a:path>
              </a:pathLst>
            </a:custGeom>
            <a:solidFill>
              <a:srgbClr val="00CC99"/>
            </a:solidFill>
            <a:ln w="762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1" name="Rectangle 51">
              <a:extLst>
                <a:ext uri="{FF2B5EF4-FFF2-40B4-BE49-F238E27FC236}">
                  <a16:creationId xmlns:a16="http://schemas.microsoft.com/office/drawing/2014/main" id="{8E8D4853-4A2B-DB43-8BC5-400F9DF7F4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05588" y="3629025"/>
              <a:ext cx="152400" cy="1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altLang="en-CN" sz="1200">
                  <a:solidFill>
                    <a:srgbClr val="000000"/>
                  </a:solidFill>
                </a:rPr>
                <a:t>12</a:t>
              </a:r>
              <a:endParaRPr lang="en-US" altLang="en-CN" sz="1200"/>
            </a:p>
          </p:txBody>
        </p:sp>
        <p:sp>
          <p:nvSpPr>
            <p:cNvPr id="52" name="Freeform 52">
              <a:extLst>
                <a:ext uri="{FF2B5EF4-FFF2-40B4-BE49-F238E27FC236}">
                  <a16:creationId xmlns:a16="http://schemas.microsoft.com/office/drawing/2014/main" id="{224E4096-F0B1-8344-A797-BF0FFD2EABE1}"/>
                </a:ext>
              </a:extLst>
            </p:cNvPr>
            <p:cNvSpPr>
              <a:spLocks/>
            </p:cNvSpPr>
            <p:nvPr/>
          </p:nvSpPr>
          <p:spPr bwMode="auto">
            <a:xfrm>
              <a:off x="5491163" y="2744788"/>
              <a:ext cx="325437" cy="242887"/>
            </a:xfrm>
            <a:custGeom>
              <a:avLst/>
              <a:gdLst>
                <a:gd name="T0" fmla="*/ 119 w 237"/>
                <a:gd name="T1" fmla="*/ 0 h 243"/>
                <a:gd name="T2" fmla="*/ 96 w 237"/>
                <a:gd name="T3" fmla="*/ 2 h 243"/>
                <a:gd name="T4" fmla="*/ 73 w 237"/>
                <a:gd name="T5" fmla="*/ 10 h 243"/>
                <a:gd name="T6" fmla="*/ 52 w 237"/>
                <a:gd name="T7" fmla="*/ 21 h 243"/>
                <a:gd name="T8" fmla="*/ 35 w 237"/>
                <a:gd name="T9" fmla="*/ 35 h 243"/>
                <a:gd name="T10" fmla="*/ 21 w 237"/>
                <a:gd name="T11" fmla="*/ 52 h 243"/>
                <a:gd name="T12" fmla="*/ 10 w 237"/>
                <a:gd name="T13" fmla="*/ 73 h 243"/>
                <a:gd name="T14" fmla="*/ 2 w 237"/>
                <a:gd name="T15" fmla="*/ 96 h 243"/>
                <a:gd name="T16" fmla="*/ 0 w 237"/>
                <a:gd name="T17" fmla="*/ 120 h 243"/>
                <a:gd name="T18" fmla="*/ 2 w 237"/>
                <a:gd name="T19" fmla="*/ 145 h 243"/>
                <a:gd name="T20" fmla="*/ 10 w 237"/>
                <a:gd name="T21" fmla="*/ 168 h 243"/>
                <a:gd name="T22" fmla="*/ 19 w 237"/>
                <a:gd name="T23" fmla="*/ 189 h 243"/>
                <a:gd name="T24" fmla="*/ 35 w 237"/>
                <a:gd name="T25" fmla="*/ 206 h 243"/>
                <a:gd name="T26" fmla="*/ 52 w 237"/>
                <a:gd name="T27" fmla="*/ 222 h 243"/>
                <a:gd name="T28" fmla="*/ 71 w 237"/>
                <a:gd name="T29" fmla="*/ 233 h 243"/>
                <a:gd name="T30" fmla="*/ 94 w 237"/>
                <a:gd name="T31" fmla="*/ 241 h 243"/>
                <a:gd name="T32" fmla="*/ 118 w 237"/>
                <a:gd name="T33" fmla="*/ 243 h 243"/>
                <a:gd name="T34" fmla="*/ 141 w 237"/>
                <a:gd name="T35" fmla="*/ 241 h 243"/>
                <a:gd name="T36" fmla="*/ 164 w 237"/>
                <a:gd name="T37" fmla="*/ 233 h 243"/>
                <a:gd name="T38" fmla="*/ 185 w 237"/>
                <a:gd name="T39" fmla="*/ 222 h 243"/>
                <a:gd name="T40" fmla="*/ 202 w 237"/>
                <a:gd name="T41" fmla="*/ 208 h 243"/>
                <a:gd name="T42" fmla="*/ 216 w 237"/>
                <a:gd name="T43" fmla="*/ 191 h 243"/>
                <a:gd name="T44" fmla="*/ 227 w 237"/>
                <a:gd name="T45" fmla="*/ 170 h 243"/>
                <a:gd name="T46" fmla="*/ 235 w 237"/>
                <a:gd name="T47" fmla="*/ 147 h 243"/>
                <a:gd name="T48" fmla="*/ 237 w 237"/>
                <a:gd name="T49" fmla="*/ 123 h 243"/>
                <a:gd name="T50" fmla="*/ 235 w 237"/>
                <a:gd name="T51" fmla="*/ 98 h 243"/>
                <a:gd name="T52" fmla="*/ 227 w 237"/>
                <a:gd name="T53" fmla="*/ 75 h 243"/>
                <a:gd name="T54" fmla="*/ 218 w 237"/>
                <a:gd name="T55" fmla="*/ 54 h 243"/>
                <a:gd name="T56" fmla="*/ 202 w 237"/>
                <a:gd name="T57" fmla="*/ 37 h 243"/>
                <a:gd name="T58" fmla="*/ 185 w 237"/>
                <a:gd name="T59" fmla="*/ 21 h 243"/>
                <a:gd name="T60" fmla="*/ 166 w 237"/>
                <a:gd name="T61" fmla="*/ 10 h 243"/>
                <a:gd name="T62" fmla="*/ 143 w 237"/>
                <a:gd name="T63" fmla="*/ 2 h 243"/>
                <a:gd name="T64" fmla="*/ 119 w 237"/>
                <a:gd name="T65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37" h="243">
                  <a:moveTo>
                    <a:pt x="119" y="0"/>
                  </a:moveTo>
                  <a:lnTo>
                    <a:pt x="96" y="2"/>
                  </a:lnTo>
                  <a:lnTo>
                    <a:pt x="73" y="10"/>
                  </a:lnTo>
                  <a:lnTo>
                    <a:pt x="52" y="21"/>
                  </a:lnTo>
                  <a:lnTo>
                    <a:pt x="35" y="35"/>
                  </a:lnTo>
                  <a:lnTo>
                    <a:pt x="21" y="52"/>
                  </a:lnTo>
                  <a:lnTo>
                    <a:pt x="10" y="73"/>
                  </a:lnTo>
                  <a:lnTo>
                    <a:pt x="2" y="96"/>
                  </a:lnTo>
                  <a:lnTo>
                    <a:pt x="0" y="120"/>
                  </a:lnTo>
                  <a:lnTo>
                    <a:pt x="2" y="145"/>
                  </a:lnTo>
                  <a:lnTo>
                    <a:pt x="10" y="168"/>
                  </a:lnTo>
                  <a:lnTo>
                    <a:pt x="19" y="189"/>
                  </a:lnTo>
                  <a:lnTo>
                    <a:pt x="35" y="206"/>
                  </a:lnTo>
                  <a:lnTo>
                    <a:pt x="52" y="222"/>
                  </a:lnTo>
                  <a:lnTo>
                    <a:pt x="71" y="233"/>
                  </a:lnTo>
                  <a:lnTo>
                    <a:pt x="94" y="241"/>
                  </a:lnTo>
                  <a:lnTo>
                    <a:pt x="118" y="243"/>
                  </a:lnTo>
                  <a:lnTo>
                    <a:pt x="141" y="241"/>
                  </a:lnTo>
                  <a:lnTo>
                    <a:pt x="164" y="233"/>
                  </a:lnTo>
                  <a:lnTo>
                    <a:pt x="185" y="222"/>
                  </a:lnTo>
                  <a:lnTo>
                    <a:pt x="202" y="208"/>
                  </a:lnTo>
                  <a:lnTo>
                    <a:pt x="216" y="191"/>
                  </a:lnTo>
                  <a:lnTo>
                    <a:pt x="227" y="170"/>
                  </a:lnTo>
                  <a:lnTo>
                    <a:pt x="235" y="147"/>
                  </a:lnTo>
                  <a:lnTo>
                    <a:pt x="237" y="123"/>
                  </a:lnTo>
                  <a:lnTo>
                    <a:pt x="235" y="98"/>
                  </a:lnTo>
                  <a:lnTo>
                    <a:pt x="227" y="75"/>
                  </a:lnTo>
                  <a:lnTo>
                    <a:pt x="218" y="54"/>
                  </a:lnTo>
                  <a:lnTo>
                    <a:pt x="202" y="37"/>
                  </a:lnTo>
                  <a:lnTo>
                    <a:pt x="185" y="21"/>
                  </a:lnTo>
                  <a:lnTo>
                    <a:pt x="166" y="10"/>
                  </a:lnTo>
                  <a:lnTo>
                    <a:pt x="143" y="2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00CC99"/>
            </a:solidFill>
            <a:ln w="762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3" name="Rectangle 53">
              <a:extLst>
                <a:ext uri="{FF2B5EF4-FFF2-40B4-BE49-F238E27FC236}">
                  <a16:creationId xmlns:a16="http://schemas.microsoft.com/office/drawing/2014/main" id="{040261C1-3ABF-A040-AD8A-51AA1AE9D0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3875" y="2794000"/>
              <a:ext cx="76200" cy="1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altLang="en-CN" sz="1200">
                  <a:solidFill>
                    <a:srgbClr val="000000"/>
                  </a:solidFill>
                </a:rPr>
                <a:t>9</a:t>
              </a:r>
              <a:endParaRPr lang="en-US" altLang="en-CN" sz="1200"/>
            </a:p>
          </p:txBody>
        </p:sp>
        <p:sp>
          <p:nvSpPr>
            <p:cNvPr id="54" name="Freeform 54">
              <a:extLst>
                <a:ext uri="{FF2B5EF4-FFF2-40B4-BE49-F238E27FC236}">
                  <a16:creationId xmlns:a16="http://schemas.microsoft.com/office/drawing/2014/main" id="{EDB864BD-0D38-A541-9BF4-A7689D6FC4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9138" y="4113213"/>
              <a:ext cx="325437" cy="239712"/>
            </a:xfrm>
            <a:custGeom>
              <a:avLst/>
              <a:gdLst>
                <a:gd name="T0" fmla="*/ 121 w 239"/>
                <a:gd name="T1" fmla="*/ 0 h 241"/>
                <a:gd name="T2" fmla="*/ 96 w 239"/>
                <a:gd name="T3" fmla="*/ 2 h 241"/>
                <a:gd name="T4" fmla="*/ 73 w 239"/>
                <a:gd name="T5" fmla="*/ 9 h 241"/>
                <a:gd name="T6" fmla="*/ 54 w 239"/>
                <a:gd name="T7" fmla="*/ 19 h 241"/>
                <a:gd name="T8" fmla="*/ 34 w 239"/>
                <a:gd name="T9" fmla="*/ 34 h 241"/>
                <a:gd name="T10" fmla="*/ 21 w 239"/>
                <a:gd name="T11" fmla="*/ 52 h 241"/>
                <a:gd name="T12" fmla="*/ 9 w 239"/>
                <a:gd name="T13" fmla="*/ 73 h 241"/>
                <a:gd name="T14" fmla="*/ 2 w 239"/>
                <a:gd name="T15" fmla="*/ 94 h 241"/>
                <a:gd name="T16" fmla="*/ 0 w 239"/>
                <a:gd name="T17" fmla="*/ 119 h 241"/>
                <a:gd name="T18" fmla="*/ 2 w 239"/>
                <a:gd name="T19" fmla="*/ 144 h 241"/>
                <a:gd name="T20" fmla="*/ 9 w 239"/>
                <a:gd name="T21" fmla="*/ 167 h 241"/>
                <a:gd name="T22" fmla="*/ 19 w 239"/>
                <a:gd name="T23" fmla="*/ 187 h 241"/>
                <a:gd name="T24" fmla="*/ 34 w 239"/>
                <a:gd name="T25" fmla="*/ 206 h 241"/>
                <a:gd name="T26" fmla="*/ 52 w 239"/>
                <a:gd name="T27" fmla="*/ 220 h 241"/>
                <a:gd name="T28" fmla="*/ 71 w 239"/>
                <a:gd name="T29" fmla="*/ 231 h 241"/>
                <a:gd name="T30" fmla="*/ 94 w 239"/>
                <a:gd name="T31" fmla="*/ 239 h 241"/>
                <a:gd name="T32" fmla="*/ 117 w 239"/>
                <a:gd name="T33" fmla="*/ 241 h 241"/>
                <a:gd name="T34" fmla="*/ 142 w 239"/>
                <a:gd name="T35" fmla="*/ 239 h 241"/>
                <a:gd name="T36" fmla="*/ 165 w 239"/>
                <a:gd name="T37" fmla="*/ 231 h 241"/>
                <a:gd name="T38" fmla="*/ 185 w 239"/>
                <a:gd name="T39" fmla="*/ 221 h 241"/>
                <a:gd name="T40" fmla="*/ 204 w 239"/>
                <a:gd name="T41" fmla="*/ 206 h 241"/>
                <a:gd name="T42" fmla="*/ 217 w 239"/>
                <a:gd name="T43" fmla="*/ 189 h 241"/>
                <a:gd name="T44" fmla="*/ 229 w 239"/>
                <a:gd name="T45" fmla="*/ 167 h 241"/>
                <a:gd name="T46" fmla="*/ 237 w 239"/>
                <a:gd name="T47" fmla="*/ 146 h 241"/>
                <a:gd name="T48" fmla="*/ 239 w 239"/>
                <a:gd name="T49" fmla="*/ 121 h 241"/>
                <a:gd name="T50" fmla="*/ 237 w 239"/>
                <a:gd name="T51" fmla="*/ 96 h 241"/>
                <a:gd name="T52" fmla="*/ 229 w 239"/>
                <a:gd name="T53" fmla="*/ 73 h 241"/>
                <a:gd name="T54" fmla="*/ 219 w 239"/>
                <a:gd name="T55" fmla="*/ 54 h 241"/>
                <a:gd name="T56" fmla="*/ 204 w 239"/>
                <a:gd name="T57" fmla="*/ 34 h 241"/>
                <a:gd name="T58" fmla="*/ 187 w 239"/>
                <a:gd name="T59" fmla="*/ 21 h 241"/>
                <a:gd name="T60" fmla="*/ 167 w 239"/>
                <a:gd name="T61" fmla="*/ 9 h 241"/>
                <a:gd name="T62" fmla="*/ 144 w 239"/>
                <a:gd name="T63" fmla="*/ 2 h 241"/>
                <a:gd name="T64" fmla="*/ 121 w 239"/>
                <a:gd name="T65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39" h="241">
                  <a:moveTo>
                    <a:pt x="121" y="0"/>
                  </a:moveTo>
                  <a:lnTo>
                    <a:pt x="96" y="2"/>
                  </a:lnTo>
                  <a:lnTo>
                    <a:pt x="73" y="9"/>
                  </a:lnTo>
                  <a:lnTo>
                    <a:pt x="54" y="19"/>
                  </a:lnTo>
                  <a:lnTo>
                    <a:pt x="34" y="34"/>
                  </a:lnTo>
                  <a:lnTo>
                    <a:pt x="21" y="52"/>
                  </a:lnTo>
                  <a:lnTo>
                    <a:pt x="9" y="73"/>
                  </a:lnTo>
                  <a:lnTo>
                    <a:pt x="2" y="94"/>
                  </a:lnTo>
                  <a:lnTo>
                    <a:pt x="0" y="119"/>
                  </a:lnTo>
                  <a:lnTo>
                    <a:pt x="2" y="144"/>
                  </a:lnTo>
                  <a:lnTo>
                    <a:pt x="9" y="167"/>
                  </a:lnTo>
                  <a:lnTo>
                    <a:pt x="19" y="187"/>
                  </a:lnTo>
                  <a:lnTo>
                    <a:pt x="34" y="206"/>
                  </a:lnTo>
                  <a:lnTo>
                    <a:pt x="52" y="220"/>
                  </a:lnTo>
                  <a:lnTo>
                    <a:pt x="71" y="231"/>
                  </a:lnTo>
                  <a:lnTo>
                    <a:pt x="94" y="239"/>
                  </a:lnTo>
                  <a:lnTo>
                    <a:pt x="117" y="241"/>
                  </a:lnTo>
                  <a:lnTo>
                    <a:pt x="142" y="239"/>
                  </a:lnTo>
                  <a:lnTo>
                    <a:pt x="165" y="231"/>
                  </a:lnTo>
                  <a:lnTo>
                    <a:pt x="185" y="221"/>
                  </a:lnTo>
                  <a:lnTo>
                    <a:pt x="204" y="206"/>
                  </a:lnTo>
                  <a:lnTo>
                    <a:pt x="217" y="189"/>
                  </a:lnTo>
                  <a:lnTo>
                    <a:pt x="229" y="167"/>
                  </a:lnTo>
                  <a:lnTo>
                    <a:pt x="237" y="146"/>
                  </a:lnTo>
                  <a:lnTo>
                    <a:pt x="239" y="121"/>
                  </a:lnTo>
                  <a:lnTo>
                    <a:pt x="237" y="96"/>
                  </a:lnTo>
                  <a:lnTo>
                    <a:pt x="229" y="73"/>
                  </a:lnTo>
                  <a:lnTo>
                    <a:pt x="219" y="54"/>
                  </a:lnTo>
                  <a:lnTo>
                    <a:pt x="204" y="34"/>
                  </a:lnTo>
                  <a:lnTo>
                    <a:pt x="187" y="21"/>
                  </a:lnTo>
                  <a:lnTo>
                    <a:pt x="167" y="9"/>
                  </a:lnTo>
                  <a:lnTo>
                    <a:pt x="144" y="2"/>
                  </a:lnTo>
                  <a:lnTo>
                    <a:pt x="121" y="0"/>
                  </a:lnTo>
                  <a:close/>
                </a:path>
              </a:pathLst>
            </a:custGeom>
            <a:solidFill>
              <a:srgbClr val="00CC99"/>
            </a:solidFill>
            <a:ln w="762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5" name="Rectangle 55">
              <a:extLst>
                <a:ext uri="{FF2B5EF4-FFF2-40B4-BE49-F238E27FC236}">
                  <a16:creationId xmlns:a16="http://schemas.microsoft.com/office/drawing/2014/main" id="{3D99C522-2118-9942-BB14-DE5DA27874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7400" y="4162425"/>
              <a:ext cx="152400" cy="1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altLang="en-CN" sz="1200">
                  <a:solidFill>
                    <a:srgbClr val="000000"/>
                  </a:solidFill>
                </a:rPr>
                <a:t>15</a:t>
              </a:r>
              <a:endParaRPr lang="en-US" altLang="en-CN" sz="1200"/>
            </a:p>
          </p:txBody>
        </p:sp>
        <p:sp>
          <p:nvSpPr>
            <p:cNvPr id="56" name="Freeform 56">
              <a:extLst>
                <a:ext uri="{FF2B5EF4-FFF2-40B4-BE49-F238E27FC236}">
                  <a16:creationId xmlns:a16="http://schemas.microsoft.com/office/drawing/2014/main" id="{263C7E6C-560F-DC4F-A6DB-C5F8B102D96F}"/>
                </a:ext>
              </a:extLst>
            </p:cNvPr>
            <p:cNvSpPr>
              <a:spLocks/>
            </p:cNvSpPr>
            <p:nvPr/>
          </p:nvSpPr>
          <p:spPr bwMode="auto">
            <a:xfrm>
              <a:off x="7191375" y="4554538"/>
              <a:ext cx="325438" cy="239712"/>
            </a:xfrm>
            <a:custGeom>
              <a:avLst/>
              <a:gdLst>
                <a:gd name="T0" fmla="*/ 121 w 239"/>
                <a:gd name="T1" fmla="*/ 0 h 243"/>
                <a:gd name="T2" fmla="*/ 96 w 239"/>
                <a:gd name="T3" fmla="*/ 2 h 243"/>
                <a:gd name="T4" fmla="*/ 73 w 239"/>
                <a:gd name="T5" fmla="*/ 10 h 243"/>
                <a:gd name="T6" fmla="*/ 54 w 239"/>
                <a:gd name="T7" fmla="*/ 21 h 243"/>
                <a:gd name="T8" fmla="*/ 34 w 239"/>
                <a:gd name="T9" fmla="*/ 35 h 243"/>
                <a:gd name="T10" fmla="*/ 21 w 239"/>
                <a:gd name="T11" fmla="*/ 52 h 243"/>
                <a:gd name="T12" fmla="*/ 9 w 239"/>
                <a:gd name="T13" fmla="*/ 73 h 243"/>
                <a:gd name="T14" fmla="*/ 2 w 239"/>
                <a:gd name="T15" fmla="*/ 97 h 243"/>
                <a:gd name="T16" fmla="*/ 0 w 239"/>
                <a:gd name="T17" fmla="*/ 120 h 243"/>
                <a:gd name="T18" fmla="*/ 2 w 239"/>
                <a:gd name="T19" fmla="*/ 145 h 243"/>
                <a:gd name="T20" fmla="*/ 9 w 239"/>
                <a:gd name="T21" fmla="*/ 168 h 243"/>
                <a:gd name="T22" fmla="*/ 19 w 239"/>
                <a:gd name="T23" fmla="*/ 189 h 243"/>
                <a:gd name="T24" fmla="*/ 34 w 239"/>
                <a:gd name="T25" fmla="*/ 207 h 243"/>
                <a:gd name="T26" fmla="*/ 52 w 239"/>
                <a:gd name="T27" fmla="*/ 222 h 243"/>
                <a:gd name="T28" fmla="*/ 71 w 239"/>
                <a:gd name="T29" fmla="*/ 234 h 243"/>
                <a:gd name="T30" fmla="*/ 94 w 239"/>
                <a:gd name="T31" fmla="*/ 241 h 243"/>
                <a:gd name="T32" fmla="*/ 117 w 239"/>
                <a:gd name="T33" fmla="*/ 243 h 243"/>
                <a:gd name="T34" fmla="*/ 142 w 239"/>
                <a:gd name="T35" fmla="*/ 241 h 243"/>
                <a:gd name="T36" fmla="*/ 166 w 239"/>
                <a:gd name="T37" fmla="*/ 234 h 243"/>
                <a:gd name="T38" fmla="*/ 185 w 239"/>
                <a:gd name="T39" fmla="*/ 222 h 243"/>
                <a:gd name="T40" fmla="*/ 204 w 239"/>
                <a:gd name="T41" fmla="*/ 208 h 243"/>
                <a:gd name="T42" fmla="*/ 218 w 239"/>
                <a:gd name="T43" fmla="*/ 191 h 243"/>
                <a:gd name="T44" fmla="*/ 229 w 239"/>
                <a:gd name="T45" fmla="*/ 170 h 243"/>
                <a:gd name="T46" fmla="*/ 237 w 239"/>
                <a:gd name="T47" fmla="*/ 147 h 243"/>
                <a:gd name="T48" fmla="*/ 239 w 239"/>
                <a:gd name="T49" fmla="*/ 124 h 243"/>
                <a:gd name="T50" fmla="*/ 237 w 239"/>
                <a:gd name="T51" fmla="*/ 99 h 243"/>
                <a:gd name="T52" fmla="*/ 229 w 239"/>
                <a:gd name="T53" fmla="*/ 75 h 243"/>
                <a:gd name="T54" fmla="*/ 220 w 239"/>
                <a:gd name="T55" fmla="*/ 54 h 243"/>
                <a:gd name="T56" fmla="*/ 204 w 239"/>
                <a:gd name="T57" fmla="*/ 37 h 243"/>
                <a:gd name="T58" fmla="*/ 187 w 239"/>
                <a:gd name="T59" fmla="*/ 21 h 243"/>
                <a:gd name="T60" fmla="*/ 168 w 239"/>
                <a:gd name="T61" fmla="*/ 10 h 243"/>
                <a:gd name="T62" fmla="*/ 144 w 239"/>
                <a:gd name="T63" fmla="*/ 2 h 243"/>
                <a:gd name="T64" fmla="*/ 121 w 239"/>
                <a:gd name="T65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39" h="243">
                  <a:moveTo>
                    <a:pt x="121" y="0"/>
                  </a:moveTo>
                  <a:lnTo>
                    <a:pt x="96" y="2"/>
                  </a:lnTo>
                  <a:lnTo>
                    <a:pt x="73" y="10"/>
                  </a:lnTo>
                  <a:lnTo>
                    <a:pt x="54" y="21"/>
                  </a:lnTo>
                  <a:lnTo>
                    <a:pt x="34" y="35"/>
                  </a:lnTo>
                  <a:lnTo>
                    <a:pt x="21" y="52"/>
                  </a:lnTo>
                  <a:lnTo>
                    <a:pt x="9" y="73"/>
                  </a:lnTo>
                  <a:lnTo>
                    <a:pt x="2" y="97"/>
                  </a:lnTo>
                  <a:lnTo>
                    <a:pt x="0" y="120"/>
                  </a:lnTo>
                  <a:lnTo>
                    <a:pt x="2" y="145"/>
                  </a:lnTo>
                  <a:lnTo>
                    <a:pt x="9" y="168"/>
                  </a:lnTo>
                  <a:lnTo>
                    <a:pt x="19" y="189"/>
                  </a:lnTo>
                  <a:lnTo>
                    <a:pt x="34" y="207"/>
                  </a:lnTo>
                  <a:lnTo>
                    <a:pt x="52" y="222"/>
                  </a:lnTo>
                  <a:lnTo>
                    <a:pt x="71" y="234"/>
                  </a:lnTo>
                  <a:lnTo>
                    <a:pt x="94" y="241"/>
                  </a:lnTo>
                  <a:lnTo>
                    <a:pt x="117" y="243"/>
                  </a:lnTo>
                  <a:lnTo>
                    <a:pt x="142" y="241"/>
                  </a:lnTo>
                  <a:lnTo>
                    <a:pt x="166" y="234"/>
                  </a:lnTo>
                  <a:lnTo>
                    <a:pt x="185" y="222"/>
                  </a:lnTo>
                  <a:lnTo>
                    <a:pt x="204" y="208"/>
                  </a:lnTo>
                  <a:lnTo>
                    <a:pt x="218" y="191"/>
                  </a:lnTo>
                  <a:lnTo>
                    <a:pt x="229" y="170"/>
                  </a:lnTo>
                  <a:lnTo>
                    <a:pt x="237" y="147"/>
                  </a:lnTo>
                  <a:lnTo>
                    <a:pt x="239" y="124"/>
                  </a:lnTo>
                  <a:lnTo>
                    <a:pt x="237" y="99"/>
                  </a:lnTo>
                  <a:lnTo>
                    <a:pt x="229" y="75"/>
                  </a:lnTo>
                  <a:lnTo>
                    <a:pt x="220" y="54"/>
                  </a:lnTo>
                  <a:lnTo>
                    <a:pt x="204" y="37"/>
                  </a:lnTo>
                  <a:lnTo>
                    <a:pt x="187" y="21"/>
                  </a:lnTo>
                  <a:lnTo>
                    <a:pt x="168" y="10"/>
                  </a:lnTo>
                  <a:lnTo>
                    <a:pt x="144" y="2"/>
                  </a:lnTo>
                  <a:lnTo>
                    <a:pt x="121" y="0"/>
                  </a:lnTo>
                  <a:close/>
                </a:path>
              </a:pathLst>
            </a:custGeom>
            <a:solidFill>
              <a:srgbClr val="00CC99"/>
            </a:solidFill>
            <a:ln w="762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7" name="Rectangle 57">
              <a:extLst>
                <a:ext uri="{FF2B5EF4-FFF2-40B4-BE49-F238E27FC236}">
                  <a16:creationId xmlns:a16="http://schemas.microsoft.com/office/drawing/2014/main" id="{BADD8596-7235-0F4A-8270-2501108AFD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59638" y="4603750"/>
              <a:ext cx="152400" cy="1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altLang="en-CN" sz="1200">
                  <a:solidFill>
                    <a:srgbClr val="000000"/>
                  </a:solidFill>
                </a:rPr>
                <a:t>16</a:t>
              </a:r>
              <a:endParaRPr lang="en-US" altLang="en-CN" sz="1200"/>
            </a:p>
          </p:txBody>
        </p:sp>
        <p:sp>
          <p:nvSpPr>
            <p:cNvPr id="58" name="Freeform 58">
              <a:extLst>
                <a:ext uri="{FF2B5EF4-FFF2-40B4-BE49-F238E27FC236}">
                  <a16:creationId xmlns:a16="http://schemas.microsoft.com/office/drawing/2014/main" id="{14CAEE71-B40E-6145-8A0B-E61DB527F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1763" y="3757613"/>
              <a:ext cx="325437" cy="242887"/>
            </a:xfrm>
            <a:custGeom>
              <a:avLst/>
              <a:gdLst>
                <a:gd name="T0" fmla="*/ 119 w 237"/>
                <a:gd name="T1" fmla="*/ 0 h 243"/>
                <a:gd name="T2" fmla="*/ 96 w 237"/>
                <a:gd name="T3" fmla="*/ 2 h 243"/>
                <a:gd name="T4" fmla="*/ 73 w 237"/>
                <a:gd name="T5" fmla="*/ 10 h 243"/>
                <a:gd name="T6" fmla="*/ 52 w 237"/>
                <a:gd name="T7" fmla="*/ 21 h 243"/>
                <a:gd name="T8" fmla="*/ 34 w 237"/>
                <a:gd name="T9" fmla="*/ 35 h 243"/>
                <a:gd name="T10" fmla="*/ 21 w 237"/>
                <a:gd name="T11" fmla="*/ 52 h 243"/>
                <a:gd name="T12" fmla="*/ 9 w 237"/>
                <a:gd name="T13" fmla="*/ 73 h 243"/>
                <a:gd name="T14" fmla="*/ 1 w 237"/>
                <a:gd name="T15" fmla="*/ 96 h 243"/>
                <a:gd name="T16" fmla="*/ 0 w 237"/>
                <a:gd name="T17" fmla="*/ 120 h 243"/>
                <a:gd name="T18" fmla="*/ 1 w 237"/>
                <a:gd name="T19" fmla="*/ 145 h 243"/>
                <a:gd name="T20" fmla="*/ 9 w 237"/>
                <a:gd name="T21" fmla="*/ 168 h 243"/>
                <a:gd name="T22" fmla="*/ 19 w 237"/>
                <a:gd name="T23" fmla="*/ 189 h 243"/>
                <a:gd name="T24" fmla="*/ 34 w 237"/>
                <a:gd name="T25" fmla="*/ 206 h 243"/>
                <a:gd name="T26" fmla="*/ 52 w 237"/>
                <a:gd name="T27" fmla="*/ 222 h 243"/>
                <a:gd name="T28" fmla="*/ 71 w 237"/>
                <a:gd name="T29" fmla="*/ 233 h 243"/>
                <a:gd name="T30" fmla="*/ 94 w 237"/>
                <a:gd name="T31" fmla="*/ 241 h 243"/>
                <a:gd name="T32" fmla="*/ 117 w 237"/>
                <a:gd name="T33" fmla="*/ 243 h 243"/>
                <a:gd name="T34" fmla="*/ 140 w 237"/>
                <a:gd name="T35" fmla="*/ 241 h 243"/>
                <a:gd name="T36" fmla="*/ 163 w 237"/>
                <a:gd name="T37" fmla="*/ 233 h 243"/>
                <a:gd name="T38" fmla="*/ 185 w 237"/>
                <a:gd name="T39" fmla="*/ 222 h 243"/>
                <a:gd name="T40" fmla="*/ 202 w 237"/>
                <a:gd name="T41" fmla="*/ 208 h 243"/>
                <a:gd name="T42" fmla="*/ 215 w 237"/>
                <a:gd name="T43" fmla="*/ 191 h 243"/>
                <a:gd name="T44" fmla="*/ 227 w 237"/>
                <a:gd name="T45" fmla="*/ 170 h 243"/>
                <a:gd name="T46" fmla="*/ 235 w 237"/>
                <a:gd name="T47" fmla="*/ 147 h 243"/>
                <a:gd name="T48" fmla="*/ 237 w 237"/>
                <a:gd name="T49" fmla="*/ 123 h 243"/>
                <a:gd name="T50" fmla="*/ 235 w 237"/>
                <a:gd name="T51" fmla="*/ 98 h 243"/>
                <a:gd name="T52" fmla="*/ 227 w 237"/>
                <a:gd name="T53" fmla="*/ 75 h 243"/>
                <a:gd name="T54" fmla="*/ 217 w 237"/>
                <a:gd name="T55" fmla="*/ 54 h 243"/>
                <a:gd name="T56" fmla="*/ 202 w 237"/>
                <a:gd name="T57" fmla="*/ 37 h 243"/>
                <a:gd name="T58" fmla="*/ 185 w 237"/>
                <a:gd name="T59" fmla="*/ 21 h 243"/>
                <a:gd name="T60" fmla="*/ 165 w 237"/>
                <a:gd name="T61" fmla="*/ 10 h 243"/>
                <a:gd name="T62" fmla="*/ 142 w 237"/>
                <a:gd name="T63" fmla="*/ 2 h 243"/>
                <a:gd name="T64" fmla="*/ 119 w 237"/>
                <a:gd name="T65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37" h="243">
                  <a:moveTo>
                    <a:pt x="119" y="0"/>
                  </a:moveTo>
                  <a:lnTo>
                    <a:pt x="96" y="2"/>
                  </a:lnTo>
                  <a:lnTo>
                    <a:pt x="73" y="10"/>
                  </a:lnTo>
                  <a:lnTo>
                    <a:pt x="52" y="21"/>
                  </a:lnTo>
                  <a:lnTo>
                    <a:pt x="34" y="35"/>
                  </a:lnTo>
                  <a:lnTo>
                    <a:pt x="21" y="52"/>
                  </a:lnTo>
                  <a:lnTo>
                    <a:pt x="9" y="73"/>
                  </a:lnTo>
                  <a:lnTo>
                    <a:pt x="1" y="96"/>
                  </a:lnTo>
                  <a:lnTo>
                    <a:pt x="0" y="120"/>
                  </a:lnTo>
                  <a:lnTo>
                    <a:pt x="1" y="145"/>
                  </a:lnTo>
                  <a:lnTo>
                    <a:pt x="9" y="168"/>
                  </a:lnTo>
                  <a:lnTo>
                    <a:pt x="19" y="189"/>
                  </a:lnTo>
                  <a:lnTo>
                    <a:pt x="34" y="206"/>
                  </a:lnTo>
                  <a:lnTo>
                    <a:pt x="52" y="222"/>
                  </a:lnTo>
                  <a:lnTo>
                    <a:pt x="71" y="233"/>
                  </a:lnTo>
                  <a:lnTo>
                    <a:pt x="94" y="241"/>
                  </a:lnTo>
                  <a:lnTo>
                    <a:pt x="117" y="243"/>
                  </a:lnTo>
                  <a:lnTo>
                    <a:pt x="140" y="241"/>
                  </a:lnTo>
                  <a:lnTo>
                    <a:pt x="163" y="233"/>
                  </a:lnTo>
                  <a:lnTo>
                    <a:pt x="185" y="222"/>
                  </a:lnTo>
                  <a:lnTo>
                    <a:pt x="202" y="208"/>
                  </a:lnTo>
                  <a:lnTo>
                    <a:pt x="215" y="191"/>
                  </a:lnTo>
                  <a:lnTo>
                    <a:pt x="227" y="170"/>
                  </a:lnTo>
                  <a:lnTo>
                    <a:pt x="235" y="147"/>
                  </a:lnTo>
                  <a:lnTo>
                    <a:pt x="237" y="123"/>
                  </a:lnTo>
                  <a:lnTo>
                    <a:pt x="235" y="98"/>
                  </a:lnTo>
                  <a:lnTo>
                    <a:pt x="227" y="75"/>
                  </a:lnTo>
                  <a:lnTo>
                    <a:pt x="217" y="54"/>
                  </a:lnTo>
                  <a:lnTo>
                    <a:pt x="202" y="37"/>
                  </a:lnTo>
                  <a:lnTo>
                    <a:pt x="185" y="21"/>
                  </a:lnTo>
                  <a:lnTo>
                    <a:pt x="165" y="10"/>
                  </a:lnTo>
                  <a:lnTo>
                    <a:pt x="142" y="2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00CC99"/>
            </a:solidFill>
            <a:ln w="762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9" name="Rectangle 59">
              <a:extLst>
                <a:ext uri="{FF2B5EF4-FFF2-40B4-BE49-F238E27FC236}">
                  <a16:creationId xmlns:a16="http://schemas.microsoft.com/office/drawing/2014/main" id="{6DCF06FC-43F5-354A-8417-F448340996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16850" y="3806825"/>
              <a:ext cx="195263" cy="1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eaLnBrk="0" hangingPunct="0"/>
              <a:r>
                <a:rPr lang="en-US" altLang="en-CN" sz="1200">
                  <a:solidFill>
                    <a:srgbClr val="000000"/>
                  </a:solidFill>
                </a:rPr>
                <a:t>13</a:t>
              </a:r>
              <a:endParaRPr lang="en-US" altLang="en-CN" sz="1200"/>
            </a:p>
          </p:txBody>
        </p:sp>
        <p:sp>
          <p:nvSpPr>
            <p:cNvPr id="60" name="Line 60">
              <a:extLst>
                <a:ext uri="{FF2B5EF4-FFF2-40B4-BE49-F238E27FC236}">
                  <a16:creationId xmlns:a16="http://schemas.microsoft.com/office/drawing/2014/main" id="{EF37C421-CBEC-454B-AA6D-9001958B62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171700" y="2501900"/>
              <a:ext cx="831850" cy="1504950"/>
            </a:xfrm>
            <a:prstGeom prst="line">
              <a:avLst/>
            </a:prstGeom>
            <a:noFill/>
            <a:ln w="762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61" name="Line 61">
              <a:extLst>
                <a:ext uri="{FF2B5EF4-FFF2-40B4-BE49-F238E27FC236}">
                  <a16:creationId xmlns:a16="http://schemas.microsoft.com/office/drawing/2014/main" id="{B1031819-09BD-6F40-A7AF-6B7654BB11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6088" y="2198688"/>
              <a:ext cx="781050" cy="1454150"/>
            </a:xfrm>
            <a:prstGeom prst="line">
              <a:avLst/>
            </a:prstGeom>
            <a:noFill/>
            <a:ln w="762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62" name="Freeform 62">
              <a:extLst>
                <a:ext uri="{FF2B5EF4-FFF2-40B4-BE49-F238E27FC236}">
                  <a16:creationId xmlns:a16="http://schemas.microsoft.com/office/drawing/2014/main" id="{769CD41D-23D7-D344-9188-51F98ADA54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2338" y="2198688"/>
              <a:ext cx="1587500" cy="1808162"/>
            </a:xfrm>
            <a:custGeom>
              <a:avLst/>
              <a:gdLst>
                <a:gd name="T0" fmla="*/ 0 w 1161"/>
                <a:gd name="T1" fmla="*/ 293 h 1828"/>
                <a:gd name="T2" fmla="*/ 0 w 1161"/>
                <a:gd name="T3" fmla="*/ 1482 h 1828"/>
                <a:gd name="T4" fmla="*/ 581 w 1161"/>
                <a:gd name="T5" fmla="*/ 1828 h 1828"/>
                <a:gd name="T6" fmla="*/ 1161 w 1161"/>
                <a:gd name="T7" fmla="*/ 1496 h 1828"/>
                <a:gd name="T8" fmla="*/ 1161 w 1161"/>
                <a:gd name="T9" fmla="*/ 243 h 1828"/>
                <a:gd name="T10" fmla="*/ 554 w 1161"/>
                <a:gd name="T11" fmla="*/ 0 h 1828"/>
                <a:gd name="T12" fmla="*/ 0 w 1161"/>
                <a:gd name="T13" fmla="*/ 293 h 18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1" h="1828">
                  <a:moveTo>
                    <a:pt x="0" y="293"/>
                  </a:moveTo>
                  <a:lnTo>
                    <a:pt x="0" y="1482"/>
                  </a:lnTo>
                  <a:lnTo>
                    <a:pt x="581" y="1828"/>
                  </a:lnTo>
                  <a:lnTo>
                    <a:pt x="1161" y="1496"/>
                  </a:lnTo>
                  <a:lnTo>
                    <a:pt x="1161" y="243"/>
                  </a:lnTo>
                  <a:lnTo>
                    <a:pt x="554" y="0"/>
                  </a:lnTo>
                  <a:lnTo>
                    <a:pt x="0" y="293"/>
                  </a:lnTo>
                  <a:close/>
                </a:path>
              </a:pathLst>
            </a:custGeom>
            <a:noFill/>
            <a:ln w="7620" cap="flat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63" name="Line 63">
              <a:extLst>
                <a:ext uri="{FF2B5EF4-FFF2-40B4-BE49-F238E27FC236}">
                  <a16:creationId xmlns:a16="http://schemas.microsoft.com/office/drawing/2014/main" id="{CB9BD998-74DB-4247-A330-3977AD6334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9575" y="2198688"/>
              <a:ext cx="3175" cy="909637"/>
            </a:xfrm>
            <a:prstGeom prst="line">
              <a:avLst/>
            </a:prstGeom>
            <a:noFill/>
            <a:ln w="762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64" name="Line 64">
              <a:extLst>
                <a:ext uri="{FF2B5EF4-FFF2-40B4-BE49-F238E27FC236}">
                  <a16:creationId xmlns:a16="http://schemas.microsoft.com/office/drawing/2014/main" id="{85FEB451-189E-EC4B-8CAD-DE77E43392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59113" y="2501900"/>
              <a:ext cx="708025" cy="569913"/>
            </a:xfrm>
            <a:prstGeom prst="line">
              <a:avLst/>
            </a:prstGeom>
            <a:noFill/>
            <a:ln w="762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65" name="Line 65">
              <a:extLst>
                <a:ext uri="{FF2B5EF4-FFF2-40B4-BE49-F238E27FC236}">
                  <a16:creationId xmlns:a16="http://schemas.microsoft.com/office/drawing/2014/main" id="{AB58615B-E36B-D344-97D0-5211C5EAEB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71700" y="3665538"/>
              <a:ext cx="1574800" cy="14287"/>
            </a:xfrm>
            <a:prstGeom prst="line">
              <a:avLst/>
            </a:prstGeom>
            <a:noFill/>
            <a:ln w="762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66" name="Line 66">
              <a:extLst>
                <a:ext uri="{FF2B5EF4-FFF2-40B4-BE49-F238E27FC236}">
                  <a16:creationId xmlns:a16="http://schemas.microsoft.com/office/drawing/2014/main" id="{E3900B38-2C9C-6840-A7AA-A3E9F113D5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1238" y="2462213"/>
              <a:ext cx="1465262" cy="3175"/>
            </a:xfrm>
            <a:prstGeom prst="line">
              <a:avLst/>
            </a:prstGeom>
            <a:noFill/>
            <a:ln w="762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67" name="Line 67">
              <a:extLst>
                <a:ext uri="{FF2B5EF4-FFF2-40B4-BE49-F238E27FC236}">
                  <a16:creationId xmlns:a16="http://schemas.microsoft.com/office/drawing/2014/main" id="{8792B7FF-34F8-DB44-BFAF-741A82AD44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44725" y="3108325"/>
              <a:ext cx="779463" cy="557213"/>
            </a:xfrm>
            <a:prstGeom prst="line">
              <a:avLst/>
            </a:prstGeom>
            <a:noFill/>
            <a:ln w="762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68" name="Line 68">
              <a:extLst>
                <a:ext uri="{FF2B5EF4-FFF2-40B4-BE49-F238E27FC236}">
                  <a16:creationId xmlns:a16="http://schemas.microsoft.com/office/drawing/2014/main" id="{4E705FFA-D7EA-3846-B995-8B3B8710D5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41650" y="3121025"/>
              <a:ext cx="793750" cy="531813"/>
            </a:xfrm>
            <a:prstGeom prst="line">
              <a:avLst/>
            </a:prstGeom>
            <a:noFill/>
            <a:ln w="762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69" name="Line 69">
              <a:extLst>
                <a:ext uri="{FF2B5EF4-FFF2-40B4-BE49-F238E27FC236}">
                  <a16:creationId xmlns:a16="http://schemas.microsoft.com/office/drawing/2014/main" id="{0197505E-2B55-634C-ADE6-E44A6B9729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5363" y="2501900"/>
              <a:ext cx="720725" cy="569913"/>
            </a:xfrm>
            <a:prstGeom prst="line">
              <a:avLst/>
            </a:prstGeom>
            <a:noFill/>
            <a:ln w="762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70" name="Line 70">
              <a:extLst>
                <a:ext uri="{FF2B5EF4-FFF2-40B4-BE49-F238E27FC236}">
                  <a16:creationId xmlns:a16="http://schemas.microsoft.com/office/drawing/2014/main" id="{C4260B65-E8CF-AA4B-B324-97623509E1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09800" y="2225675"/>
              <a:ext cx="739775" cy="1427163"/>
            </a:xfrm>
            <a:prstGeom prst="line">
              <a:avLst/>
            </a:prstGeom>
            <a:noFill/>
            <a:ln w="762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71" name="Line 71">
              <a:extLst>
                <a:ext uri="{FF2B5EF4-FFF2-40B4-BE49-F238E27FC236}">
                  <a16:creationId xmlns:a16="http://schemas.microsoft.com/office/drawing/2014/main" id="{0DD11515-B5FF-0949-990E-948183E6F0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86088" y="2478088"/>
              <a:ext cx="831850" cy="1479550"/>
            </a:xfrm>
            <a:prstGeom prst="line">
              <a:avLst/>
            </a:prstGeom>
            <a:noFill/>
            <a:ln w="762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72" name="Line 72">
              <a:extLst>
                <a:ext uri="{FF2B5EF4-FFF2-40B4-BE49-F238E27FC236}">
                  <a16:creationId xmlns:a16="http://schemas.microsoft.com/office/drawing/2014/main" id="{0C1F9F2D-B45F-9E4C-97BE-64C951D21C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03550" y="3173413"/>
              <a:ext cx="3175" cy="796925"/>
            </a:xfrm>
            <a:prstGeom prst="line">
              <a:avLst/>
            </a:prstGeom>
            <a:noFill/>
            <a:ln w="762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73" name="Oval 73">
              <a:extLst>
                <a:ext uri="{FF2B5EF4-FFF2-40B4-BE49-F238E27FC236}">
                  <a16:creationId xmlns:a16="http://schemas.microsoft.com/office/drawing/2014/main" id="{3F8DC8B3-FEDA-FC45-8DA6-AA799F4910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2575" y="2973388"/>
              <a:ext cx="328613" cy="239712"/>
            </a:xfrm>
            <a:prstGeom prst="ellipse">
              <a:avLst/>
            </a:prstGeom>
            <a:solidFill>
              <a:srgbClr val="00CC99"/>
            </a:solidFill>
            <a:ln w="762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74" name="Rectangle 74">
              <a:extLst>
                <a:ext uri="{FF2B5EF4-FFF2-40B4-BE49-F238E27FC236}">
                  <a16:creationId xmlns:a16="http://schemas.microsoft.com/office/drawing/2014/main" id="{506CF423-9FD0-DB4C-992F-CAE33EED42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8463" y="3017838"/>
              <a:ext cx="76200" cy="18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altLang="en-CN" sz="1200">
                  <a:solidFill>
                    <a:srgbClr val="000000"/>
                  </a:solidFill>
                </a:rPr>
                <a:t>4</a:t>
              </a:r>
              <a:endParaRPr lang="en-US" altLang="en-CN" sz="1200"/>
            </a:p>
          </p:txBody>
        </p:sp>
        <p:sp>
          <p:nvSpPr>
            <p:cNvPr id="75" name="Oval 75">
              <a:extLst>
                <a:ext uri="{FF2B5EF4-FFF2-40B4-BE49-F238E27FC236}">
                  <a16:creationId xmlns:a16="http://schemas.microsoft.com/office/drawing/2014/main" id="{DB126C5A-37DD-7446-819B-77BEA023EF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8825" y="2351088"/>
              <a:ext cx="328613" cy="242887"/>
            </a:xfrm>
            <a:prstGeom prst="ellipse">
              <a:avLst/>
            </a:prstGeom>
            <a:solidFill>
              <a:srgbClr val="00CC99"/>
            </a:solidFill>
            <a:ln w="762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76" name="Rectangle 76">
              <a:extLst>
                <a:ext uri="{FF2B5EF4-FFF2-40B4-BE49-F238E27FC236}">
                  <a16:creationId xmlns:a16="http://schemas.microsoft.com/office/drawing/2014/main" id="{0EDE4C26-6EC8-494E-8F17-2833E30A8A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1538" y="2398713"/>
              <a:ext cx="76200" cy="18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altLang="en-CN" sz="1200">
                  <a:solidFill>
                    <a:srgbClr val="000000"/>
                  </a:solidFill>
                </a:rPr>
                <a:t>1</a:t>
              </a:r>
              <a:endParaRPr lang="en-US" altLang="en-CN" sz="1200"/>
            </a:p>
          </p:txBody>
        </p:sp>
        <p:sp>
          <p:nvSpPr>
            <p:cNvPr id="77" name="Oval 77">
              <a:extLst>
                <a:ext uri="{FF2B5EF4-FFF2-40B4-BE49-F238E27FC236}">
                  <a16:creationId xmlns:a16="http://schemas.microsoft.com/office/drawing/2014/main" id="{6D9D8BD8-9246-9F40-B77B-FC7EBCBF12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9500" y="3563938"/>
              <a:ext cx="328613" cy="242887"/>
            </a:xfrm>
            <a:prstGeom prst="ellipse">
              <a:avLst/>
            </a:prstGeom>
            <a:solidFill>
              <a:srgbClr val="00CC99"/>
            </a:solidFill>
            <a:ln w="762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78" name="Rectangle 78">
              <a:extLst>
                <a:ext uri="{FF2B5EF4-FFF2-40B4-BE49-F238E27FC236}">
                  <a16:creationId xmlns:a16="http://schemas.microsoft.com/office/drawing/2014/main" id="{024157AF-3929-1643-9D5D-983342D5D8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2213" y="3616325"/>
              <a:ext cx="76200" cy="1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altLang="en-CN" sz="1200">
                  <a:solidFill>
                    <a:srgbClr val="000000"/>
                  </a:solidFill>
                </a:rPr>
                <a:t>7</a:t>
              </a:r>
              <a:endParaRPr lang="en-US" altLang="en-CN" sz="1200"/>
            </a:p>
          </p:txBody>
        </p:sp>
        <p:sp>
          <p:nvSpPr>
            <p:cNvPr id="79" name="Oval 79">
              <a:extLst>
                <a:ext uri="{FF2B5EF4-FFF2-40B4-BE49-F238E27FC236}">
                  <a16:creationId xmlns:a16="http://schemas.microsoft.com/office/drawing/2014/main" id="{5A3DDB87-337F-B741-8726-64BEA513F4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6288" y="3563938"/>
              <a:ext cx="327025" cy="242887"/>
            </a:xfrm>
            <a:prstGeom prst="ellipse">
              <a:avLst/>
            </a:prstGeom>
            <a:solidFill>
              <a:srgbClr val="00CC99"/>
            </a:solidFill>
            <a:ln w="762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80" name="Rectangle 80">
              <a:extLst>
                <a:ext uri="{FF2B5EF4-FFF2-40B4-BE49-F238E27FC236}">
                  <a16:creationId xmlns:a16="http://schemas.microsoft.com/office/drawing/2014/main" id="{82FE9FC3-7E51-B04B-ADBC-6062DA869F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9000" y="3616325"/>
              <a:ext cx="76200" cy="1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altLang="en-CN" sz="1200">
                  <a:solidFill>
                    <a:srgbClr val="000000"/>
                  </a:solidFill>
                </a:rPr>
                <a:t>5</a:t>
              </a:r>
              <a:endParaRPr lang="en-US" altLang="en-CN" sz="1200"/>
            </a:p>
          </p:txBody>
        </p:sp>
        <p:sp>
          <p:nvSpPr>
            <p:cNvPr id="81" name="Oval 81">
              <a:extLst>
                <a:ext uri="{FF2B5EF4-FFF2-40B4-BE49-F238E27FC236}">
                  <a16:creationId xmlns:a16="http://schemas.microsoft.com/office/drawing/2014/main" id="{9BB72C58-554E-8841-947B-918DD70321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2575" y="3868738"/>
              <a:ext cx="328613" cy="242887"/>
            </a:xfrm>
            <a:prstGeom prst="ellipse">
              <a:avLst/>
            </a:prstGeom>
            <a:solidFill>
              <a:srgbClr val="00CC99"/>
            </a:solidFill>
            <a:ln w="762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82" name="Rectangle 82">
              <a:extLst>
                <a:ext uri="{FF2B5EF4-FFF2-40B4-BE49-F238E27FC236}">
                  <a16:creationId xmlns:a16="http://schemas.microsoft.com/office/drawing/2014/main" id="{39C482E5-A1F5-7946-AFD3-49F30A5B7A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8463" y="3917950"/>
              <a:ext cx="76200" cy="1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altLang="en-CN" sz="1200">
                  <a:solidFill>
                    <a:srgbClr val="000000"/>
                  </a:solidFill>
                </a:rPr>
                <a:t>6</a:t>
              </a:r>
              <a:endParaRPr lang="en-US" altLang="en-CN" sz="1200"/>
            </a:p>
          </p:txBody>
        </p:sp>
        <p:sp>
          <p:nvSpPr>
            <p:cNvPr id="83" name="Oval 83">
              <a:extLst>
                <a:ext uri="{FF2B5EF4-FFF2-40B4-BE49-F238E27FC236}">
                  <a16:creationId xmlns:a16="http://schemas.microsoft.com/office/drawing/2014/main" id="{5E162B14-9A38-664D-B129-7CE8DF6F56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6963" y="2336800"/>
              <a:ext cx="328612" cy="242888"/>
            </a:xfrm>
            <a:prstGeom prst="ellipse">
              <a:avLst/>
            </a:prstGeom>
            <a:solidFill>
              <a:srgbClr val="00CC99"/>
            </a:solidFill>
            <a:ln w="762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84" name="Rectangle 84">
              <a:extLst>
                <a:ext uri="{FF2B5EF4-FFF2-40B4-BE49-F238E27FC236}">
                  <a16:creationId xmlns:a16="http://schemas.microsoft.com/office/drawing/2014/main" id="{2A0F480B-4F09-0046-85F3-37A0B87B4C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2850" y="2384425"/>
              <a:ext cx="76200" cy="1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altLang="en-CN" sz="1200">
                  <a:solidFill>
                    <a:srgbClr val="000000"/>
                  </a:solidFill>
                </a:rPr>
                <a:t>3</a:t>
              </a:r>
              <a:endParaRPr lang="en-US" altLang="en-CN" sz="1200"/>
            </a:p>
          </p:txBody>
        </p:sp>
        <p:sp>
          <p:nvSpPr>
            <p:cNvPr id="85" name="Oval 85">
              <a:extLst>
                <a:ext uri="{FF2B5EF4-FFF2-40B4-BE49-F238E27FC236}">
                  <a16:creationId xmlns:a16="http://schemas.microsoft.com/office/drawing/2014/main" id="{4818394A-FB02-0B42-A845-D67757161C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8288" y="2071688"/>
              <a:ext cx="325437" cy="242887"/>
            </a:xfrm>
            <a:prstGeom prst="ellipse">
              <a:avLst/>
            </a:prstGeom>
            <a:solidFill>
              <a:srgbClr val="00CC99"/>
            </a:solidFill>
            <a:ln w="762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86" name="Rectangle 86">
              <a:extLst>
                <a:ext uri="{FF2B5EF4-FFF2-40B4-BE49-F238E27FC236}">
                  <a16:creationId xmlns:a16="http://schemas.microsoft.com/office/drawing/2014/main" id="{148F76F7-55FA-154F-B2D4-9795867C1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1000" y="2120900"/>
              <a:ext cx="76200" cy="1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altLang="en-CN" sz="1200">
                  <a:solidFill>
                    <a:srgbClr val="000000"/>
                  </a:solidFill>
                </a:rPr>
                <a:t>2</a:t>
              </a:r>
              <a:endParaRPr lang="en-US" altLang="en-CN" sz="1200"/>
            </a:p>
          </p:txBody>
        </p:sp>
        <p:sp>
          <p:nvSpPr>
            <p:cNvPr id="87" name="Freeform 87">
              <a:extLst>
                <a:ext uri="{FF2B5EF4-FFF2-40B4-BE49-F238E27FC236}">
                  <a16:creationId xmlns:a16="http://schemas.microsoft.com/office/drawing/2014/main" id="{E8F2204C-86D6-8140-AF29-88A7D1211F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1525" y="2620963"/>
              <a:ext cx="5067300" cy="2393950"/>
            </a:xfrm>
            <a:custGeom>
              <a:avLst/>
              <a:gdLst>
                <a:gd name="T0" fmla="*/ 1020 w 3701"/>
                <a:gd name="T1" fmla="*/ 100 h 2416"/>
                <a:gd name="T2" fmla="*/ 1167 w 3701"/>
                <a:gd name="T3" fmla="*/ 52 h 2416"/>
                <a:gd name="T4" fmla="*/ 1415 w 3701"/>
                <a:gd name="T5" fmla="*/ 5 h 2416"/>
                <a:gd name="T6" fmla="*/ 1722 w 3701"/>
                <a:gd name="T7" fmla="*/ 5 h 2416"/>
                <a:gd name="T8" fmla="*/ 2036 w 3701"/>
                <a:gd name="T9" fmla="*/ 48 h 2416"/>
                <a:gd name="T10" fmla="*/ 2198 w 3701"/>
                <a:gd name="T11" fmla="*/ 90 h 2416"/>
                <a:gd name="T12" fmla="*/ 2364 w 3701"/>
                <a:gd name="T13" fmla="*/ 156 h 2416"/>
                <a:gd name="T14" fmla="*/ 2540 w 3701"/>
                <a:gd name="T15" fmla="*/ 247 h 2416"/>
                <a:gd name="T16" fmla="*/ 2667 w 3701"/>
                <a:gd name="T17" fmla="*/ 324 h 2416"/>
                <a:gd name="T18" fmla="*/ 2898 w 3701"/>
                <a:gd name="T19" fmla="*/ 474 h 2416"/>
                <a:gd name="T20" fmla="*/ 3153 w 3701"/>
                <a:gd name="T21" fmla="*/ 652 h 2416"/>
                <a:gd name="T22" fmla="*/ 3396 w 3701"/>
                <a:gd name="T23" fmla="*/ 848 h 2416"/>
                <a:gd name="T24" fmla="*/ 3531 w 3701"/>
                <a:gd name="T25" fmla="*/ 983 h 2416"/>
                <a:gd name="T26" fmla="*/ 3612 w 3701"/>
                <a:gd name="T27" fmla="*/ 1087 h 2416"/>
                <a:gd name="T28" fmla="*/ 3668 w 3701"/>
                <a:gd name="T29" fmla="*/ 1188 h 2416"/>
                <a:gd name="T30" fmla="*/ 3695 w 3701"/>
                <a:gd name="T31" fmla="*/ 1290 h 2416"/>
                <a:gd name="T32" fmla="*/ 3701 w 3701"/>
                <a:gd name="T33" fmla="*/ 1402 h 2416"/>
                <a:gd name="T34" fmla="*/ 3687 w 3701"/>
                <a:gd name="T35" fmla="*/ 1525 h 2416"/>
                <a:gd name="T36" fmla="*/ 3625 w 3701"/>
                <a:gd name="T37" fmla="*/ 1745 h 2416"/>
                <a:gd name="T38" fmla="*/ 3502 w 3701"/>
                <a:gd name="T39" fmla="*/ 2005 h 2416"/>
                <a:gd name="T40" fmla="*/ 3367 w 3701"/>
                <a:gd name="T41" fmla="*/ 2194 h 2416"/>
                <a:gd name="T42" fmla="*/ 3278 w 3701"/>
                <a:gd name="T43" fmla="*/ 2287 h 2416"/>
                <a:gd name="T44" fmla="*/ 3184 w 3701"/>
                <a:gd name="T45" fmla="*/ 2356 h 2416"/>
                <a:gd name="T46" fmla="*/ 3087 w 3701"/>
                <a:gd name="T47" fmla="*/ 2401 h 2416"/>
                <a:gd name="T48" fmla="*/ 2983 w 3701"/>
                <a:gd name="T49" fmla="*/ 2416 h 2416"/>
                <a:gd name="T50" fmla="*/ 2866 w 3701"/>
                <a:gd name="T51" fmla="*/ 2406 h 2416"/>
                <a:gd name="T52" fmla="*/ 2738 w 3701"/>
                <a:gd name="T53" fmla="*/ 2375 h 2416"/>
                <a:gd name="T54" fmla="*/ 2505 w 3701"/>
                <a:gd name="T55" fmla="*/ 2289 h 2416"/>
                <a:gd name="T56" fmla="*/ 2208 w 3701"/>
                <a:gd name="T57" fmla="*/ 2148 h 2416"/>
                <a:gd name="T58" fmla="*/ 1809 w 3701"/>
                <a:gd name="T59" fmla="*/ 1957 h 2416"/>
                <a:gd name="T60" fmla="*/ 1523 w 3701"/>
                <a:gd name="T61" fmla="*/ 1847 h 2416"/>
                <a:gd name="T62" fmla="*/ 1211 w 3701"/>
                <a:gd name="T63" fmla="*/ 1751 h 2416"/>
                <a:gd name="T64" fmla="*/ 777 w 3701"/>
                <a:gd name="T65" fmla="*/ 1623 h 2416"/>
                <a:gd name="T66" fmla="*/ 478 w 3701"/>
                <a:gd name="T67" fmla="*/ 1527 h 2416"/>
                <a:gd name="T68" fmla="*/ 311 w 3701"/>
                <a:gd name="T69" fmla="*/ 1461 h 2416"/>
                <a:gd name="T70" fmla="*/ 206 w 3701"/>
                <a:gd name="T71" fmla="*/ 1411 h 2416"/>
                <a:gd name="T72" fmla="*/ 125 w 3701"/>
                <a:gd name="T73" fmla="*/ 1359 h 2416"/>
                <a:gd name="T74" fmla="*/ 68 w 3701"/>
                <a:gd name="T75" fmla="*/ 1307 h 2416"/>
                <a:gd name="T76" fmla="*/ 29 w 3701"/>
                <a:gd name="T77" fmla="*/ 1253 h 2416"/>
                <a:gd name="T78" fmla="*/ 0 w 3701"/>
                <a:gd name="T79" fmla="*/ 1145 h 2416"/>
                <a:gd name="T80" fmla="*/ 19 w 3701"/>
                <a:gd name="T81" fmla="*/ 1033 h 2416"/>
                <a:gd name="T82" fmla="*/ 75 w 3701"/>
                <a:gd name="T83" fmla="*/ 921 h 2416"/>
                <a:gd name="T84" fmla="*/ 172 w 3701"/>
                <a:gd name="T85" fmla="*/ 769 h 2416"/>
                <a:gd name="T86" fmla="*/ 268 w 3701"/>
                <a:gd name="T87" fmla="*/ 648 h 2416"/>
                <a:gd name="T88" fmla="*/ 399 w 3701"/>
                <a:gd name="T89" fmla="*/ 517 h 2416"/>
                <a:gd name="T90" fmla="*/ 608 w 3701"/>
                <a:gd name="T91" fmla="*/ 345 h 2416"/>
                <a:gd name="T92" fmla="*/ 769 w 3701"/>
                <a:gd name="T93" fmla="*/ 231 h 2416"/>
                <a:gd name="T94" fmla="*/ 924 w 3701"/>
                <a:gd name="T95" fmla="*/ 144 h 24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701" h="2416">
                  <a:moveTo>
                    <a:pt x="924" y="144"/>
                  </a:moveTo>
                  <a:lnTo>
                    <a:pt x="972" y="121"/>
                  </a:lnTo>
                  <a:lnTo>
                    <a:pt x="1020" y="100"/>
                  </a:lnTo>
                  <a:lnTo>
                    <a:pt x="1070" y="83"/>
                  </a:lnTo>
                  <a:lnTo>
                    <a:pt x="1119" y="65"/>
                  </a:lnTo>
                  <a:lnTo>
                    <a:pt x="1167" y="52"/>
                  </a:lnTo>
                  <a:lnTo>
                    <a:pt x="1217" y="38"/>
                  </a:lnTo>
                  <a:lnTo>
                    <a:pt x="1315" y="19"/>
                  </a:lnTo>
                  <a:lnTo>
                    <a:pt x="1415" y="5"/>
                  </a:lnTo>
                  <a:lnTo>
                    <a:pt x="1516" y="0"/>
                  </a:lnTo>
                  <a:lnTo>
                    <a:pt x="1618" y="0"/>
                  </a:lnTo>
                  <a:lnTo>
                    <a:pt x="1722" y="5"/>
                  </a:lnTo>
                  <a:lnTo>
                    <a:pt x="1826" y="15"/>
                  </a:lnTo>
                  <a:lnTo>
                    <a:pt x="1932" y="29"/>
                  </a:lnTo>
                  <a:lnTo>
                    <a:pt x="2036" y="48"/>
                  </a:lnTo>
                  <a:lnTo>
                    <a:pt x="2090" y="61"/>
                  </a:lnTo>
                  <a:lnTo>
                    <a:pt x="2144" y="75"/>
                  </a:lnTo>
                  <a:lnTo>
                    <a:pt x="2198" y="90"/>
                  </a:lnTo>
                  <a:lnTo>
                    <a:pt x="2252" y="110"/>
                  </a:lnTo>
                  <a:lnTo>
                    <a:pt x="2308" y="131"/>
                  </a:lnTo>
                  <a:lnTo>
                    <a:pt x="2364" y="156"/>
                  </a:lnTo>
                  <a:lnTo>
                    <a:pt x="2422" y="183"/>
                  </a:lnTo>
                  <a:lnTo>
                    <a:pt x="2482" y="212"/>
                  </a:lnTo>
                  <a:lnTo>
                    <a:pt x="2540" y="247"/>
                  </a:lnTo>
                  <a:lnTo>
                    <a:pt x="2601" y="283"/>
                  </a:lnTo>
                  <a:lnTo>
                    <a:pt x="2632" y="302"/>
                  </a:lnTo>
                  <a:lnTo>
                    <a:pt x="2667" y="324"/>
                  </a:lnTo>
                  <a:lnTo>
                    <a:pt x="2738" y="370"/>
                  </a:lnTo>
                  <a:lnTo>
                    <a:pt x="2817" y="420"/>
                  </a:lnTo>
                  <a:lnTo>
                    <a:pt x="2898" y="474"/>
                  </a:lnTo>
                  <a:lnTo>
                    <a:pt x="2983" y="530"/>
                  </a:lnTo>
                  <a:lnTo>
                    <a:pt x="3068" y="590"/>
                  </a:lnTo>
                  <a:lnTo>
                    <a:pt x="3153" y="652"/>
                  </a:lnTo>
                  <a:lnTo>
                    <a:pt x="3238" y="715"/>
                  </a:lnTo>
                  <a:lnTo>
                    <a:pt x="3319" y="781"/>
                  </a:lnTo>
                  <a:lnTo>
                    <a:pt x="3396" y="848"/>
                  </a:lnTo>
                  <a:lnTo>
                    <a:pt x="3467" y="916"/>
                  </a:lnTo>
                  <a:lnTo>
                    <a:pt x="3500" y="950"/>
                  </a:lnTo>
                  <a:lnTo>
                    <a:pt x="3531" y="983"/>
                  </a:lnTo>
                  <a:lnTo>
                    <a:pt x="3560" y="1018"/>
                  </a:lnTo>
                  <a:lnTo>
                    <a:pt x="3587" y="1053"/>
                  </a:lnTo>
                  <a:lnTo>
                    <a:pt x="3612" y="1087"/>
                  </a:lnTo>
                  <a:lnTo>
                    <a:pt x="3633" y="1120"/>
                  </a:lnTo>
                  <a:lnTo>
                    <a:pt x="3650" y="1155"/>
                  </a:lnTo>
                  <a:lnTo>
                    <a:pt x="3668" y="1188"/>
                  </a:lnTo>
                  <a:lnTo>
                    <a:pt x="3679" y="1222"/>
                  </a:lnTo>
                  <a:lnTo>
                    <a:pt x="3689" y="1255"/>
                  </a:lnTo>
                  <a:lnTo>
                    <a:pt x="3695" y="1290"/>
                  </a:lnTo>
                  <a:lnTo>
                    <a:pt x="3699" y="1325"/>
                  </a:lnTo>
                  <a:lnTo>
                    <a:pt x="3701" y="1363"/>
                  </a:lnTo>
                  <a:lnTo>
                    <a:pt x="3701" y="1402"/>
                  </a:lnTo>
                  <a:lnTo>
                    <a:pt x="3699" y="1442"/>
                  </a:lnTo>
                  <a:lnTo>
                    <a:pt x="3693" y="1483"/>
                  </a:lnTo>
                  <a:lnTo>
                    <a:pt x="3687" y="1525"/>
                  </a:lnTo>
                  <a:lnTo>
                    <a:pt x="3677" y="1567"/>
                  </a:lnTo>
                  <a:lnTo>
                    <a:pt x="3654" y="1656"/>
                  </a:lnTo>
                  <a:lnTo>
                    <a:pt x="3625" y="1745"/>
                  </a:lnTo>
                  <a:lnTo>
                    <a:pt x="3589" y="1834"/>
                  </a:lnTo>
                  <a:lnTo>
                    <a:pt x="3548" y="1920"/>
                  </a:lnTo>
                  <a:lnTo>
                    <a:pt x="3502" y="2005"/>
                  </a:lnTo>
                  <a:lnTo>
                    <a:pt x="3450" y="2086"/>
                  </a:lnTo>
                  <a:lnTo>
                    <a:pt x="3396" y="2160"/>
                  </a:lnTo>
                  <a:lnTo>
                    <a:pt x="3367" y="2194"/>
                  </a:lnTo>
                  <a:lnTo>
                    <a:pt x="3338" y="2227"/>
                  </a:lnTo>
                  <a:lnTo>
                    <a:pt x="3309" y="2258"/>
                  </a:lnTo>
                  <a:lnTo>
                    <a:pt x="3278" y="2287"/>
                  </a:lnTo>
                  <a:lnTo>
                    <a:pt x="3247" y="2312"/>
                  </a:lnTo>
                  <a:lnTo>
                    <a:pt x="3217" y="2337"/>
                  </a:lnTo>
                  <a:lnTo>
                    <a:pt x="3184" y="2356"/>
                  </a:lnTo>
                  <a:lnTo>
                    <a:pt x="3151" y="2374"/>
                  </a:lnTo>
                  <a:lnTo>
                    <a:pt x="3120" y="2389"/>
                  </a:lnTo>
                  <a:lnTo>
                    <a:pt x="3087" y="2401"/>
                  </a:lnTo>
                  <a:lnTo>
                    <a:pt x="3055" y="2408"/>
                  </a:lnTo>
                  <a:lnTo>
                    <a:pt x="3020" y="2414"/>
                  </a:lnTo>
                  <a:lnTo>
                    <a:pt x="2983" y="2416"/>
                  </a:lnTo>
                  <a:lnTo>
                    <a:pt x="2945" y="2416"/>
                  </a:lnTo>
                  <a:lnTo>
                    <a:pt x="2906" y="2412"/>
                  </a:lnTo>
                  <a:lnTo>
                    <a:pt x="2866" y="2406"/>
                  </a:lnTo>
                  <a:lnTo>
                    <a:pt x="2825" y="2399"/>
                  </a:lnTo>
                  <a:lnTo>
                    <a:pt x="2781" y="2387"/>
                  </a:lnTo>
                  <a:lnTo>
                    <a:pt x="2738" y="2375"/>
                  </a:lnTo>
                  <a:lnTo>
                    <a:pt x="2694" y="2360"/>
                  </a:lnTo>
                  <a:lnTo>
                    <a:pt x="2601" y="2327"/>
                  </a:lnTo>
                  <a:lnTo>
                    <a:pt x="2505" y="2289"/>
                  </a:lnTo>
                  <a:lnTo>
                    <a:pt x="2409" y="2244"/>
                  </a:lnTo>
                  <a:lnTo>
                    <a:pt x="2308" y="2198"/>
                  </a:lnTo>
                  <a:lnTo>
                    <a:pt x="2208" y="2148"/>
                  </a:lnTo>
                  <a:lnTo>
                    <a:pt x="2007" y="2050"/>
                  </a:lnTo>
                  <a:lnTo>
                    <a:pt x="1907" y="2001"/>
                  </a:lnTo>
                  <a:lnTo>
                    <a:pt x="1809" y="1957"/>
                  </a:lnTo>
                  <a:lnTo>
                    <a:pt x="1712" y="1915"/>
                  </a:lnTo>
                  <a:lnTo>
                    <a:pt x="1618" y="1880"/>
                  </a:lnTo>
                  <a:lnTo>
                    <a:pt x="1523" y="1847"/>
                  </a:lnTo>
                  <a:lnTo>
                    <a:pt x="1421" y="1816"/>
                  </a:lnTo>
                  <a:lnTo>
                    <a:pt x="1317" y="1783"/>
                  </a:lnTo>
                  <a:lnTo>
                    <a:pt x="1211" y="1751"/>
                  </a:lnTo>
                  <a:lnTo>
                    <a:pt x="993" y="1687"/>
                  </a:lnTo>
                  <a:lnTo>
                    <a:pt x="883" y="1656"/>
                  </a:lnTo>
                  <a:lnTo>
                    <a:pt x="777" y="1623"/>
                  </a:lnTo>
                  <a:lnTo>
                    <a:pt x="673" y="1593"/>
                  </a:lnTo>
                  <a:lnTo>
                    <a:pt x="573" y="1560"/>
                  </a:lnTo>
                  <a:lnTo>
                    <a:pt x="478" y="1527"/>
                  </a:lnTo>
                  <a:lnTo>
                    <a:pt x="392" y="1494"/>
                  </a:lnTo>
                  <a:lnTo>
                    <a:pt x="349" y="1477"/>
                  </a:lnTo>
                  <a:lnTo>
                    <a:pt x="311" y="1461"/>
                  </a:lnTo>
                  <a:lnTo>
                    <a:pt x="274" y="1444"/>
                  </a:lnTo>
                  <a:lnTo>
                    <a:pt x="239" y="1429"/>
                  </a:lnTo>
                  <a:lnTo>
                    <a:pt x="206" y="1411"/>
                  </a:lnTo>
                  <a:lnTo>
                    <a:pt x="177" y="1394"/>
                  </a:lnTo>
                  <a:lnTo>
                    <a:pt x="150" y="1377"/>
                  </a:lnTo>
                  <a:lnTo>
                    <a:pt x="125" y="1359"/>
                  </a:lnTo>
                  <a:lnTo>
                    <a:pt x="104" y="1342"/>
                  </a:lnTo>
                  <a:lnTo>
                    <a:pt x="85" y="1325"/>
                  </a:lnTo>
                  <a:lnTo>
                    <a:pt x="68" y="1307"/>
                  </a:lnTo>
                  <a:lnTo>
                    <a:pt x="52" y="1290"/>
                  </a:lnTo>
                  <a:lnTo>
                    <a:pt x="41" y="1271"/>
                  </a:lnTo>
                  <a:lnTo>
                    <a:pt x="29" y="1253"/>
                  </a:lnTo>
                  <a:lnTo>
                    <a:pt x="12" y="1217"/>
                  </a:lnTo>
                  <a:lnTo>
                    <a:pt x="2" y="1182"/>
                  </a:lnTo>
                  <a:lnTo>
                    <a:pt x="0" y="1145"/>
                  </a:lnTo>
                  <a:lnTo>
                    <a:pt x="2" y="1109"/>
                  </a:lnTo>
                  <a:lnTo>
                    <a:pt x="8" y="1070"/>
                  </a:lnTo>
                  <a:lnTo>
                    <a:pt x="19" y="1033"/>
                  </a:lnTo>
                  <a:lnTo>
                    <a:pt x="35" y="997"/>
                  </a:lnTo>
                  <a:lnTo>
                    <a:pt x="54" y="958"/>
                  </a:lnTo>
                  <a:lnTo>
                    <a:pt x="75" y="921"/>
                  </a:lnTo>
                  <a:lnTo>
                    <a:pt x="96" y="883"/>
                  </a:lnTo>
                  <a:lnTo>
                    <a:pt x="122" y="844"/>
                  </a:lnTo>
                  <a:lnTo>
                    <a:pt x="172" y="769"/>
                  </a:lnTo>
                  <a:lnTo>
                    <a:pt x="199" y="731"/>
                  </a:lnTo>
                  <a:lnTo>
                    <a:pt x="231" y="690"/>
                  </a:lnTo>
                  <a:lnTo>
                    <a:pt x="268" y="648"/>
                  </a:lnTo>
                  <a:lnTo>
                    <a:pt x="309" y="603"/>
                  </a:lnTo>
                  <a:lnTo>
                    <a:pt x="353" y="561"/>
                  </a:lnTo>
                  <a:lnTo>
                    <a:pt x="399" y="517"/>
                  </a:lnTo>
                  <a:lnTo>
                    <a:pt x="449" y="472"/>
                  </a:lnTo>
                  <a:lnTo>
                    <a:pt x="501" y="428"/>
                  </a:lnTo>
                  <a:lnTo>
                    <a:pt x="608" y="345"/>
                  </a:lnTo>
                  <a:lnTo>
                    <a:pt x="661" y="304"/>
                  </a:lnTo>
                  <a:lnTo>
                    <a:pt x="715" y="268"/>
                  </a:lnTo>
                  <a:lnTo>
                    <a:pt x="769" y="231"/>
                  </a:lnTo>
                  <a:lnTo>
                    <a:pt x="823" y="200"/>
                  </a:lnTo>
                  <a:lnTo>
                    <a:pt x="874" y="169"/>
                  </a:lnTo>
                  <a:lnTo>
                    <a:pt x="924" y="144"/>
                  </a:lnTo>
                  <a:close/>
                </a:path>
              </a:pathLst>
            </a:custGeom>
            <a:noFill/>
            <a:ln w="7620" cap="flat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88" name="Freeform 88">
              <a:extLst>
                <a:ext uri="{FF2B5EF4-FFF2-40B4-BE49-F238E27FC236}">
                  <a16:creationId xmlns:a16="http://schemas.microsoft.com/office/drawing/2014/main" id="{57B06996-94A8-534C-AE1C-1A6F0CEBD4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6400" y="1912938"/>
              <a:ext cx="2689225" cy="4489450"/>
            </a:xfrm>
            <a:custGeom>
              <a:avLst/>
              <a:gdLst>
                <a:gd name="T0" fmla="*/ 1026 w 1967"/>
                <a:gd name="T1" fmla="*/ 2 h 4532"/>
                <a:gd name="T2" fmla="*/ 807 w 1967"/>
                <a:gd name="T3" fmla="*/ 31 h 4532"/>
                <a:gd name="T4" fmla="*/ 569 w 1967"/>
                <a:gd name="T5" fmla="*/ 104 h 4532"/>
                <a:gd name="T6" fmla="*/ 346 w 1967"/>
                <a:gd name="T7" fmla="*/ 230 h 4532"/>
                <a:gd name="T8" fmla="*/ 191 w 1967"/>
                <a:gd name="T9" fmla="*/ 382 h 4532"/>
                <a:gd name="T10" fmla="*/ 120 w 1967"/>
                <a:gd name="T11" fmla="*/ 496 h 4532"/>
                <a:gd name="T12" fmla="*/ 68 w 1967"/>
                <a:gd name="T13" fmla="*/ 627 h 4532"/>
                <a:gd name="T14" fmla="*/ 33 w 1967"/>
                <a:gd name="T15" fmla="*/ 789 h 4532"/>
                <a:gd name="T16" fmla="*/ 12 w 1967"/>
                <a:gd name="T17" fmla="*/ 980 h 4532"/>
                <a:gd name="T18" fmla="*/ 2 w 1967"/>
                <a:gd name="T19" fmla="*/ 1192 h 4532"/>
                <a:gd name="T20" fmla="*/ 10 w 1967"/>
                <a:gd name="T21" fmla="*/ 1661 h 4532"/>
                <a:gd name="T22" fmla="*/ 49 w 1967"/>
                <a:gd name="T23" fmla="*/ 2148 h 4532"/>
                <a:gd name="T24" fmla="*/ 97 w 1967"/>
                <a:gd name="T25" fmla="*/ 2534 h 4532"/>
                <a:gd name="T26" fmla="*/ 130 w 1967"/>
                <a:gd name="T27" fmla="*/ 2744 h 4532"/>
                <a:gd name="T28" fmla="*/ 178 w 1967"/>
                <a:gd name="T29" fmla="*/ 2995 h 4532"/>
                <a:gd name="T30" fmla="*/ 269 w 1967"/>
                <a:gd name="T31" fmla="*/ 3379 h 4532"/>
                <a:gd name="T32" fmla="*/ 382 w 1967"/>
                <a:gd name="T33" fmla="*/ 3755 h 4532"/>
                <a:gd name="T34" fmla="*/ 492 w 1967"/>
                <a:gd name="T35" fmla="*/ 4036 h 4532"/>
                <a:gd name="T36" fmla="*/ 562 w 1967"/>
                <a:gd name="T37" fmla="*/ 4183 h 4532"/>
                <a:gd name="T38" fmla="*/ 635 w 1967"/>
                <a:gd name="T39" fmla="*/ 4308 h 4532"/>
                <a:gd name="T40" fmla="*/ 710 w 1967"/>
                <a:gd name="T41" fmla="*/ 4407 h 4532"/>
                <a:gd name="T42" fmla="*/ 787 w 1967"/>
                <a:gd name="T43" fmla="*/ 4476 h 4532"/>
                <a:gd name="T44" fmla="*/ 866 w 1967"/>
                <a:gd name="T45" fmla="*/ 4515 h 4532"/>
                <a:gd name="T46" fmla="*/ 959 w 1967"/>
                <a:gd name="T47" fmla="*/ 4530 h 4532"/>
                <a:gd name="T48" fmla="*/ 1059 w 1967"/>
                <a:gd name="T49" fmla="*/ 4526 h 4532"/>
                <a:gd name="T50" fmla="*/ 1165 w 1967"/>
                <a:gd name="T51" fmla="*/ 4499 h 4532"/>
                <a:gd name="T52" fmla="*/ 1273 w 1967"/>
                <a:gd name="T53" fmla="*/ 4453 h 4532"/>
                <a:gd name="T54" fmla="*/ 1381 w 1967"/>
                <a:gd name="T55" fmla="*/ 4387 h 4532"/>
                <a:gd name="T56" fmla="*/ 1485 w 1967"/>
                <a:gd name="T57" fmla="*/ 4299 h 4532"/>
                <a:gd name="T58" fmla="*/ 1584 w 1967"/>
                <a:gd name="T59" fmla="*/ 4191 h 4532"/>
                <a:gd name="T60" fmla="*/ 1672 w 1967"/>
                <a:gd name="T61" fmla="*/ 4059 h 4532"/>
                <a:gd name="T62" fmla="*/ 1748 w 1967"/>
                <a:gd name="T63" fmla="*/ 3911 h 4532"/>
                <a:gd name="T64" fmla="*/ 1807 w 1967"/>
                <a:gd name="T65" fmla="*/ 3739 h 4532"/>
                <a:gd name="T66" fmla="*/ 1854 w 1967"/>
                <a:gd name="T67" fmla="*/ 3529 h 4532"/>
                <a:gd name="T68" fmla="*/ 1892 w 1967"/>
                <a:gd name="T69" fmla="*/ 3267 h 4532"/>
                <a:gd name="T70" fmla="*/ 1923 w 1967"/>
                <a:gd name="T71" fmla="*/ 2964 h 4532"/>
                <a:gd name="T72" fmla="*/ 1946 w 1967"/>
                <a:gd name="T73" fmla="*/ 2636 h 4532"/>
                <a:gd name="T74" fmla="*/ 1967 w 1967"/>
                <a:gd name="T75" fmla="*/ 1944 h 4532"/>
                <a:gd name="T76" fmla="*/ 1964 w 1967"/>
                <a:gd name="T77" fmla="*/ 1495 h 4532"/>
                <a:gd name="T78" fmla="*/ 1954 w 1967"/>
                <a:gd name="T79" fmla="*/ 1186 h 4532"/>
                <a:gd name="T80" fmla="*/ 1935 w 1967"/>
                <a:gd name="T81" fmla="*/ 912 h 4532"/>
                <a:gd name="T82" fmla="*/ 1910 w 1967"/>
                <a:gd name="T83" fmla="*/ 689 h 4532"/>
                <a:gd name="T84" fmla="*/ 1875 w 1967"/>
                <a:gd name="T85" fmla="*/ 519 h 4532"/>
                <a:gd name="T86" fmla="*/ 1823 w 1967"/>
                <a:gd name="T87" fmla="*/ 386 h 4532"/>
                <a:gd name="T88" fmla="*/ 1757 w 1967"/>
                <a:gd name="T89" fmla="*/ 286 h 4532"/>
                <a:gd name="T90" fmla="*/ 1682 w 1967"/>
                <a:gd name="T91" fmla="*/ 210 h 4532"/>
                <a:gd name="T92" fmla="*/ 1599 w 1967"/>
                <a:gd name="T93" fmla="*/ 156 h 4532"/>
                <a:gd name="T94" fmla="*/ 1426 w 1967"/>
                <a:gd name="T95" fmla="*/ 93 h 4532"/>
                <a:gd name="T96" fmla="*/ 1265 w 1967"/>
                <a:gd name="T97" fmla="*/ 54 h 4532"/>
                <a:gd name="T98" fmla="*/ 1163 w 1967"/>
                <a:gd name="T99" fmla="*/ 14 h 4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967" h="4532">
                  <a:moveTo>
                    <a:pt x="1148" y="2"/>
                  </a:moveTo>
                  <a:lnTo>
                    <a:pt x="1090" y="0"/>
                  </a:lnTo>
                  <a:lnTo>
                    <a:pt x="1026" y="2"/>
                  </a:lnTo>
                  <a:lnTo>
                    <a:pt x="957" y="6"/>
                  </a:lnTo>
                  <a:lnTo>
                    <a:pt x="884" y="16"/>
                  </a:lnTo>
                  <a:lnTo>
                    <a:pt x="807" y="31"/>
                  </a:lnTo>
                  <a:lnTo>
                    <a:pt x="729" y="50"/>
                  </a:lnTo>
                  <a:lnTo>
                    <a:pt x="648" y="73"/>
                  </a:lnTo>
                  <a:lnTo>
                    <a:pt x="569" y="104"/>
                  </a:lnTo>
                  <a:lnTo>
                    <a:pt x="492" y="139"/>
                  </a:lnTo>
                  <a:lnTo>
                    <a:pt x="417" y="181"/>
                  </a:lnTo>
                  <a:lnTo>
                    <a:pt x="346" y="230"/>
                  </a:lnTo>
                  <a:lnTo>
                    <a:pt x="280" y="286"/>
                  </a:lnTo>
                  <a:lnTo>
                    <a:pt x="218" y="347"/>
                  </a:lnTo>
                  <a:lnTo>
                    <a:pt x="191" y="382"/>
                  </a:lnTo>
                  <a:lnTo>
                    <a:pt x="164" y="417"/>
                  </a:lnTo>
                  <a:lnTo>
                    <a:pt x="141" y="455"/>
                  </a:lnTo>
                  <a:lnTo>
                    <a:pt x="120" y="496"/>
                  </a:lnTo>
                  <a:lnTo>
                    <a:pt x="101" y="536"/>
                  </a:lnTo>
                  <a:lnTo>
                    <a:pt x="83" y="581"/>
                  </a:lnTo>
                  <a:lnTo>
                    <a:pt x="68" y="627"/>
                  </a:lnTo>
                  <a:lnTo>
                    <a:pt x="56" y="679"/>
                  </a:lnTo>
                  <a:lnTo>
                    <a:pt x="45" y="733"/>
                  </a:lnTo>
                  <a:lnTo>
                    <a:pt x="33" y="789"/>
                  </a:lnTo>
                  <a:lnTo>
                    <a:pt x="26" y="851"/>
                  </a:lnTo>
                  <a:lnTo>
                    <a:pt x="18" y="914"/>
                  </a:lnTo>
                  <a:lnTo>
                    <a:pt x="12" y="980"/>
                  </a:lnTo>
                  <a:lnTo>
                    <a:pt x="8" y="1049"/>
                  </a:lnTo>
                  <a:lnTo>
                    <a:pt x="4" y="1121"/>
                  </a:lnTo>
                  <a:lnTo>
                    <a:pt x="2" y="1192"/>
                  </a:lnTo>
                  <a:lnTo>
                    <a:pt x="0" y="1344"/>
                  </a:lnTo>
                  <a:lnTo>
                    <a:pt x="4" y="1500"/>
                  </a:lnTo>
                  <a:lnTo>
                    <a:pt x="10" y="1661"/>
                  </a:lnTo>
                  <a:lnTo>
                    <a:pt x="20" y="1824"/>
                  </a:lnTo>
                  <a:lnTo>
                    <a:pt x="33" y="1986"/>
                  </a:lnTo>
                  <a:lnTo>
                    <a:pt x="49" y="2148"/>
                  </a:lnTo>
                  <a:lnTo>
                    <a:pt x="68" y="2307"/>
                  </a:lnTo>
                  <a:lnTo>
                    <a:pt x="87" y="2459"/>
                  </a:lnTo>
                  <a:lnTo>
                    <a:pt x="97" y="2534"/>
                  </a:lnTo>
                  <a:lnTo>
                    <a:pt x="108" y="2605"/>
                  </a:lnTo>
                  <a:lnTo>
                    <a:pt x="120" y="2677"/>
                  </a:lnTo>
                  <a:lnTo>
                    <a:pt x="130" y="2744"/>
                  </a:lnTo>
                  <a:lnTo>
                    <a:pt x="141" y="2810"/>
                  </a:lnTo>
                  <a:lnTo>
                    <a:pt x="153" y="2872"/>
                  </a:lnTo>
                  <a:lnTo>
                    <a:pt x="178" y="2995"/>
                  </a:lnTo>
                  <a:lnTo>
                    <a:pt x="205" y="3122"/>
                  </a:lnTo>
                  <a:lnTo>
                    <a:pt x="236" y="3251"/>
                  </a:lnTo>
                  <a:lnTo>
                    <a:pt x="269" y="3379"/>
                  </a:lnTo>
                  <a:lnTo>
                    <a:pt x="303" y="3508"/>
                  </a:lnTo>
                  <a:lnTo>
                    <a:pt x="342" y="3633"/>
                  </a:lnTo>
                  <a:lnTo>
                    <a:pt x="382" y="3755"/>
                  </a:lnTo>
                  <a:lnTo>
                    <a:pt x="425" y="3872"/>
                  </a:lnTo>
                  <a:lnTo>
                    <a:pt x="469" y="3982"/>
                  </a:lnTo>
                  <a:lnTo>
                    <a:pt x="492" y="4036"/>
                  </a:lnTo>
                  <a:lnTo>
                    <a:pt x="515" y="4086"/>
                  </a:lnTo>
                  <a:lnTo>
                    <a:pt x="538" y="4137"/>
                  </a:lnTo>
                  <a:lnTo>
                    <a:pt x="562" y="4183"/>
                  </a:lnTo>
                  <a:lnTo>
                    <a:pt x="587" y="4227"/>
                  </a:lnTo>
                  <a:lnTo>
                    <a:pt x="610" y="4270"/>
                  </a:lnTo>
                  <a:lnTo>
                    <a:pt x="635" y="4308"/>
                  </a:lnTo>
                  <a:lnTo>
                    <a:pt x="660" y="4345"/>
                  </a:lnTo>
                  <a:lnTo>
                    <a:pt x="685" y="4378"/>
                  </a:lnTo>
                  <a:lnTo>
                    <a:pt x="710" y="4407"/>
                  </a:lnTo>
                  <a:lnTo>
                    <a:pt x="735" y="4434"/>
                  </a:lnTo>
                  <a:lnTo>
                    <a:pt x="760" y="4457"/>
                  </a:lnTo>
                  <a:lnTo>
                    <a:pt x="787" y="4476"/>
                  </a:lnTo>
                  <a:lnTo>
                    <a:pt x="812" y="4491"/>
                  </a:lnTo>
                  <a:lnTo>
                    <a:pt x="839" y="4503"/>
                  </a:lnTo>
                  <a:lnTo>
                    <a:pt x="866" y="4515"/>
                  </a:lnTo>
                  <a:lnTo>
                    <a:pt x="897" y="4522"/>
                  </a:lnTo>
                  <a:lnTo>
                    <a:pt x="926" y="4528"/>
                  </a:lnTo>
                  <a:lnTo>
                    <a:pt x="959" y="4530"/>
                  </a:lnTo>
                  <a:lnTo>
                    <a:pt x="992" y="4532"/>
                  </a:lnTo>
                  <a:lnTo>
                    <a:pt x="1024" y="4530"/>
                  </a:lnTo>
                  <a:lnTo>
                    <a:pt x="1059" y="4526"/>
                  </a:lnTo>
                  <a:lnTo>
                    <a:pt x="1094" y="4518"/>
                  </a:lnTo>
                  <a:lnTo>
                    <a:pt x="1129" y="4511"/>
                  </a:lnTo>
                  <a:lnTo>
                    <a:pt x="1165" y="4499"/>
                  </a:lnTo>
                  <a:lnTo>
                    <a:pt x="1200" y="4488"/>
                  </a:lnTo>
                  <a:lnTo>
                    <a:pt x="1237" y="4472"/>
                  </a:lnTo>
                  <a:lnTo>
                    <a:pt x="1273" y="4453"/>
                  </a:lnTo>
                  <a:lnTo>
                    <a:pt x="1310" y="4434"/>
                  </a:lnTo>
                  <a:lnTo>
                    <a:pt x="1345" y="4410"/>
                  </a:lnTo>
                  <a:lnTo>
                    <a:pt x="1381" y="4387"/>
                  </a:lnTo>
                  <a:lnTo>
                    <a:pt x="1416" y="4360"/>
                  </a:lnTo>
                  <a:lnTo>
                    <a:pt x="1451" y="4329"/>
                  </a:lnTo>
                  <a:lnTo>
                    <a:pt x="1485" y="4299"/>
                  </a:lnTo>
                  <a:lnTo>
                    <a:pt x="1520" y="4264"/>
                  </a:lnTo>
                  <a:lnTo>
                    <a:pt x="1553" y="4229"/>
                  </a:lnTo>
                  <a:lnTo>
                    <a:pt x="1584" y="4191"/>
                  </a:lnTo>
                  <a:lnTo>
                    <a:pt x="1615" y="4148"/>
                  </a:lnTo>
                  <a:lnTo>
                    <a:pt x="1643" y="4106"/>
                  </a:lnTo>
                  <a:lnTo>
                    <a:pt x="1672" y="4059"/>
                  </a:lnTo>
                  <a:lnTo>
                    <a:pt x="1699" y="4013"/>
                  </a:lnTo>
                  <a:lnTo>
                    <a:pt x="1724" y="3963"/>
                  </a:lnTo>
                  <a:lnTo>
                    <a:pt x="1748" y="3911"/>
                  </a:lnTo>
                  <a:lnTo>
                    <a:pt x="1769" y="3855"/>
                  </a:lnTo>
                  <a:lnTo>
                    <a:pt x="1790" y="3799"/>
                  </a:lnTo>
                  <a:lnTo>
                    <a:pt x="1807" y="3739"/>
                  </a:lnTo>
                  <a:lnTo>
                    <a:pt x="1825" y="3676"/>
                  </a:lnTo>
                  <a:lnTo>
                    <a:pt x="1840" y="3604"/>
                  </a:lnTo>
                  <a:lnTo>
                    <a:pt x="1854" y="3529"/>
                  </a:lnTo>
                  <a:lnTo>
                    <a:pt x="1867" y="3446"/>
                  </a:lnTo>
                  <a:lnTo>
                    <a:pt x="1881" y="3359"/>
                  </a:lnTo>
                  <a:lnTo>
                    <a:pt x="1892" y="3267"/>
                  </a:lnTo>
                  <a:lnTo>
                    <a:pt x="1904" y="3170"/>
                  </a:lnTo>
                  <a:lnTo>
                    <a:pt x="1913" y="3068"/>
                  </a:lnTo>
                  <a:lnTo>
                    <a:pt x="1923" y="2964"/>
                  </a:lnTo>
                  <a:lnTo>
                    <a:pt x="1931" y="2858"/>
                  </a:lnTo>
                  <a:lnTo>
                    <a:pt x="1938" y="2748"/>
                  </a:lnTo>
                  <a:lnTo>
                    <a:pt x="1946" y="2636"/>
                  </a:lnTo>
                  <a:lnTo>
                    <a:pt x="1956" y="2407"/>
                  </a:lnTo>
                  <a:lnTo>
                    <a:pt x="1964" y="2175"/>
                  </a:lnTo>
                  <a:lnTo>
                    <a:pt x="1967" y="1944"/>
                  </a:lnTo>
                  <a:lnTo>
                    <a:pt x="1967" y="1716"/>
                  </a:lnTo>
                  <a:lnTo>
                    <a:pt x="1965" y="1605"/>
                  </a:lnTo>
                  <a:lnTo>
                    <a:pt x="1964" y="1495"/>
                  </a:lnTo>
                  <a:lnTo>
                    <a:pt x="1962" y="1389"/>
                  </a:lnTo>
                  <a:lnTo>
                    <a:pt x="1958" y="1286"/>
                  </a:lnTo>
                  <a:lnTo>
                    <a:pt x="1954" y="1186"/>
                  </a:lnTo>
                  <a:lnTo>
                    <a:pt x="1948" y="1090"/>
                  </a:lnTo>
                  <a:lnTo>
                    <a:pt x="1942" y="999"/>
                  </a:lnTo>
                  <a:lnTo>
                    <a:pt x="1935" y="912"/>
                  </a:lnTo>
                  <a:lnTo>
                    <a:pt x="1927" y="833"/>
                  </a:lnTo>
                  <a:lnTo>
                    <a:pt x="1919" y="758"/>
                  </a:lnTo>
                  <a:lnTo>
                    <a:pt x="1910" y="689"/>
                  </a:lnTo>
                  <a:lnTo>
                    <a:pt x="1900" y="627"/>
                  </a:lnTo>
                  <a:lnTo>
                    <a:pt x="1888" y="571"/>
                  </a:lnTo>
                  <a:lnTo>
                    <a:pt x="1875" y="519"/>
                  </a:lnTo>
                  <a:lnTo>
                    <a:pt x="1859" y="471"/>
                  </a:lnTo>
                  <a:lnTo>
                    <a:pt x="1842" y="426"/>
                  </a:lnTo>
                  <a:lnTo>
                    <a:pt x="1823" y="386"/>
                  </a:lnTo>
                  <a:lnTo>
                    <a:pt x="1804" y="349"/>
                  </a:lnTo>
                  <a:lnTo>
                    <a:pt x="1780" y="315"/>
                  </a:lnTo>
                  <a:lnTo>
                    <a:pt x="1757" y="286"/>
                  </a:lnTo>
                  <a:lnTo>
                    <a:pt x="1734" y="257"/>
                  </a:lnTo>
                  <a:lnTo>
                    <a:pt x="1709" y="232"/>
                  </a:lnTo>
                  <a:lnTo>
                    <a:pt x="1682" y="210"/>
                  </a:lnTo>
                  <a:lnTo>
                    <a:pt x="1655" y="189"/>
                  </a:lnTo>
                  <a:lnTo>
                    <a:pt x="1628" y="172"/>
                  </a:lnTo>
                  <a:lnTo>
                    <a:pt x="1599" y="156"/>
                  </a:lnTo>
                  <a:lnTo>
                    <a:pt x="1541" y="129"/>
                  </a:lnTo>
                  <a:lnTo>
                    <a:pt x="1483" y="108"/>
                  </a:lnTo>
                  <a:lnTo>
                    <a:pt x="1426" y="93"/>
                  </a:lnTo>
                  <a:lnTo>
                    <a:pt x="1370" y="79"/>
                  </a:lnTo>
                  <a:lnTo>
                    <a:pt x="1316" y="68"/>
                  </a:lnTo>
                  <a:lnTo>
                    <a:pt x="1265" y="54"/>
                  </a:lnTo>
                  <a:lnTo>
                    <a:pt x="1221" y="41"/>
                  </a:lnTo>
                  <a:lnTo>
                    <a:pt x="1181" y="23"/>
                  </a:lnTo>
                  <a:lnTo>
                    <a:pt x="1163" y="14"/>
                  </a:lnTo>
                  <a:lnTo>
                    <a:pt x="1148" y="2"/>
                  </a:lnTo>
                  <a:close/>
                </a:path>
              </a:pathLst>
            </a:custGeom>
            <a:noFill/>
            <a:ln w="7620" cap="flat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89" name="Freeform 89">
              <a:extLst>
                <a:ext uri="{FF2B5EF4-FFF2-40B4-BE49-F238E27FC236}">
                  <a16:creationId xmlns:a16="http://schemas.microsoft.com/office/drawing/2014/main" id="{73A348FA-F81E-3046-A515-FFA8F07D45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2925" y="1992313"/>
              <a:ext cx="2416175" cy="2208212"/>
            </a:xfrm>
            <a:custGeom>
              <a:avLst/>
              <a:gdLst>
                <a:gd name="T0" fmla="*/ 204 w 1764"/>
                <a:gd name="T1" fmla="*/ 288 h 2229"/>
                <a:gd name="T2" fmla="*/ 139 w 1764"/>
                <a:gd name="T3" fmla="*/ 342 h 2229"/>
                <a:gd name="T4" fmla="*/ 81 w 1764"/>
                <a:gd name="T5" fmla="*/ 421 h 2229"/>
                <a:gd name="T6" fmla="*/ 44 w 1764"/>
                <a:gd name="T7" fmla="*/ 492 h 2229"/>
                <a:gd name="T8" fmla="*/ 15 w 1764"/>
                <a:gd name="T9" fmla="*/ 536 h 2229"/>
                <a:gd name="T10" fmla="*/ 6 w 1764"/>
                <a:gd name="T11" fmla="*/ 567 h 2229"/>
                <a:gd name="T12" fmla="*/ 0 w 1764"/>
                <a:gd name="T13" fmla="*/ 619 h 2229"/>
                <a:gd name="T14" fmla="*/ 4 w 1764"/>
                <a:gd name="T15" fmla="*/ 714 h 2229"/>
                <a:gd name="T16" fmla="*/ 7 w 1764"/>
                <a:gd name="T17" fmla="*/ 808 h 2229"/>
                <a:gd name="T18" fmla="*/ 9 w 1764"/>
                <a:gd name="T19" fmla="*/ 905 h 2229"/>
                <a:gd name="T20" fmla="*/ 13 w 1764"/>
                <a:gd name="T21" fmla="*/ 1099 h 2229"/>
                <a:gd name="T22" fmla="*/ 21 w 1764"/>
                <a:gd name="T23" fmla="*/ 1366 h 2229"/>
                <a:gd name="T24" fmla="*/ 46 w 1764"/>
                <a:gd name="T25" fmla="*/ 1632 h 2229"/>
                <a:gd name="T26" fmla="*/ 83 w 1764"/>
                <a:gd name="T27" fmla="*/ 1825 h 2229"/>
                <a:gd name="T28" fmla="*/ 117 w 1764"/>
                <a:gd name="T29" fmla="*/ 1919 h 2229"/>
                <a:gd name="T30" fmla="*/ 177 w 1764"/>
                <a:gd name="T31" fmla="*/ 2015 h 2229"/>
                <a:gd name="T32" fmla="*/ 303 w 1764"/>
                <a:gd name="T33" fmla="*/ 2118 h 2229"/>
                <a:gd name="T34" fmla="*/ 459 w 1764"/>
                <a:gd name="T35" fmla="*/ 2183 h 2229"/>
                <a:gd name="T36" fmla="*/ 630 w 1764"/>
                <a:gd name="T37" fmla="*/ 2218 h 2229"/>
                <a:gd name="T38" fmla="*/ 800 w 1764"/>
                <a:gd name="T39" fmla="*/ 2229 h 2229"/>
                <a:gd name="T40" fmla="*/ 954 w 1764"/>
                <a:gd name="T41" fmla="*/ 2226 h 2229"/>
                <a:gd name="T42" fmla="*/ 1151 w 1764"/>
                <a:gd name="T43" fmla="*/ 2201 h 2229"/>
                <a:gd name="T44" fmla="*/ 1301 w 1764"/>
                <a:gd name="T45" fmla="*/ 2162 h 2229"/>
                <a:gd name="T46" fmla="*/ 1442 w 1764"/>
                <a:gd name="T47" fmla="*/ 2096 h 2229"/>
                <a:gd name="T48" fmla="*/ 1562 w 1764"/>
                <a:gd name="T49" fmla="*/ 1998 h 2229"/>
                <a:gd name="T50" fmla="*/ 1649 w 1764"/>
                <a:gd name="T51" fmla="*/ 1855 h 2229"/>
                <a:gd name="T52" fmla="*/ 1681 w 1764"/>
                <a:gd name="T53" fmla="*/ 1761 h 2229"/>
                <a:gd name="T54" fmla="*/ 1708 w 1764"/>
                <a:gd name="T55" fmla="*/ 1643 h 2229"/>
                <a:gd name="T56" fmla="*/ 1749 w 1764"/>
                <a:gd name="T57" fmla="*/ 1364 h 2229"/>
                <a:gd name="T58" fmla="*/ 1764 w 1764"/>
                <a:gd name="T59" fmla="*/ 1057 h 2229"/>
                <a:gd name="T60" fmla="*/ 1753 w 1764"/>
                <a:gd name="T61" fmla="*/ 762 h 2229"/>
                <a:gd name="T62" fmla="*/ 1726 w 1764"/>
                <a:gd name="T63" fmla="*/ 592 h 2229"/>
                <a:gd name="T64" fmla="*/ 1695 w 1764"/>
                <a:gd name="T65" fmla="*/ 486 h 2229"/>
                <a:gd name="T66" fmla="*/ 1654 w 1764"/>
                <a:gd name="T67" fmla="*/ 399 h 2229"/>
                <a:gd name="T68" fmla="*/ 1527 w 1764"/>
                <a:gd name="T69" fmla="*/ 261 h 2229"/>
                <a:gd name="T70" fmla="*/ 1361 w 1764"/>
                <a:gd name="T71" fmla="*/ 156 h 2229"/>
                <a:gd name="T72" fmla="*/ 1174 w 1764"/>
                <a:gd name="T73" fmla="*/ 83 h 2229"/>
                <a:gd name="T74" fmla="*/ 993 w 1764"/>
                <a:gd name="T75" fmla="*/ 33 h 2229"/>
                <a:gd name="T76" fmla="*/ 839 w 1764"/>
                <a:gd name="T77" fmla="*/ 4 h 2229"/>
                <a:gd name="T78" fmla="*/ 707 w 1764"/>
                <a:gd name="T79" fmla="*/ 6 h 2229"/>
                <a:gd name="T80" fmla="*/ 582 w 1764"/>
                <a:gd name="T81" fmla="*/ 47 h 2229"/>
                <a:gd name="T82" fmla="*/ 430 w 1764"/>
                <a:gd name="T83" fmla="*/ 133 h 2229"/>
                <a:gd name="T84" fmla="*/ 303 w 1764"/>
                <a:gd name="T85" fmla="*/ 224 h 2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764" h="2229">
                  <a:moveTo>
                    <a:pt x="249" y="259"/>
                  </a:moveTo>
                  <a:lnTo>
                    <a:pt x="225" y="274"/>
                  </a:lnTo>
                  <a:lnTo>
                    <a:pt x="204" y="288"/>
                  </a:lnTo>
                  <a:lnTo>
                    <a:pt x="185" y="301"/>
                  </a:lnTo>
                  <a:lnTo>
                    <a:pt x="168" y="315"/>
                  </a:lnTo>
                  <a:lnTo>
                    <a:pt x="139" y="342"/>
                  </a:lnTo>
                  <a:lnTo>
                    <a:pt x="115" y="367"/>
                  </a:lnTo>
                  <a:lnTo>
                    <a:pt x="98" y="394"/>
                  </a:lnTo>
                  <a:lnTo>
                    <a:pt x="81" y="421"/>
                  </a:lnTo>
                  <a:lnTo>
                    <a:pt x="67" y="448"/>
                  </a:lnTo>
                  <a:lnTo>
                    <a:pt x="52" y="479"/>
                  </a:lnTo>
                  <a:lnTo>
                    <a:pt x="44" y="492"/>
                  </a:lnTo>
                  <a:lnTo>
                    <a:pt x="38" y="504"/>
                  </a:lnTo>
                  <a:lnTo>
                    <a:pt x="25" y="523"/>
                  </a:lnTo>
                  <a:lnTo>
                    <a:pt x="15" y="536"/>
                  </a:lnTo>
                  <a:lnTo>
                    <a:pt x="11" y="546"/>
                  </a:lnTo>
                  <a:lnTo>
                    <a:pt x="7" y="556"/>
                  </a:lnTo>
                  <a:lnTo>
                    <a:pt x="6" y="567"/>
                  </a:lnTo>
                  <a:lnTo>
                    <a:pt x="4" y="581"/>
                  </a:lnTo>
                  <a:lnTo>
                    <a:pt x="2" y="598"/>
                  </a:lnTo>
                  <a:lnTo>
                    <a:pt x="0" y="619"/>
                  </a:lnTo>
                  <a:lnTo>
                    <a:pt x="0" y="646"/>
                  </a:lnTo>
                  <a:lnTo>
                    <a:pt x="2" y="677"/>
                  </a:lnTo>
                  <a:lnTo>
                    <a:pt x="4" y="714"/>
                  </a:lnTo>
                  <a:lnTo>
                    <a:pt x="6" y="756"/>
                  </a:lnTo>
                  <a:lnTo>
                    <a:pt x="7" y="781"/>
                  </a:lnTo>
                  <a:lnTo>
                    <a:pt x="7" y="808"/>
                  </a:lnTo>
                  <a:lnTo>
                    <a:pt x="9" y="837"/>
                  </a:lnTo>
                  <a:lnTo>
                    <a:pt x="9" y="870"/>
                  </a:lnTo>
                  <a:lnTo>
                    <a:pt x="9" y="905"/>
                  </a:lnTo>
                  <a:lnTo>
                    <a:pt x="11" y="939"/>
                  </a:lnTo>
                  <a:lnTo>
                    <a:pt x="11" y="1017"/>
                  </a:lnTo>
                  <a:lnTo>
                    <a:pt x="13" y="1099"/>
                  </a:lnTo>
                  <a:lnTo>
                    <a:pt x="15" y="1186"/>
                  </a:lnTo>
                  <a:lnTo>
                    <a:pt x="17" y="1275"/>
                  </a:lnTo>
                  <a:lnTo>
                    <a:pt x="21" y="1366"/>
                  </a:lnTo>
                  <a:lnTo>
                    <a:pt x="27" y="1456"/>
                  </a:lnTo>
                  <a:lnTo>
                    <a:pt x="34" y="1545"/>
                  </a:lnTo>
                  <a:lnTo>
                    <a:pt x="46" y="1632"/>
                  </a:lnTo>
                  <a:lnTo>
                    <a:pt x="58" y="1713"/>
                  </a:lnTo>
                  <a:lnTo>
                    <a:pt x="75" y="1790"/>
                  </a:lnTo>
                  <a:lnTo>
                    <a:pt x="83" y="1825"/>
                  </a:lnTo>
                  <a:lnTo>
                    <a:pt x="94" y="1859"/>
                  </a:lnTo>
                  <a:lnTo>
                    <a:pt x="106" y="1890"/>
                  </a:lnTo>
                  <a:lnTo>
                    <a:pt x="117" y="1919"/>
                  </a:lnTo>
                  <a:lnTo>
                    <a:pt x="131" y="1946"/>
                  </a:lnTo>
                  <a:lnTo>
                    <a:pt x="144" y="1971"/>
                  </a:lnTo>
                  <a:lnTo>
                    <a:pt x="177" y="2015"/>
                  </a:lnTo>
                  <a:lnTo>
                    <a:pt x="214" y="2054"/>
                  </a:lnTo>
                  <a:lnTo>
                    <a:pt x="256" y="2087"/>
                  </a:lnTo>
                  <a:lnTo>
                    <a:pt x="303" y="2118"/>
                  </a:lnTo>
                  <a:lnTo>
                    <a:pt x="353" y="2143"/>
                  </a:lnTo>
                  <a:lnTo>
                    <a:pt x="405" y="2164"/>
                  </a:lnTo>
                  <a:lnTo>
                    <a:pt x="459" y="2183"/>
                  </a:lnTo>
                  <a:lnTo>
                    <a:pt x="515" y="2197"/>
                  </a:lnTo>
                  <a:lnTo>
                    <a:pt x="572" y="2210"/>
                  </a:lnTo>
                  <a:lnTo>
                    <a:pt x="630" y="2218"/>
                  </a:lnTo>
                  <a:lnTo>
                    <a:pt x="688" y="2224"/>
                  </a:lnTo>
                  <a:lnTo>
                    <a:pt x="744" y="2228"/>
                  </a:lnTo>
                  <a:lnTo>
                    <a:pt x="800" y="2229"/>
                  </a:lnTo>
                  <a:lnTo>
                    <a:pt x="854" y="2229"/>
                  </a:lnTo>
                  <a:lnTo>
                    <a:pt x="906" y="2229"/>
                  </a:lnTo>
                  <a:lnTo>
                    <a:pt x="954" y="2226"/>
                  </a:lnTo>
                  <a:lnTo>
                    <a:pt x="1051" y="2216"/>
                  </a:lnTo>
                  <a:lnTo>
                    <a:pt x="1101" y="2210"/>
                  </a:lnTo>
                  <a:lnTo>
                    <a:pt x="1151" y="2201"/>
                  </a:lnTo>
                  <a:lnTo>
                    <a:pt x="1201" y="2191"/>
                  </a:lnTo>
                  <a:lnTo>
                    <a:pt x="1251" y="2177"/>
                  </a:lnTo>
                  <a:lnTo>
                    <a:pt x="1301" y="2162"/>
                  </a:lnTo>
                  <a:lnTo>
                    <a:pt x="1350" y="2145"/>
                  </a:lnTo>
                  <a:lnTo>
                    <a:pt x="1396" y="2122"/>
                  </a:lnTo>
                  <a:lnTo>
                    <a:pt x="1442" y="2096"/>
                  </a:lnTo>
                  <a:lnTo>
                    <a:pt x="1485" y="2068"/>
                  </a:lnTo>
                  <a:lnTo>
                    <a:pt x="1523" y="2035"/>
                  </a:lnTo>
                  <a:lnTo>
                    <a:pt x="1562" y="1998"/>
                  </a:lnTo>
                  <a:lnTo>
                    <a:pt x="1595" y="1956"/>
                  </a:lnTo>
                  <a:lnTo>
                    <a:pt x="1623" y="1907"/>
                  </a:lnTo>
                  <a:lnTo>
                    <a:pt x="1649" y="1855"/>
                  </a:lnTo>
                  <a:lnTo>
                    <a:pt x="1660" y="1826"/>
                  </a:lnTo>
                  <a:lnTo>
                    <a:pt x="1670" y="1794"/>
                  </a:lnTo>
                  <a:lnTo>
                    <a:pt x="1681" y="1761"/>
                  </a:lnTo>
                  <a:lnTo>
                    <a:pt x="1691" y="1722"/>
                  </a:lnTo>
                  <a:lnTo>
                    <a:pt x="1701" y="1684"/>
                  </a:lnTo>
                  <a:lnTo>
                    <a:pt x="1708" y="1643"/>
                  </a:lnTo>
                  <a:lnTo>
                    <a:pt x="1724" y="1556"/>
                  </a:lnTo>
                  <a:lnTo>
                    <a:pt x="1737" y="1462"/>
                  </a:lnTo>
                  <a:lnTo>
                    <a:pt x="1749" y="1364"/>
                  </a:lnTo>
                  <a:lnTo>
                    <a:pt x="1756" y="1263"/>
                  </a:lnTo>
                  <a:lnTo>
                    <a:pt x="1762" y="1161"/>
                  </a:lnTo>
                  <a:lnTo>
                    <a:pt x="1764" y="1057"/>
                  </a:lnTo>
                  <a:lnTo>
                    <a:pt x="1764" y="957"/>
                  </a:lnTo>
                  <a:lnTo>
                    <a:pt x="1760" y="856"/>
                  </a:lnTo>
                  <a:lnTo>
                    <a:pt x="1753" y="762"/>
                  </a:lnTo>
                  <a:lnTo>
                    <a:pt x="1741" y="673"/>
                  </a:lnTo>
                  <a:lnTo>
                    <a:pt x="1733" y="633"/>
                  </a:lnTo>
                  <a:lnTo>
                    <a:pt x="1726" y="592"/>
                  </a:lnTo>
                  <a:lnTo>
                    <a:pt x="1716" y="554"/>
                  </a:lnTo>
                  <a:lnTo>
                    <a:pt x="1706" y="519"/>
                  </a:lnTo>
                  <a:lnTo>
                    <a:pt x="1695" y="486"/>
                  </a:lnTo>
                  <a:lnTo>
                    <a:pt x="1683" y="455"/>
                  </a:lnTo>
                  <a:lnTo>
                    <a:pt x="1670" y="426"/>
                  </a:lnTo>
                  <a:lnTo>
                    <a:pt x="1654" y="399"/>
                  </a:lnTo>
                  <a:lnTo>
                    <a:pt x="1618" y="349"/>
                  </a:lnTo>
                  <a:lnTo>
                    <a:pt x="1575" y="303"/>
                  </a:lnTo>
                  <a:lnTo>
                    <a:pt x="1527" y="261"/>
                  </a:lnTo>
                  <a:lnTo>
                    <a:pt x="1475" y="222"/>
                  </a:lnTo>
                  <a:lnTo>
                    <a:pt x="1419" y="187"/>
                  </a:lnTo>
                  <a:lnTo>
                    <a:pt x="1361" y="156"/>
                  </a:lnTo>
                  <a:lnTo>
                    <a:pt x="1299" y="129"/>
                  </a:lnTo>
                  <a:lnTo>
                    <a:pt x="1238" y="104"/>
                  </a:lnTo>
                  <a:lnTo>
                    <a:pt x="1174" y="83"/>
                  </a:lnTo>
                  <a:lnTo>
                    <a:pt x="1112" y="64"/>
                  </a:lnTo>
                  <a:lnTo>
                    <a:pt x="1053" y="48"/>
                  </a:lnTo>
                  <a:lnTo>
                    <a:pt x="993" y="33"/>
                  </a:lnTo>
                  <a:lnTo>
                    <a:pt x="937" y="21"/>
                  </a:lnTo>
                  <a:lnTo>
                    <a:pt x="885" y="12"/>
                  </a:lnTo>
                  <a:lnTo>
                    <a:pt x="839" y="4"/>
                  </a:lnTo>
                  <a:lnTo>
                    <a:pt x="794" y="0"/>
                  </a:lnTo>
                  <a:lnTo>
                    <a:pt x="750" y="0"/>
                  </a:lnTo>
                  <a:lnTo>
                    <a:pt x="707" y="6"/>
                  </a:lnTo>
                  <a:lnTo>
                    <a:pt x="665" y="16"/>
                  </a:lnTo>
                  <a:lnTo>
                    <a:pt x="623" y="31"/>
                  </a:lnTo>
                  <a:lnTo>
                    <a:pt x="582" y="47"/>
                  </a:lnTo>
                  <a:lnTo>
                    <a:pt x="542" y="66"/>
                  </a:lnTo>
                  <a:lnTo>
                    <a:pt x="503" y="87"/>
                  </a:lnTo>
                  <a:lnTo>
                    <a:pt x="430" y="133"/>
                  </a:lnTo>
                  <a:lnTo>
                    <a:pt x="362" y="180"/>
                  </a:lnTo>
                  <a:lnTo>
                    <a:pt x="331" y="203"/>
                  </a:lnTo>
                  <a:lnTo>
                    <a:pt x="303" y="224"/>
                  </a:lnTo>
                  <a:lnTo>
                    <a:pt x="274" y="243"/>
                  </a:lnTo>
                  <a:lnTo>
                    <a:pt x="249" y="259"/>
                  </a:lnTo>
                  <a:close/>
                </a:path>
              </a:pathLst>
            </a:custGeom>
            <a:noFill/>
            <a:ln w="7620" cap="flat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90" name="Freeform 90">
              <a:extLst>
                <a:ext uri="{FF2B5EF4-FFF2-40B4-BE49-F238E27FC236}">
                  <a16:creationId xmlns:a16="http://schemas.microsoft.com/office/drawing/2014/main" id="{AD39B413-7317-9D41-8740-38460D14CC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2988" y="4202113"/>
              <a:ext cx="1806575" cy="2025650"/>
            </a:xfrm>
            <a:custGeom>
              <a:avLst/>
              <a:gdLst>
                <a:gd name="T0" fmla="*/ 318 w 1321"/>
                <a:gd name="T1" fmla="*/ 315 h 2044"/>
                <a:gd name="T2" fmla="*/ 257 w 1321"/>
                <a:gd name="T3" fmla="*/ 419 h 2044"/>
                <a:gd name="T4" fmla="*/ 197 w 1321"/>
                <a:gd name="T5" fmla="*/ 544 h 2044"/>
                <a:gd name="T6" fmla="*/ 141 w 1321"/>
                <a:gd name="T7" fmla="*/ 683 h 2044"/>
                <a:gd name="T8" fmla="*/ 91 w 1321"/>
                <a:gd name="T9" fmla="*/ 828 h 2044"/>
                <a:gd name="T10" fmla="*/ 48 w 1321"/>
                <a:gd name="T11" fmla="*/ 974 h 2044"/>
                <a:gd name="T12" fmla="*/ 18 w 1321"/>
                <a:gd name="T13" fmla="*/ 1113 h 2044"/>
                <a:gd name="T14" fmla="*/ 2 w 1321"/>
                <a:gd name="T15" fmla="*/ 1242 h 2044"/>
                <a:gd name="T16" fmla="*/ 2 w 1321"/>
                <a:gd name="T17" fmla="*/ 1356 h 2044"/>
                <a:gd name="T18" fmla="*/ 20 w 1321"/>
                <a:gd name="T19" fmla="*/ 1474 h 2044"/>
                <a:gd name="T20" fmla="*/ 48 w 1321"/>
                <a:gd name="T21" fmla="*/ 1595 h 2044"/>
                <a:gd name="T22" fmla="*/ 91 w 1321"/>
                <a:gd name="T23" fmla="*/ 1711 h 2044"/>
                <a:gd name="T24" fmla="*/ 141 w 1321"/>
                <a:gd name="T25" fmla="*/ 1819 h 2044"/>
                <a:gd name="T26" fmla="*/ 199 w 1321"/>
                <a:gd name="T27" fmla="*/ 1909 h 2044"/>
                <a:gd name="T28" fmla="*/ 261 w 1321"/>
                <a:gd name="T29" fmla="*/ 1983 h 2044"/>
                <a:gd name="T30" fmla="*/ 309 w 1321"/>
                <a:gd name="T31" fmla="*/ 2019 h 2044"/>
                <a:gd name="T32" fmla="*/ 342 w 1321"/>
                <a:gd name="T33" fmla="*/ 2037 h 2044"/>
                <a:gd name="T34" fmla="*/ 376 w 1321"/>
                <a:gd name="T35" fmla="*/ 2043 h 2044"/>
                <a:gd name="T36" fmla="*/ 432 w 1321"/>
                <a:gd name="T37" fmla="*/ 2041 h 2044"/>
                <a:gd name="T38" fmla="*/ 519 w 1321"/>
                <a:gd name="T39" fmla="*/ 2014 h 2044"/>
                <a:gd name="T40" fmla="*/ 613 w 1321"/>
                <a:gd name="T41" fmla="*/ 1963 h 2044"/>
                <a:gd name="T42" fmla="*/ 712 w 1321"/>
                <a:gd name="T43" fmla="*/ 1896 h 2044"/>
                <a:gd name="T44" fmla="*/ 810 w 1321"/>
                <a:gd name="T45" fmla="*/ 1815 h 2044"/>
                <a:gd name="T46" fmla="*/ 903 w 1321"/>
                <a:gd name="T47" fmla="*/ 1726 h 2044"/>
                <a:gd name="T48" fmla="*/ 984 w 1321"/>
                <a:gd name="T49" fmla="*/ 1634 h 2044"/>
                <a:gd name="T50" fmla="*/ 1053 w 1321"/>
                <a:gd name="T51" fmla="*/ 1543 h 2044"/>
                <a:gd name="T52" fmla="*/ 1111 w 1321"/>
                <a:gd name="T53" fmla="*/ 1447 h 2044"/>
                <a:gd name="T54" fmla="*/ 1165 w 1321"/>
                <a:gd name="T55" fmla="*/ 1335 h 2044"/>
                <a:gd name="T56" fmla="*/ 1213 w 1321"/>
                <a:gd name="T57" fmla="*/ 1213 h 2044"/>
                <a:gd name="T58" fmla="*/ 1254 w 1321"/>
                <a:gd name="T59" fmla="*/ 1086 h 2044"/>
                <a:gd name="T60" fmla="*/ 1286 w 1321"/>
                <a:gd name="T61" fmla="*/ 959 h 2044"/>
                <a:gd name="T62" fmla="*/ 1308 w 1321"/>
                <a:gd name="T63" fmla="*/ 835 h 2044"/>
                <a:gd name="T64" fmla="*/ 1319 w 1321"/>
                <a:gd name="T65" fmla="*/ 722 h 2044"/>
                <a:gd name="T66" fmla="*/ 1319 w 1321"/>
                <a:gd name="T67" fmla="*/ 617 h 2044"/>
                <a:gd name="T68" fmla="*/ 1304 w 1321"/>
                <a:gd name="T69" fmla="*/ 521 h 2044"/>
                <a:gd name="T70" fmla="*/ 1275 w 1321"/>
                <a:gd name="T71" fmla="*/ 425 h 2044"/>
                <a:gd name="T72" fmla="*/ 1232 w 1321"/>
                <a:gd name="T73" fmla="*/ 330 h 2044"/>
                <a:gd name="T74" fmla="*/ 1182 w 1321"/>
                <a:gd name="T75" fmla="*/ 243 h 2044"/>
                <a:gd name="T76" fmla="*/ 1124 w 1321"/>
                <a:gd name="T77" fmla="*/ 164 h 2044"/>
                <a:gd name="T78" fmla="*/ 1063 w 1321"/>
                <a:gd name="T79" fmla="*/ 99 h 2044"/>
                <a:gd name="T80" fmla="*/ 999 w 1321"/>
                <a:gd name="T81" fmla="*/ 49 h 2044"/>
                <a:gd name="T82" fmla="*/ 937 w 1321"/>
                <a:gd name="T83" fmla="*/ 16 h 2044"/>
                <a:gd name="T84" fmla="*/ 872 w 1321"/>
                <a:gd name="T85" fmla="*/ 2 h 2044"/>
                <a:gd name="T86" fmla="*/ 799 w 1321"/>
                <a:gd name="T87" fmla="*/ 0 h 2044"/>
                <a:gd name="T88" fmla="*/ 721 w 1321"/>
                <a:gd name="T89" fmla="*/ 14 h 2044"/>
                <a:gd name="T90" fmla="*/ 640 w 1321"/>
                <a:gd name="T91" fmla="*/ 41 h 2044"/>
                <a:gd name="T92" fmla="*/ 559 w 1321"/>
                <a:gd name="T93" fmla="*/ 81 h 2044"/>
                <a:gd name="T94" fmla="*/ 482 w 1321"/>
                <a:gd name="T95" fmla="*/ 131 h 2044"/>
                <a:gd name="T96" fmla="*/ 411 w 1321"/>
                <a:gd name="T97" fmla="*/ 195 h 2044"/>
                <a:gd name="T98" fmla="*/ 347 w 1321"/>
                <a:gd name="T99" fmla="*/ 270 h 20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21" h="2044">
                  <a:moveTo>
                    <a:pt x="347" y="270"/>
                  </a:moveTo>
                  <a:lnTo>
                    <a:pt x="318" y="315"/>
                  </a:lnTo>
                  <a:lnTo>
                    <a:pt x="288" y="365"/>
                  </a:lnTo>
                  <a:lnTo>
                    <a:pt x="257" y="419"/>
                  </a:lnTo>
                  <a:lnTo>
                    <a:pt x="228" y="481"/>
                  </a:lnTo>
                  <a:lnTo>
                    <a:pt x="197" y="544"/>
                  </a:lnTo>
                  <a:lnTo>
                    <a:pt x="168" y="612"/>
                  </a:lnTo>
                  <a:lnTo>
                    <a:pt x="141" y="683"/>
                  </a:lnTo>
                  <a:lnTo>
                    <a:pt x="114" y="754"/>
                  </a:lnTo>
                  <a:lnTo>
                    <a:pt x="91" y="828"/>
                  </a:lnTo>
                  <a:lnTo>
                    <a:pt x="68" y="901"/>
                  </a:lnTo>
                  <a:lnTo>
                    <a:pt x="48" y="974"/>
                  </a:lnTo>
                  <a:lnTo>
                    <a:pt x="31" y="1046"/>
                  </a:lnTo>
                  <a:lnTo>
                    <a:pt x="18" y="1113"/>
                  </a:lnTo>
                  <a:lnTo>
                    <a:pt x="8" y="1181"/>
                  </a:lnTo>
                  <a:lnTo>
                    <a:pt x="2" y="1242"/>
                  </a:lnTo>
                  <a:lnTo>
                    <a:pt x="0" y="1300"/>
                  </a:lnTo>
                  <a:lnTo>
                    <a:pt x="2" y="1356"/>
                  </a:lnTo>
                  <a:lnTo>
                    <a:pt x="10" y="1416"/>
                  </a:lnTo>
                  <a:lnTo>
                    <a:pt x="20" y="1474"/>
                  </a:lnTo>
                  <a:lnTo>
                    <a:pt x="33" y="1535"/>
                  </a:lnTo>
                  <a:lnTo>
                    <a:pt x="48" y="1595"/>
                  </a:lnTo>
                  <a:lnTo>
                    <a:pt x="68" y="1653"/>
                  </a:lnTo>
                  <a:lnTo>
                    <a:pt x="91" y="1711"/>
                  </a:lnTo>
                  <a:lnTo>
                    <a:pt x="114" y="1767"/>
                  </a:lnTo>
                  <a:lnTo>
                    <a:pt x="141" y="1819"/>
                  </a:lnTo>
                  <a:lnTo>
                    <a:pt x="168" y="1867"/>
                  </a:lnTo>
                  <a:lnTo>
                    <a:pt x="199" y="1909"/>
                  </a:lnTo>
                  <a:lnTo>
                    <a:pt x="230" y="1950"/>
                  </a:lnTo>
                  <a:lnTo>
                    <a:pt x="261" y="1983"/>
                  </a:lnTo>
                  <a:lnTo>
                    <a:pt x="293" y="2010"/>
                  </a:lnTo>
                  <a:lnTo>
                    <a:pt x="309" y="2019"/>
                  </a:lnTo>
                  <a:lnTo>
                    <a:pt x="326" y="2029"/>
                  </a:lnTo>
                  <a:lnTo>
                    <a:pt x="342" y="2037"/>
                  </a:lnTo>
                  <a:lnTo>
                    <a:pt x="359" y="2041"/>
                  </a:lnTo>
                  <a:lnTo>
                    <a:pt x="376" y="2043"/>
                  </a:lnTo>
                  <a:lnTo>
                    <a:pt x="394" y="2044"/>
                  </a:lnTo>
                  <a:lnTo>
                    <a:pt x="432" y="2041"/>
                  </a:lnTo>
                  <a:lnTo>
                    <a:pt x="475" y="2031"/>
                  </a:lnTo>
                  <a:lnTo>
                    <a:pt x="519" y="2014"/>
                  </a:lnTo>
                  <a:lnTo>
                    <a:pt x="565" y="1990"/>
                  </a:lnTo>
                  <a:lnTo>
                    <a:pt x="613" y="1963"/>
                  </a:lnTo>
                  <a:lnTo>
                    <a:pt x="662" y="1933"/>
                  </a:lnTo>
                  <a:lnTo>
                    <a:pt x="712" y="1896"/>
                  </a:lnTo>
                  <a:lnTo>
                    <a:pt x="762" y="1857"/>
                  </a:lnTo>
                  <a:lnTo>
                    <a:pt x="810" y="1815"/>
                  </a:lnTo>
                  <a:lnTo>
                    <a:pt x="856" y="1773"/>
                  </a:lnTo>
                  <a:lnTo>
                    <a:pt x="903" y="1726"/>
                  </a:lnTo>
                  <a:lnTo>
                    <a:pt x="945" y="1680"/>
                  </a:lnTo>
                  <a:lnTo>
                    <a:pt x="984" y="1634"/>
                  </a:lnTo>
                  <a:lnTo>
                    <a:pt x="1020" y="1587"/>
                  </a:lnTo>
                  <a:lnTo>
                    <a:pt x="1053" y="1543"/>
                  </a:lnTo>
                  <a:lnTo>
                    <a:pt x="1082" y="1497"/>
                  </a:lnTo>
                  <a:lnTo>
                    <a:pt x="1111" y="1447"/>
                  </a:lnTo>
                  <a:lnTo>
                    <a:pt x="1138" y="1391"/>
                  </a:lnTo>
                  <a:lnTo>
                    <a:pt x="1165" y="1335"/>
                  </a:lnTo>
                  <a:lnTo>
                    <a:pt x="1190" y="1275"/>
                  </a:lnTo>
                  <a:lnTo>
                    <a:pt x="1213" y="1213"/>
                  </a:lnTo>
                  <a:lnTo>
                    <a:pt x="1234" y="1150"/>
                  </a:lnTo>
                  <a:lnTo>
                    <a:pt x="1254" y="1086"/>
                  </a:lnTo>
                  <a:lnTo>
                    <a:pt x="1271" y="1022"/>
                  </a:lnTo>
                  <a:lnTo>
                    <a:pt x="1286" y="959"/>
                  </a:lnTo>
                  <a:lnTo>
                    <a:pt x="1298" y="897"/>
                  </a:lnTo>
                  <a:lnTo>
                    <a:pt x="1308" y="835"/>
                  </a:lnTo>
                  <a:lnTo>
                    <a:pt x="1315" y="777"/>
                  </a:lnTo>
                  <a:lnTo>
                    <a:pt x="1319" y="722"/>
                  </a:lnTo>
                  <a:lnTo>
                    <a:pt x="1321" y="668"/>
                  </a:lnTo>
                  <a:lnTo>
                    <a:pt x="1319" y="617"/>
                  </a:lnTo>
                  <a:lnTo>
                    <a:pt x="1313" y="569"/>
                  </a:lnTo>
                  <a:lnTo>
                    <a:pt x="1304" y="521"/>
                  </a:lnTo>
                  <a:lnTo>
                    <a:pt x="1290" y="473"/>
                  </a:lnTo>
                  <a:lnTo>
                    <a:pt x="1275" y="425"/>
                  </a:lnTo>
                  <a:lnTo>
                    <a:pt x="1256" y="376"/>
                  </a:lnTo>
                  <a:lnTo>
                    <a:pt x="1232" y="330"/>
                  </a:lnTo>
                  <a:lnTo>
                    <a:pt x="1207" y="286"/>
                  </a:lnTo>
                  <a:lnTo>
                    <a:pt x="1182" y="243"/>
                  </a:lnTo>
                  <a:lnTo>
                    <a:pt x="1153" y="203"/>
                  </a:lnTo>
                  <a:lnTo>
                    <a:pt x="1124" y="164"/>
                  </a:lnTo>
                  <a:lnTo>
                    <a:pt x="1094" y="130"/>
                  </a:lnTo>
                  <a:lnTo>
                    <a:pt x="1063" y="99"/>
                  </a:lnTo>
                  <a:lnTo>
                    <a:pt x="1032" y="72"/>
                  </a:lnTo>
                  <a:lnTo>
                    <a:pt x="999" y="49"/>
                  </a:lnTo>
                  <a:lnTo>
                    <a:pt x="968" y="29"/>
                  </a:lnTo>
                  <a:lnTo>
                    <a:pt x="937" y="16"/>
                  </a:lnTo>
                  <a:lnTo>
                    <a:pt x="907" y="6"/>
                  </a:lnTo>
                  <a:lnTo>
                    <a:pt x="872" y="2"/>
                  </a:lnTo>
                  <a:lnTo>
                    <a:pt x="837" y="0"/>
                  </a:lnTo>
                  <a:lnTo>
                    <a:pt x="799" y="0"/>
                  </a:lnTo>
                  <a:lnTo>
                    <a:pt x="760" y="6"/>
                  </a:lnTo>
                  <a:lnTo>
                    <a:pt x="721" y="14"/>
                  </a:lnTo>
                  <a:lnTo>
                    <a:pt x="681" y="25"/>
                  </a:lnTo>
                  <a:lnTo>
                    <a:pt x="640" y="41"/>
                  </a:lnTo>
                  <a:lnTo>
                    <a:pt x="600" y="60"/>
                  </a:lnTo>
                  <a:lnTo>
                    <a:pt x="559" y="81"/>
                  </a:lnTo>
                  <a:lnTo>
                    <a:pt x="521" y="104"/>
                  </a:lnTo>
                  <a:lnTo>
                    <a:pt x="482" y="131"/>
                  </a:lnTo>
                  <a:lnTo>
                    <a:pt x="446" y="162"/>
                  </a:lnTo>
                  <a:lnTo>
                    <a:pt x="411" y="195"/>
                  </a:lnTo>
                  <a:lnTo>
                    <a:pt x="378" y="232"/>
                  </a:lnTo>
                  <a:lnTo>
                    <a:pt x="347" y="270"/>
                  </a:lnTo>
                  <a:close/>
                </a:path>
              </a:pathLst>
            </a:custGeom>
            <a:noFill/>
            <a:ln w="7620" cap="flat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91" name="Freeform 91">
              <a:extLst>
                <a:ext uri="{FF2B5EF4-FFF2-40B4-BE49-F238E27FC236}">
                  <a16:creationId xmlns:a16="http://schemas.microsoft.com/office/drawing/2014/main" id="{1C9F384E-EA19-3143-939A-A2F0F8D222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0600" y="2867025"/>
              <a:ext cx="2422525" cy="1352550"/>
            </a:xfrm>
            <a:custGeom>
              <a:avLst/>
              <a:gdLst>
                <a:gd name="T0" fmla="*/ 897 w 1770"/>
                <a:gd name="T1" fmla="*/ 2 h 1366"/>
                <a:gd name="T2" fmla="*/ 835 w 1770"/>
                <a:gd name="T3" fmla="*/ 18 h 1366"/>
                <a:gd name="T4" fmla="*/ 766 w 1770"/>
                <a:gd name="T5" fmla="*/ 43 h 1366"/>
                <a:gd name="T6" fmla="*/ 692 w 1770"/>
                <a:gd name="T7" fmla="*/ 78 h 1366"/>
                <a:gd name="T8" fmla="*/ 617 w 1770"/>
                <a:gd name="T9" fmla="*/ 122 h 1366"/>
                <a:gd name="T10" fmla="*/ 501 w 1770"/>
                <a:gd name="T11" fmla="*/ 201 h 1366"/>
                <a:gd name="T12" fmla="*/ 349 w 1770"/>
                <a:gd name="T13" fmla="*/ 324 h 1366"/>
                <a:gd name="T14" fmla="*/ 210 w 1770"/>
                <a:gd name="T15" fmla="*/ 458 h 1366"/>
                <a:gd name="T16" fmla="*/ 151 w 1770"/>
                <a:gd name="T17" fmla="*/ 523 h 1366"/>
                <a:gd name="T18" fmla="*/ 98 w 1770"/>
                <a:gd name="T19" fmla="*/ 589 h 1366"/>
                <a:gd name="T20" fmla="*/ 56 w 1770"/>
                <a:gd name="T21" fmla="*/ 652 h 1366"/>
                <a:gd name="T22" fmla="*/ 25 w 1770"/>
                <a:gd name="T23" fmla="*/ 710 h 1366"/>
                <a:gd name="T24" fmla="*/ 6 w 1770"/>
                <a:gd name="T25" fmla="*/ 764 h 1366"/>
                <a:gd name="T26" fmla="*/ 0 w 1770"/>
                <a:gd name="T27" fmla="*/ 810 h 1366"/>
                <a:gd name="T28" fmla="*/ 10 w 1770"/>
                <a:gd name="T29" fmla="*/ 855 h 1366"/>
                <a:gd name="T30" fmla="*/ 33 w 1770"/>
                <a:gd name="T31" fmla="*/ 899 h 1366"/>
                <a:gd name="T32" fmla="*/ 70 w 1770"/>
                <a:gd name="T33" fmla="*/ 947 h 1366"/>
                <a:gd name="T34" fmla="*/ 116 w 1770"/>
                <a:gd name="T35" fmla="*/ 996 h 1366"/>
                <a:gd name="T36" fmla="*/ 174 w 1770"/>
                <a:gd name="T37" fmla="*/ 1042 h 1366"/>
                <a:gd name="T38" fmla="*/ 237 w 1770"/>
                <a:gd name="T39" fmla="*/ 1088 h 1366"/>
                <a:gd name="T40" fmla="*/ 386 w 1770"/>
                <a:gd name="T41" fmla="*/ 1177 h 1366"/>
                <a:gd name="T42" fmla="*/ 546 w 1770"/>
                <a:gd name="T43" fmla="*/ 1254 h 1366"/>
                <a:gd name="T44" fmla="*/ 708 w 1770"/>
                <a:gd name="T45" fmla="*/ 1316 h 1366"/>
                <a:gd name="T46" fmla="*/ 856 w 1770"/>
                <a:gd name="T47" fmla="*/ 1354 h 1366"/>
                <a:gd name="T48" fmla="*/ 955 w 1770"/>
                <a:gd name="T49" fmla="*/ 1366 h 1366"/>
                <a:gd name="T50" fmla="*/ 1013 w 1770"/>
                <a:gd name="T51" fmla="*/ 1364 h 1366"/>
                <a:gd name="T52" fmla="*/ 1072 w 1770"/>
                <a:gd name="T53" fmla="*/ 1354 h 1366"/>
                <a:gd name="T54" fmla="*/ 1167 w 1770"/>
                <a:gd name="T55" fmla="*/ 1325 h 1366"/>
                <a:gd name="T56" fmla="*/ 1298 w 1770"/>
                <a:gd name="T57" fmla="*/ 1266 h 1366"/>
                <a:gd name="T58" fmla="*/ 1427 w 1770"/>
                <a:gd name="T59" fmla="*/ 1186 h 1366"/>
                <a:gd name="T60" fmla="*/ 1547 w 1770"/>
                <a:gd name="T61" fmla="*/ 1096 h 1366"/>
                <a:gd name="T62" fmla="*/ 1649 w 1770"/>
                <a:gd name="T63" fmla="*/ 996 h 1366"/>
                <a:gd name="T64" fmla="*/ 1709 w 1770"/>
                <a:gd name="T65" fmla="*/ 920 h 1366"/>
                <a:gd name="T66" fmla="*/ 1738 w 1770"/>
                <a:gd name="T67" fmla="*/ 870 h 1366"/>
                <a:gd name="T68" fmla="*/ 1759 w 1770"/>
                <a:gd name="T69" fmla="*/ 820 h 1366"/>
                <a:gd name="T70" fmla="*/ 1768 w 1770"/>
                <a:gd name="T71" fmla="*/ 774 h 1366"/>
                <a:gd name="T72" fmla="*/ 1768 w 1770"/>
                <a:gd name="T73" fmla="*/ 729 h 1366"/>
                <a:gd name="T74" fmla="*/ 1755 w 1770"/>
                <a:gd name="T75" fmla="*/ 681 h 1366"/>
                <a:gd name="T76" fmla="*/ 1732 w 1770"/>
                <a:gd name="T77" fmla="*/ 625 h 1366"/>
                <a:gd name="T78" fmla="*/ 1699 w 1770"/>
                <a:gd name="T79" fmla="*/ 567 h 1366"/>
                <a:gd name="T80" fmla="*/ 1657 w 1770"/>
                <a:gd name="T81" fmla="*/ 506 h 1366"/>
                <a:gd name="T82" fmla="*/ 1579 w 1770"/>
                <a:gd name="T83" fmla="*/ 411 h 1366"/>
                <a:gd name="T84" fmla="*/ 1458 w 1770"/>
                <a:gd name="T85" fmla="*/ 286 h 1366"/>
                <a:gd name="T86" fmla="*/ 1321 w 1770"/>
                <a:gd name="T87" fmla="*/ 174 h 1366"/>
                <a:gd name="T88" fmla="*/ 1217 w 1770"/>
                <a:gd name="T89" fmla="*/ 103 h 1366"/>
                <a:gd name="T90" fmla="*/ 1148 w 1770"/>
                <a:gd name="T91" fmla="*/ 62 h 1366"/>
                <a:gd name="T92" fmla="*/ 1080 w 1770"/>
                <a:gd name="T93" fmla="*/ 33 h 1366"/>
                <a:gd name="T94" fmla="*/ 1014 w 1770"/>
                <a:gd name="T95" fmla="*/ 12 h 1366"/>
                <a:gd name="T96" fmla="*/ 955 w 1770"/>
                <a:gd name="T97" fmla="*/ 0 h 1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770" h="1366">
                  <a:moveTo>
                    <a:pt x="926" y="0"/>
                  </a:moveTo>
                  <a:lnTo>
                    <a:pt x="897" y="2"/>
                  </a:lnTo>
                  <a:lnTo>
                    <a:pt x="866" y="8"/>
                  </a:lnTo>
                  <a:lnTo>
                    <a:pt x="835" y="18"/>
                  </a:lnTo>
                  <a:lnTo>
                    <a:pt x="800" y="29"/>
                  </a:lnTo>
                  <a:lnTo>
                    <a:pt x="766" y="43"/>
                  </a:lnTo>
                  <a:lnTo>
                    <a:pt x="729" y="60"/>
                  </a:lnTo>
                  <a:lnTo>
                    <a:pt x="692" y="78"/>
                  </a:lnTo>
                  <a:lnTo>
                    <a:pt x="656" y="99"/>
                  </a:lnTo>
                  <a:lnTo>
                    <a:pt x="617" y="122"/>
                  </a:lnTo>
                  <a:lnTo>
                    <a:pt x="579" y="147"/>
                  </a:lnTo>
                  <a:lnTo>
                    <a:pt x="501" y="201"/>
                  </a:lnTo>
                  <a:lnTo>
                    <a:pt x="424" y="261"/>
                  </a:lnTo>
                  <a:lnTo>
                    <a:pt x="349" y="324"/>
                  </a:lnTo>
                  <a:lnTo>
                    <a:pt x="278" y="390"/>
                  </a:lnTo>
                  <a:lnTo>
                    <a:pt x="210" y="458"/>
                  </a:lnTo>
                  <a:lnTo>
                    <a:pt x="179" y="490"/>
                  </a:lnTo>
                  <a:lnTo>
                    <a:pt x="151" y="523"/>
                  </a:lnTo>
                  <a:lnTo>
                    <a:pt x="124" y="556"/>
                  </a:lnTo>
                  <a:lnTo>
                    <a:pt x="98" y="589"/>
                  </a:lnTo>
                  <a:lnTo>
                    <a:pt x="77" y="621"/>
                  </a:lnTo>
                  <a:lnTo>
                    <a:pt x="56" y="652"/>
                  </a:lnTo>
                  <a:lnTo>
                    <a:pt x="39" y="681"/>
                  </a:lnTo>
                  <a:lnTo>
                    <a:pt x="25" y="710"/>
                  </a:lnTo>
                  <a:lnTo>
                    <a:pt x="14" y="739"/>
                  </a:lnTo>
                  <a:lnTo>
                    <a:pt x="6" y="764"/>
                  </a:lnTo>
                  <a:lnTo>
                    <a:pt x="2" y="787"/>
                  </a:lnTo>
                  <a:lnTo>
                    <a:pt x="0" y="810"/>
                  </a:lnTo>
                  <a:lnTo>
                    <a:pt x="2" y="832"/>
                  </a:lnTo>
                  <a:lnTo>
                    <a:pt x="10" y="855"/>
                  </a:lnTo>
                  <a:lnTo>
                    <a:pt x="19" y="878"/>
                  </a:lnTo>
                  <a:lnTo>
                    <a:pt x="33" y="899"/>
                  </a:lnTo>
                  <a:lnTo>
                    <a:pt x="50" y="924"/>
                  </a:lnTo>
                  <a:lnTo>
                    <a:pt x="70" y="947"/>
                  </a:lnTo>
                  <a:lnTo>
                    <a:pt x="91" y="970"/>
                  </a:lnTo>
                  <a:lnTo>
                    <a:pt x="116" y="996"/>
                  </a:lnTo>
                  <a:lnTo>
                    <a:pt x="143" y="1019"/>
                  </a:lnTo>
                  <a:lnTo>
                    <a:pt x="174" y="1042"/>
                  </a:lnTo>
                  <a:lnTo>
                    <a:pt x="205" y="1065"/>
                  </a:lnTo>
                  <a:lnTo>
                    <a:pt x="237" y="1088"/>
                  </a:lnTo>
                  <a:lnTo>
                    <a:pt x="309" y="1134"/>
                  </a:lnTo>
                  <a:lnTo>
                    <a:pt x="386" y="1177"/>
                  </a:lnTo>
                  <a:lnTo>
                    <a:pt x="465" y="1217"/>
                  </a:lnTo>
                  <a:lnTo>
                    <a:pt x="546" y="1254"/>
                  </a:lnTo>
                  <a:lnTo>
                    <a:pt x="627" y="1287"/>
                  </a:lnTo>
                  <a:lnTo>
                    <a:pt x="708" y="1316"/>
                  </a:lnTo>
                  <a:lnTo>
                    <a:pt x="785" y="1337"/>
                  </a:lnTo>
                  <a:lnTo>
                    <a:pt x="856" y="1354"/>
                  </a:lnTo>
                  <a:lnTo>
                    <a:pt x="924" y="1364"/>
                  </a:lnTo>
                  <a:lnTo>
                    <a:pt x="955" y="1366"/>
                  </a:lnTo>
                  <a:lnTo>
                    <a:pt x="984" y="1366"/>
                  </a:lnTo>
                  <a:lnTo>
                    <a:pt x="1013" y="1364"/>
                  </a:lnTo>
                  <a:lnTo>
                    <a:pt x="1041" y="1360"/>
                  </a:lnTo>
                  <a:lnTo>
                    <a:pt x="1072" y="1354"/>
                  </a:lnTo>
                  <a:lnTo>
                    <a:pt x="1103" y="1346"/>
                  </a:lnTo>
                  <a:lnTo>
                    <a:pt x="1167" y="1325"/>
                  </a:lnTo>
                  <a:lnTo>
                    <a:pt x="1232" y="1298"/>
                  </a:lnTo>
                  <a:lnTo>
                    <a:pt x="1298" y="1266"/>
                  </a:lnTo>
                  <a:lnTo>
                    <a:pt x="1363" y="1229"/>
                  </a:lnTo>
                  <a:lnTo>
                    <a:pt x="1427" y="1186"/>
                  </a:lnTo>
                  <a:lnTo>
                    <a:pt x="1489" y="1142"/>
                  </a:lnTo>
                  <a:lnTo>
                    <a:pt x="1547" y="1096"/>
                  </a:lnTo>
                  <a:lnTo>
                    <a:pt x="1601" y="1046"/>
                  </a:lnTo>
                  <a:lnTo>
                    <a:pt x="1649" y="996"/>
                  </a:lnTo>
                  <a:lnTo>
                    <a:pt x="1691" y="945"/>
                  </a:lnTo>
                  <a:lnTo>
                    <a:pt x="1709" y="920"/>
                  </a:lnTo>
                  <a:lnTo>
                    <a:pt x="1724" y="895"/>
                  </a:lnTo>
                  <a:lnTo>
                    <a:pt x="1738" y="870"/>
                  </a:lnTo>
                  <a:lnTo>
                    <a:pt x="1749" y="845"/>
                  </a:lnTo>
                  <a:lnTo>
                    <a:pt x="1759" y="820"/>
                  </a:lnTo>
                  <a:lnTo>
                    <a:pt x="1765" y="797"/>
                  </a:lnTo>
                  <a:lnTo>
                    <a:pt x="1768" y="774"/>
                  </a:lnTo>
                  <a:lnTo>
                    <a:pt x="1770" y="753"/>
                  </a:lnTo>
                  <a:lnTo>
                    <a:pt x="1768" y="729"/>
                  </a:lnTo>
                  <a:lnTo>
                    <a:pt x="1763" y="706"/>
                  </a:lnTo>
                  <a:lnTo>
                    <a:pt x="1755" y="681"/>
                  </a:lnTo>
                  <a:lnTo>
                    <a:pt x="1745" y="654"/>
                  </a:lnTo>
                  <a:lnTo>
                    <a:pt x="1732" y="625"/>
                  </a:lnTo>
                  <a:lnTo>
                    <a:pt x="1716" y="596"/>
                  </a:lnTo>
                  <a:lnTo>
                    <a:pt x="1699" y="567"/>
                  </a:lnTo>
                  <a:lnTo>
                    <a:pt x="1678" y="537"/>
                  </a:lnTo>
                  <a:lnTo>
                    <a:pt x="1657" y="506"/>
                  </a:lnTo>
                  <a:lnTo>
                    <a:pt x="1632" y="473"/>
                  </a:lnTo>
                  <a:lnTo>
                    <a:pt x="1579" y="411"/>
                  </a:lnTo>
                  <a:lnTo>
                    <a:pt x="1520" y="348"/>
                  </a:lnTo>
                  <a:lnTo>
                    <a:pt x="1458" y="286"/>
                  </a:lnTo>
                  <a:lnTo>
                    <a:pt x="1390" y="228"/>
                  </a:lnTo>
                  <a:lnTo>
                    <a:pt x="1321" y="174"/>
                  </a:lnTo>
                  <a:lnTo>
                    <a:pt x="1252" y="124"/>
                  </a:lnTo>
                  <a:lnTo>
                    <a:pt x="1217" y="103"/>
                  </a:lnTo>
                  <a:lnTo>
                    <a:pt x="1182" y="81"/>
                  </a:lnTo>
                  <a:lnTo>
                    <a:pt x="1148" y="62"/>
                  </a:lnTo>
                  <a:lnTo>
                    <a:pt x="1113" y="47"/>
                  </a:lnTo>
                  <a:lnTo>
                    <a:pt x="1080" y="33"/>
                  </a:lnTo>
                  <a:lnTo>
                    <a:pt x="1047" y="20"/>
                  </a:lnTo>
                  <a:lnTo>
                    <a:pt x="1014" y="12"/>
                  </a:lnTo>
                  <a:lnTo>
                    <a:pt x="984" y="4"/>
                  </a:lnTo>
                  <a:lnTo>
                    <a:pt x="955" y="0"/>
                  </a:lnTo>
                  <a:lnTo>
                    <a:pt x="926" y="0"/>
                  </a:lnTo>
                  <a:close/>
                </a:path>
              </a:pathLst>
            </a:custGeom>
            <a:noFill/>
            <a:ln w="7620" cap="flat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92" name="Freeform 92">
              <a:extLst>
                <a:ext uri="{FF2B5EF4-FFF2-40B4-BE49-F238E27FC236}">
                  <a16:creationId xmlns:a16="http://schemas.microsoft.com/office/drawing/2014/main" id="{93EECCF7-2A89-5240-8048-ED841B9303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5588" y="1774825"/>
              <a:ext cx="7099300" cy="4781550"/>
            </a:xfrm>
            <a:custGeom>
              <a:avLst/>
              <a:gdLst>
                <a:gd name="T0" fmla="*/ 432 w 5187"/>
                <a:gd name="T1" fmla="*/ 132 h 4829"/>
                <a:gd name="T2" fmla="*/ 260 w 5187"/>
                <a:gd name="T3" fmla="*/ 220 h 4829"/>
                <a:gd name="T4" fmla="*/ 144 w 5187"/>
                <a:gd name="T5" fmla="*/ 351 h 4829"/>
                <a:gd name="T6" fmla="*/ 92 w 5187"/>
                <a:gd name="T7" fmla="*/ 465 h 4829"/>
                <a:gd name="T8" fmla="*/ 52 w 5187"/>
                <a:gd name="T9" fmla="*/ 616 h 4829"/>
                <a:gd name="T10" fmla="*/ 25 w 5187"/>
                <a:gd name="T11" fmla="*/ 810 h 4829"/>
                <a:gd name="T12" fmla="*/ 7 w 5187"/>
                <a:gd name="T13" fmla="*/ 1071 h 4829"/>
                <a:gd name="T14" fmla="*/ 0 w 5187"/>
                <a:gd name="T15" fmla="*/ 1387 h 4829"/>
                <a:gd name="T16" fmla="*/ 5 w 5187"/>
                <a:gd name="T17" fmla="*/ 1834 h 4829"/>
                <a:gd name="T18" fmla="*/ 55 w 5187"/>
                <a:gd name="T19" fmla="*/ 2584 h 4829"/>
                <a:gd name="T20" fmla="*/ 113 w 5187"/>
                <a:gd name="T21" fmla="*/ 3018 h 4829"/>
                <a:gd name="T22" fmla="*/ 175 w 5187"/>
                <a:gd name="T23" fmla="*/ 3317 h 4829"/>
                <a:gd name="T24" fmla="*/ 322 w 5187"/>
                <a:gd name="T25" fmla="*/ 3770 h 4829"/>
                <a:gd name="T26" fmla="*/ 545 w 5187"/>
                <a:gd name="T27" fmla="*/ 4262 h 4829"/>
                <a:gd name="T28" fmla="*/ 676 w 5187"/>
                <a:gd name="T29" fmla="*/ 4470 h 4829"/>
                <a:gd name="T30" fmla="*/ 815 w 5187"/>
                <a:gd name="T31" fmla="*/ 4642 h 4829"/>
                <a:gd name="T32" fmla="*/ 964 w 5187"/>
                <a:gd name="T33" fmla="*/ 4764 h 4829"/>
                <a:gd name="T34" fmla="*/ 1120 w 5187"/>
                <a:gd name="T35" fmla="*/ 4825 h 4829"/>
                <a:gd name="T36" fmla="*/ 1280 w 5187"/>
                <a:gd name="T37" fmla="*/ 4810 h 4829"/>
                <a:gd name="T38" fmla="*/ 1452 w 5187"/>
                <a:gd name="T39" fmla="*/ 4692 h 4829"/>
                <a:gd name="T40" fmla="*/ 1635 w 5187"/>
                <a:gd name="T41" fmla="*/ 4494 h 4829"/>
                <a:gd name="T42" fmla="*/ 1826 w 5187"/>
                <a:gd name="T43" fmla="*/ 4245 h 4829"/>
                <a:gd name="T44" fmla="*/ 2175 w 5187"/>
                <a:gd name="T45" fmla="*/ 3765 h 4829"/>
                <a:gd name="T46" fmla="*/ 2381 w 5187"/>
                <a:gd name="T47" fmla="*/ 3514 h 4829"/>
                <a:gd name="T48" fmla="*/ 2591 w 5187"/>
                <a:gd name="T49" fmla="*/ 3317 h 4829"/>
                <a:gd name="T50" fmla="*/ 2803 w 5187"/>
                <a:gd name="T51" fmla="*/ 3200 h 4829"/>
                <a:gd name="T52" fmla="*/ 3033 w 5187"/>
                <a:gd name="T53" fmla="*/ 3157 h 4829"/>
                <a:gd name="T54" fmla="*/ 3280 w 5187"/>
                <a:gd name="T55" fmla="*/ 3165 h 4829"/>
                <a:gd name="T56" fmla="*/ 3725 w 5187"/>
                <a:gd name="T57" fmla="*/ 3254 h 4829"/>
                <a:gd name="T58" fmla="*/ 4146 w 5187"/>
                <a:gd name="T59" fmla="*/ 3350 h 4829"/>
                <a:gd name="T60" fmla="*/ 4358 w 5187"/>
                <a:gd name="T61" fmla="*/ 3373 h 4829"/>
                <a:gd name="T62" fmla="*/ 4539 w 5187"/>
                <a:gd name="T63" fmla="*/ 3352 h 4829"/>
                <a:gd name="T64" fmla="*/ 4687 w 5187"/>
                <a:gd name="T65" fmla="*/ 3275 h 4829"/>
                <a:gd name="T66" fmla="*/ 4855 w 5187"/>
                <a:gd name="T67" fmla="*/ 3132 h 4829"/>
                <a:gd name="T68" fmla="*/ 5067 w 5187"/>
                <a:gd name="T69" fmla="*/ 2829 h 4829"/>
                <a:gd name="T70" fmla="*/ 5160 w 5187"/>
                <a:gd name="T71" fmla="*/ 2569 h 4829"/>
                <a:gd name="T72" fmla="*/ 5185 w 5187"/>
                <a:gd name="T73" fmla="*/ 2394 h 4829"/>
                <a:gd name="T74" fmla="*/ 5175 w 5187"/>
                <a:gd name="T75" fmla="*/ 2224 h 4829"/>
                <a:gd name="T76" fmla="*/ 5123 w 5187"/>
                <a:gd name="T77" fmla="*/ 2064 h 4829"/>
                <a:gd name="T78" fmla="*/ 5021 w 5187"/>
                <a:gd name="T79" fmla="*/ 1892 h 4829"/>
                <a:gd name="T80" fmla="*/ 4874 w 5187"/>
                <a:gd name="T81" fmla="*/ 1709 h 4829"/>
                <a:gd name="T82" fmla="*/ 4597 w 5187"/>
                <a:gd name="T83" fmla="*/ 1433 h 4829"/>
                <a:gd name="T84" fmla="*/ 4180 w 5187"/>
                <a:gd name="T85" fmla="*/ 1096 h 4829"/>
                <a:gd name="T86" fmla="*/ 3879 w 5187"/>
                <a:gd name="T87" fmla="*/ 899 h 4829"/>
                <a:gd name="T88" fmla="*/ 3704 w 5187"/>
                <a:gd name="T89" fmla="*/ 808 h 4829"/>
                <a:gd name="T90" fmla="*/ 3521 w 5187"/>
                <a:gd name="T91" fmla="*/ 753 h 4829"/>
                <a:gd name="T92" fmla="*/ 3145 w 5187"/>
                <a:gd name="T93" fmla="*/ 718 h 4829"/>
                <a:gd name="T94" fmla="*/ 2780 w 5187"/>
                <a:gd name="T95" fmla="*/ 724 h 4829"/>
                <a:gd name="T96" fmla="*/ 2468 w 5187"/>
                <a:gd name="T97" fmla="*/ 697 h 4829"/>
                <a:gd name="T98" fmla="*/ 2292 w 5187"/>
                <a:gd name="T99" fmla="*/ 618 h 4829"/>
                <a:gd name="T100" fmla="*/ 2136 w 5187"/>
                <a:gd name="T101" fmla="*/ 459 h 4829"/>
                <a:gd name="T102" fmla="*/ 1990 w 5187"/>
                <a:gd name="T103" fmla="*/ 241 h 4829"/>
                <a:gd name="T104" fmla="*/ 1832 w 5187"/>
                <a:gd name="T105" fmla="*/ 106 h 4829"/>
                <a:gd name="T106" fmla="*/ 1581 w 5187"/>
                <a:gd name="T107" fmla="*/ 37 h 4829"/>
                <a:gd name="T108" fmla="*/ 1261 w 5187"/>
                <a:gd name="T109" fmla="*/ 2 h 4829"/>
                <a:gd name="T110" fmla="*/ 931 w 5187"/>
                <a:gd name="T111" fmla="*/ 6 h 4829"/>
                <a:gd name="T112" fmla="*/ 644 w 5187"/>
                <a:gd name="T113" fmla="*/ 54 h 48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187" h="4829">
                  <a:moveTo>
                    <a:pt x="586" y="74"/>
                  </a:moveTo>
                  <a:lnTo>
                    <a:pt x="532" y="93"/>
                  </a:lnTo>
                  <a:lnTo>
                    <a:pt x="482" y="112"/>
                  </a:lnTo>
                  <a:lnTo>
                    <a:pt x="432" y="132"/>
                  </a:lnTo>
                  <a:lnTo>
                    <a:pt x="385" y="151"/>
                  </a:lnTo>
                  <a:lnTo>
                    <a:pt x="341" y="170"/>
                  </a:lnTo>
                  <a:lnTo>
                    <a:pt x="300" y="193"/>
                  </a:lnTo>
                  <a:lnTo>
                    <a:pt x="260" y="220"/>
                  </a:lnTo>
                  <a:lnTo>
                    <a:pt x="223" y="251"/>
                  </a:lnTo>
                  <a:lnTo>
                    <a:pt x="190" y="286"/>
                  </a:lnTo>
                  <a:lnTo>
                    <a:pt x="158" y="328"/>
                  </a:lnTo>
                  <a:lnTo>
                    <a:pt x="144" y="351"/>
                  </a:lnTo>
                  <a:lnTo>
                    <a:pt x="129" y="376"/>
                  </a:lnTo>
                  <a:lnTo>
                    <a:pt x="117" y="403"/>
                  </a:lnTo>
                  <a:lnTo>
                    <a:pt x="104" y="432"/>
                  </a:lnTo>
                  <a:lnTo>
                    <a:pt x="92" y="465"/>
                  </a:lnTo>
                  <a:lnTo>
                    <a:pt x="81" y="498"/>
                  </a:lnTo>
                  <a:lnTo>
                    <a:pt x="71" y="535"/>
                  </a:lnTo>
                  <a:lnTo>
                    <a:pt x="61" y="573"/>
                  </a:lnTo>
                  <a:lnTo>
                    <a:pt x="52" y="616"/>
                  </a:lnTo>
                  <a:lnTo>
                    <a:pt x="44" y="660"/>
                  </a:lnTo>
                  <a:lnTo>
                    <a:pt x="36" y="706"/>
                  </a:lnTo>
                  <a:lnTo>
                    <a:pt x="30" y="756"/>
                  </a:lnTo>
                  <a:lnTo>
                    <a:pt x="25" y="810"/>
                  </a:lnTo>
                  <a:lnTo>
                    <a:pt x="19" y="870"/>
                  </a:lnTo>
                  <a:lnTo>
                    <a:pt x="15" y="932"/>
                  </a:lnTo>
                  <a:lnTo>
                    <a:pt x="11" y="999"/>
                  </a:lnTo>
                  <a:lnTo>
                    <a:pt x="7" y="1071"/>
                  </a:lnTo>
                  <a:lnTo>
                    <a:pt x="5" y="1146"/>
                  </a:lnTo>
                  <a:lnTo>
                    <a:pt x="1" y="1223"/>
                  </a:lnTo>
                  <a:lnTo>
                    <a:pt x="1" y="1304"/>
                  </a:lnTo>
                  <a:lnTo>
                    <a:pt x="0" y="1387"/>
                  </a:lnTo>
                  <a:lnTo>
                    <a:pt x="0" y="1474"/>
                  </a:lnTo>
                  <a:lnTo>
                    <a:pt x="0" y="1561"/>
                  </a:lnTo>
                  <a:lnTo>
                    <a:pt x="1" y="1651"/>
                  </a:lnTo>
                  <a:lnTo>
                    <a:pt x="5" y="1834"/>
                  </a:lnTo>
                  <a:lnTo>
                    <a:pt x="13" y="2021"/>
                  </a:lnTo>
                  <a:lnTo>
                    <a:pt x="25" y="2210"/>
                  </a:lnTo>
                  <a:lnTo>
                    <a:pt x="38" y="2399"/>
                  </a:lnTo>
                  <a:lnTo>
                    <a:pt x="55" y="2584"/>
                  </a:lnTo>
                  <a:lnTo>
                    <a:pt x="77" y="2764"/>
                  </a:lnTo>
                  <a:lnTo>
                    <a:pt x="86" y="2851"/>
                  </a:lnTo>
                  <a:lnTo>
                    <a:pt x="100" y="2935"/>
                  </a:lnTo>
                  <a:lnTo>
                    <a:pt x="113" y="3018"/>
                  </a:lnTo>
                  <a:lnTo>
                    <a:pt x="127" y="3097"/>
                  </a:lnTo>
                  <a:lnTo>
                    <a:pt x="142" y="3175"/>
                  </a:lnTo>
                  <a:lnTo>
                    <a:pt x="158" y="3248"/>
                  </a:lnTo>
                  <a:lnTo>
                    <a:pt x="175" y="3317"/>
                  </a:lnTo>
                  <a:lnTo>
                    <a:pt x="192" y="3383"/>
                  </a:lnTo>
                  <a:lnTo>
                    <a:pt x="231" y="3512"/>
                  </a:lnTo>
                  <a:lnTo>
                    <a:pt x="273" y="3641"/>
                  </a:lnTo>
                  <a:lnTo>
                    <a:pt x="322" y="3770"/>
                  </a:lnTo>
                  <a:lnTo>
                    <a:pt x="372" y="3900"/>
                  </a:lnTo>
                  <a:lnTo>
                    <a:pt x="426" y="4025"/>
                  </a:lnTo>
                  <a:lnTo>
                    <a:pt x="484" y="4146"/>
                  </a:lnTo>
                  <a:lnTo>
                    <a:pt x="545" y="4262"/>
                  </a:lnTo>
                  <a:lnTo>
                    <a:pt x="576" y="4318"/>
                  </a:lnTo>
                  <a:lnTo>
                    <a:pt x="609" y="4370"/>
                  </a:lnTo>
                  <a:lnTo>
                    <a:pt x="642" y="4422"/>
                  </a:lnTo>
                  <a:lnTo>
                    <a:pt x="676" y="4470"/>
                  </a:lnTo>
                  <a:lnTo>
                    <a:pt x="709" y="4519"/>
                  </a:lnTo>
                  <a:lnTo>
                    <a:pt x="744" y="4563"/>
                  </a:lnTo>
                  <a:lnTo>
                    <a:pt x="781" y="4604"/>
                  </a:lnTo>
                  <a:lnTo>
                    <a:pt x="815" y="4642"/>
                  </a:lnTo>
                  <a:lnTo>
                    <a:pt x="852" y="4679"/>
                  </a:lnTo>
                  <a:lnTo>
                    <a:pt x="889" y="4710"/>
                  </a:lnTo>
                  <a:lnTo>
                    <a:pt x="927" y="4739"/>
                  </a:lnTo>
                  <a:lnTo>
                    <a:pt x="964" y="4764"/>
                  </a:lnTo>
                  <a:lnTo>
                    <a:pt x="1002" y="4785"/>
                  </a:lnTo>
                  <a:lnTo>
                    <a:pt x="1041" y="4802"/>
                  </a:lnTo>
                  <a:lnTo>
                    <a:pt x="1079" y="4816"/>
                  </a:lnTo>
                  <a:lnTo>
                    <a:pt x="1120" y="4825"/>
                  </a:lnTo>
                  <a:lnTo>
                    <a:pt x="1159" y="4829"/>
                  </a:lnTo>
                  <a:lnTo>
                    <a:pt x="1199" y="4829"/>
                  </a:lnTo>
                  <a:lnTo>
                    <a:pt x="1240" y="4823"/>
                  </a:lnTo>
                  <a:lnTo>
                    <a:pt x="1280" y="4810"/>
                  </a:lnTo>
                  <a:lnTo>
                    <a:pt x="1322" y="4789"/>
                  </a:lnTo>
                  <a:lnTo>
                    <a:pt x="1365" y="4762"/>
                  </a:lnTo>
                  <a:lnTo>
                    <a:pt x="1407" y="4731"/>
                  </a:lnTo>
                  <a:lnTo>
                    <a:pt x="1452" y="4692"/>
                  </a:lnTo>
                  <a:lnTo>
                    <a:pt x="1496" y="4650"/>
                  </a:lnTo>
                  <a:lnTo>
                    <a:pt x="1542" y="4602"/>
                  </a:lnTo>
                  <a:lnTo>
                    <a:pt x="1589" y="4550"/>
                  </a:lnTo>
                  <a:lnTo>
                    <a:pt x="1635" y="4494"/>
                  </a:lnTo>
                  <a:lnTo>
                    <a:pt x="1681" y="4436"/>
                  </a:lnTo>
                  <a:lnTo>
                    <a:pt x="1729" y="4374"/>
                  </a:lnTo>
                  <a:lnTo>
                    <a:pt x="1776" y="4310"/>
                  </a:lnTo>
                  <a:lnTo>
                    <a:pt x="1826" y="4245"/>
                  </a:lnTo>
                  <a:lnTo>
                    <a:pt x="1922" y="4108"/>
                  </a:lnTo>
                  <a:lnTo>
                    <a:pt x="2022" y="3969"/>
                  </a:lnTo>
                  <a:lnTo>
                    <a:pt x="2125" y="3832"/>
                  </a:lnTo>
                  <a:lnTo>
                    <a:pt x="2175" y="3765"/>
                  </a:lnTo>
                  <a:lnTo>
                    <a:pt x="2227" y="3699"/>
                  </a:lnTo>
                  <a:lnTo>
                    <a:pt x="2277" y="3635"/>
                  </a:lnTo>
                  <a:lnTo>
                    <a:pt x="2329" y="3574"/>
                  </a:lnTo>
                  <a:lnTo>
                    <a:pt x="2381" y="3514"/>
                  </a:lnTo>
                  <a:lnTo>
                    <a:pt x="2433" y="3460"/>
                  </a:lnTo>
                  <a:lnTo>
                    <a:pt x="2485" y="3408"/>
                  </a:lnTo>
                  <a:lnTo>
                    <a:pt x="2539" y="3360"/>
                  </a:lnTo>
                  <a:lnTo>
                    <a:pt x="2591" y="3317"/>
                  </a:lnTo>
                  <a:lnTo>
                    <a:pt x="2643" y="3281"/>
                  </a:lnTo>
                  <a:lnTo>
                    <a:pt x="2697" y="3248"/>
                  </a:lnTo>
                  <a:lnTo>
                    <a:pt x="2749" y="3221"/>
                  </a:lnTo>
                  <a:lnTo>
                    <a:pt x="2803" y="3200"/>
                  </a:lnTo>
                  <a:lnTo>
                    <a:pt x="2859" y="3182"/>
                  </a:lnTo>
                  <a:lnTo>
                    <a:pt x="2915" y="3171"/>
                  </a:lnTo>
                  <a:lnTo>
                    <a:pt x="2973" y="3161"/>
                  </a:lnTo>
                  <a:lnTo>
                    <a:pt x="3033" y="3157"/>
                  </a:lnTo>
                  <a:lnTo>
                    <a:pt x="3093" y="3155"/>
                  </a:lnTo>
                  <a:lnTo>
                    <a:pt x="3154" y="3155"/>
                  </a:lnTo>
                  <a:lnTo>
                    <a:pt x="3216" y="3159"/>
                  </a:lnTo>
                  <a:lnTo>
                    <a:pt x="3280" y="3165"/>
                  </a:lnTo>
                  <a:lnTo>
                    <a:pt x="3341" y="3175"/>
                  </a:lnTo>
                  <a:lnTo>
                    <a:pt x="3469" y="3196"/>
                  </a:lnTo>
                  <a:lnTo>
                    <a:pt x="3598" y="3223"/>
                  </a:lnTo>
                  <a:lnTo>
                    <a:pt x="3725" y="3254"/>
                  </a:lnTo>
                  <a:lnTo>
                    <a:pt x="3849" y="3284"/>
                  </a:lnTo>
                  <a:lnTo>
                    <a:pt x="3972" y="3313"/>
                  </a:lnTo>
                  <a:lnTo>
                    <a:pt x="4090" y="3338"/>
                  </a:lnTo>
                  <a:lnTo>
                    <a:pt x="4146" y="3350"/>
                  </a:lnTo>
                  <a:lnTo>
                    <a:pt x="4201" y="3360"/>
                  </a:lnTo>
                  <a:lnTo>
                    <a:pt x="4255" y="3365"/>
                  </a:lnTo>
                  <a:lnTo>
                    <a:pt x="4308" y="3371"/>
                  </a:lnTo>
                  <a:lnTo>
                    <a:pt x="4358" y="3373"/>
                  </a:lnTo>
                  <a:lnTo>
                    <a:pt x="4408" y="3373"/>
                  </a:lnTo>
                  <a:lnTo>
                    <a:pt x="4454" y="3369"/>
                  </a:lnTo>
                  <a:lnTo>
                    <a:pt x="4497" y="3362"/>
                  </a:lnTo>
                  <a:lnTo>
                    <a:pt x="4539" y="3352"/>
                  </a:lnTo>
                  <a:lnTo>
                    <a:pt x="4578" y="3337"/>
                  </a:lnTo>
                  <a:lnTo>
                    <a:pt x="4614" y="3319"/>
                  </a:lnTo>
                  <a:lnTo>
                    <a:pt x="4651" y="3298"/>
                  </a:lnTo>
                  <a:lnTo>
                    <a:pt x="4687" y="3275"/>
                  </a:lnTo>
                  <a:lnTo>
                    <a:pt x="4722" y="3252"/>
                  </a:lnTo>
                  <a:lnTo>
                    <a:pt x="4757" y="3225"/>
                  </a:lnTo>
                  <a:lnTo>
                    <a:pt x="4792" y="3196"/>
                  </a:lnTo>
                  <a:lnTo>
                    <a:pt x="4855" y="3132"/>
                  </a:lnTo>
                  <a:lnTo>
                    <a:pt x="4915" y="3065"/>
                  </a:lnTo>
                  <a:lnTo>
                    <a:pt x="4971" y="2989"/>
                  </a:lnTo>
                  <a:lnTo>
                    <a:pt x="5021" y="2910"/>
                  </a:lnTo>
                  <a:lnTo>
                    <a:pt x="5067" y="2829"/>
                  </a:lnTo>
                  <a:lnTo>
                    <a:pt x="5104" y="2745"/>
                  </a:lnTo>
                  <a:lnTo>
                    <a:pt x="5137" y="2658"/>
                  </a:lnTo>
                  <a:lnTo>
                    <a:pt x="5150" y="2613"/>
                  </a:lnTo>
                  <a:lnTo>
                    <a:pt x="5160" y="2569"/>
                  </a:lnTo>
                  <a:lnTo>
                    <a:pt x="5170" y="2525"/>
                  </a:lnTo>
                  <a:lnTo>
                    <a:pt x="5177" y="2480"/>
                  </a:lnTo>
                  <a:lnTo>
                    <a:pt x="5183" y="2436"/>
                  </a:lnTo>
                  <a:lnTo>
                    <a:pt x="5185" y="2394"/>
                  </a:lnTo>
                  <a:lnTo>
                    <a:pt x="5187" y="2351"/>
                  </a:lnTo>
                  <a:lnTo>
                    <a:pt x="5185" y="2309"/>
                  </a:lnTo>
                  <a:lnTo>
                    <a:pt x="5181" y="2266"/>
                  </a:lnTo>
                  <a:lnTo>
                    <a:pt x="5175" y="2224"/>
                  </a:lnTo>
                  <a:lnTo>
                    <a:pt x="5168" y="2183"/>
                  </a:lnTo>
                  <a:lnTo>
                    <a:pt x="5156" y="2145"/>
                  </a:lnTo>
                  <a:lnTo>
                    <a:pt x="5143" y="2106"/>
                  </a:lnTo>
                  <a:lnTo>
                    <a:pt x="5123" y="2064"/>
                  </a:lnTo>
                  <a:lnTo>
                    <a:pt x="5104" y="2023"/>
                  </a:lnTo>
                  <a:lnTo>
                    <a:pt x="5079" y="1981"/>
                  </a:lnTo>
                  <a:lnTo>
                    <a:pt x="5052" y="1937"/>
                  </a:lnTo>
                  <a:lnTo>
                    <a:pt x="5021" y="1892"/>
                  </a:lnTo>
                  <a:lnTo>
                    <a:pt x="4988" y="1848"/>
                  </a:lnTo>
                  <a:lnTo>
                    <a:pt x="4952" y="1802"/>
                  </a:lnTo>
                  <a:lnTo>
                    <a:pt x="4913" y="1755"/>
                  </a:lnTo>
                  <a:lnTo>
                    <a:pt x="4874" y="1709"/>
                  </a:lnTo>
                  <a:lnTo>
                    <a:pt x="4832" y="1663"/>
                  </a:lnTo>
                  <a:lnTo>
                    <a:pt x="4788" y="1616"/>
                  </a:lnTo>
                  <a:lnTo>
                    <a:pt x="4695" y="1524"/>
                  </a:lnTo>
                  <a:lnTo>
                    <a:pt x="4597" y="1433"/>
                  </a:lnTo>
                  <a:lnTo>
                    <a:pt x="4495" y="1345"/>
                  </a:lnTo>
                  <a:lnTo>
                    <a:pt x="4390" y="1258"/>
                  </a:lnTo>
                  <a:lnTo>
                    <a:pt x="4284" y="1175"/>
                  </a:lnTo>
                  <a:lnTo>
                    <a:pt x="4180" y="1096"/>
                  </a:lnTo>
                  <a:lnTo>
                    <a:pt x="4076" y="1024"/>
                  </a:lnTo>
                  <a:lnTo>
                    <a:pt x="3976" y="959"/>
                  </a:lnTo>
                  <a:lnTo>
                    <a:pt x="3928" y="928"/>
                  </a:lnTo>
                  <a:lnTo>
                    <a:pt x="3879" y="899"/>
                  </a:lnTo>
                  <a:lnTo>
                    <a:pt x="3835" y="874"/>
                  </a:lnTo>
                  <a:lnTo>
                    <a:pt x="3791" y="849"/>
                  </a:lnTo>
                  <a:lnTo>
                    <a:pt x="3748" y="828"/>
                  </a:lnTo>
                  <a:lnTo>
                    <a:pt x="3704" y="808"/>
                  </a:lnTo>
                  <a:lnTo>
                    <a:pt x="3658" y="791"/>
                  </a:lnTo>
                  <a:lnTo>
                    <a:pt x="3613" y="776"/>
                  </a:lnTo>
                  <a:lnTo>
                    <a:pt x="3567" y="764"/>
                  </a:lnTo>
                  <a:lnTo>
                    <a:pt x="3521" y="753"/>
                  </a:lnTo>
                  <a:lnTo>
                    <a:pt x="3428" y="737"/>
                  </a:lnTo>
                  <a:lnTo>
                    <a:pt x="3334" y="726"/>
                  </a:lnTo>
                  <a:lnTo>
                    <a:pt x="3239" y="720"/>
                  </a:lnTo>
                  <a:lnTo>
                    <a:pt x="3145" y="718"/>
                  </a:lnTo>
                  <a:lnTo>
                    <a:pt x="3050" y="718"/>
                  </a:lnTo>
                  <a:lnTo>
                    <a:pt x="2958" y="720"/>
                  </a:lnTo>
                  <a:lnTo>
                    <a:pt x="2869" y="722"/>
                  </a:lnTo>
                  <a:lnTo>
                    <a:pt x="2780" y="724"/>
                  </a:lnTo>
                  <a:lnTo>
                    <a:pt x="2695" y="722"/>
                  </a:lnTo>
                  <a:lnTo>
                    <a:pt x="2616" y="718"/>
                  </a:lnTo>
                  <a:lnTo>
                    <a:pt x="2539" y="710"/>
                  </a:lnTo>
                  <a:lnTo>
                    <a:pt x="2468" y="697"/>
                  </a:lnTo>
                  <a:lnTo>
                    <a:pt x="2402" y="675"/>
                  </a:lnTo>
                  <a:lnTo>
                    <a:pt x="2371" y="662"/>
                  </a:lnTo>
                  <a:lnTo>
                    <a:pt x="2343" y="648"/>
                  </a:lnTo>
                  <a:lnTo>
                    <a:pt x="2292" y="618"/>
                  </a:lnTo>
                  <a:lnTo>
                    <a:pt x="2246" y="583"/>
                  </a:lnTo>
                  <a:lnTo>
                    <a:pt x="2206" y="544"/>
                  </a:lnTo>
                  <a:lnTo>
                    <a:pt x="2169" y="502"/>
                  </a:lnTo>
                  <a:lnTo>
                    <a:pt x="2136" y="459"/>
                  </a:lnTo>
                  <a:lnTo>
                    <a:pt x="2107" y="415"/>
                  </a:lnTo>
                  <a:lnTo>
                    <a:pt x="2078" y="371"/>
                  </a:lnTo>
                  <a:lnTo>
                    <a:pt x="2020" y="282"/>
                  </a:lnTo>
                  <a:lnTo>
                    <a:pt x="1990" y="241"/>
                  </a:lnTo>
                  <a:lnTo>
                    <a:pt x="1955" y="203"/>
                  </a:lnTo>
                  <a:lnTo>
                    <a:pt x="1918" y="166"/>
                  </a:lnTo>
                  <a:lnTo>
                    <a:pt x="1878" y="133"/>
                  </a:lnTo>
                  <a:lnTo>
                    <a:pt x="1832" y="106"/>
                  </a:lnTo>
                  <a:lnTo>
                    <a:pt x="1778" y="85"/>
                  </a:lnTo>
                  <a:lnTo>
                    <a:pt x="1718" y="68"/>
                  </a:lnTo>
                  <a:lnTo>
                    <a:pt x="1652" y="51"/>
                  </a:lnTo>
                  <a:lnTo>
                    <a:pt x="1581" y="37"/>
                  </a:lnTo>
                  <a:lnTo>
                    <a:pt x="1504" y="25"/>
                  </a:lnTo>
                  <a:lnTo>
                    <a:pt x="1427" y="16"/>
                  </a:lnTo>
                  <a:lnTo>
                    <a:pt x="1344" y="8"/>
                  </a:lnTo>
                  <a:lnTo>
                    <a:pt x="1261" y="2"/>
                  </a:lnTo>
                  <a:lnTo>
                    <a:pt x="1178" y="0"/>
                  </a:lnTo>
                  <a:lnTo>
                    <a:pt x="1093" y="0"/>
                  </a:lnTo>
                  <a:lnTo>
                    <a:pt x="1012" y="2"/>
                  </a:lnTo>
                  <a:lnTo>
                    <a:pt x="931" y="6"/>
                  </a:lnTo>
                  <a:lnTo>
                    <a:pt x="852" y="14"/>
                  </a:lnTo>
                  <a:lnTo>
                    <a:pt x="779" y="25"/>
                  </a:lnTo>
                  <a:lnTo>
                    <a:pt x="709" y="39"/>
                  </a:lnTo>
                  <a:lnTo>
                    <a:pt x="644" y="54"/>
                  </a:lnTo>
                  <a:lnTo>
                    <a:pt x="586" y="74"/>
                  </a:lnTo>
                  <a:close/>
                </a:path>
              </a:pathLst>
            </a:custGeom>
            <a:noFill/>
            <a:ln w="7620" cap="flat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</p:grpSp>
    </p:spTree>
    <p:extLst>
      <p:ext uri="{BB962C8B-B14F-4D97-AF65-F5344CB8AC3E}">
        <p14:creationId xmlns:p14="http://schemas.microsoft.com/office/powerpoint/2010/main" val="3804294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162C5-F263-2E4F-A4D9-F7AD5F5FF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DA0C6-09EF-6440-8419-FEF5091EB6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is a strong connection between the literature on “Social Capital” and group membership, which provides a theoretical link between notions of structural cohesion, ideational diffusion, and the duality of groups.</a:t>
            </a:r>
          </a:p>
          <a:p>
            <a:endParaRPr lang="en-US" dirty="0"/>
          </a:p>
          <a:p>
            <a:r>
              <a:rPr lang="en-US" dirty="0"/>
              <a:t>And we will learn how to conduct community detecting using clustering algorithms.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6777698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C6DFDA5-D292-DA45-9EEB-955EB0BAC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Community Detection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9C163D-75D0-954E-815E-09D6BBE5C7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How to find communities?</a:t>
            </a:r>
          </a:p>
        </p:txBody>
      </p:sp>
    </p:spTree>
    <p:extLst>
      <p:ext uri="{BB962C8B-B14F-4D97-AF65-F5344CB8AC3E}">
        <p14:creationId xmlns:p14="http://schemas.microsoft.com/office/powerpoint/2010/main" val="707312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4CCD58-FAB7-7242-BE4C-7BE7A3C2B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A1DCBF1-7AE7-C042-8471-F83EEE255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How to automatically find such densely connected groups of nodes?</a:t>
            </a:r>
          </a:p>
          <a:p>
            <a:endParaRPr lang="en-CN" dirty="0"/>
          </a:p>
          <a:p>
            <a:r>
              <a:rPr lang="en-CN" dirty="0"/>
              <a:t>Ideally such automatically detected clusters would then correspond to real groups.</a:t>
            </a:r>
          </a:p>
        </p:txBody>
      </p:sp>
    </p:spTree>
    <p:extLst>
      <p:ext uri="{BB962C8B-B14F-4D97-AF65-F5344CB8AC3E}">
        <p14:creationId xmlns:p14="http://schemas.microsoft.com/office/powerpoint/2010/main" val="14886674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CDDB2-9342-6F4F-B427-C410EC347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6CCF6-EF39-2F4A-BD38-C9B895264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Actually, It is hard for us to find communities, modules, clusters by eyes. </a:t>
            </a:r>
          </a:p>
          <a:p>
            <a:endParaRPr lang="en-C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FCC6C3-7E8D-954F-8C81-0B0951A60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174" y="2930525"/>
            <a:ext cx="4669773" cy="29983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29EA3B-64D7-4A41-BE3A-96DF634AE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9693" y="2787445"/>
            <a:ext cx="5024107" cy="3265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4166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54AB8809-0049-2440-992E-6AC440426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A571E-133B-A547-9485-B1249745CB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N" dirty="0"/>
              <a:t>          NCCA</a:t>
            </a:r>
            <a:r>
              <a:rPr lang="zh-CN" altLang="en-US" dirty="0"/>
              <a:t> </a:t>
            </a:r>
            <a:r>
              <a:rPr lang="en-US" altLang="zh-CN" dirty="0"/>
              <a:t>Football Networks			   Facebook Ego-network</a:t>
            </a:r>
            <a:endParaRPr lang="en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608B94-54DA-5E48-BE75-3BD74070E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16150"/>
            <a:ext cx="5438800" cy="36357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6FB445-AEC4-3D43-94F6-86C0548020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5707" y="2455248"/>
            <a:ext cx="5542208" cy="349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3292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4F640-AD95-C640-AC07-AE9CE7E7F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Dataset on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A4DAA-4785-E946-97E6-A431C6F9D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Then,</a:t>
            </a:r>
          </a:p>
          <a:p>
            <a:pPr lvl="1"/>
            <a:r>
              <a:rPr lang="en-US" dirty="0"/>
              <a:t>We would like to borrow detection algorithms to get the communities.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The underlying data is naturally a graph</a:t>
            </a:r>
          </a:p>
          <a:p>
            <a:pPr lvl="1"/>
            <a:r>
              <a:rPr lang="en-US" dirty="0"/>
              <a:t>Papers linked by citation</a:t>
            </a:r>
          </a:p>
          <a:p>
            <a:pPr lvl="1"/>
            <a:r>
              <a:rPr lang="en-US" dirty="0"/>
              <a:t>Authors linked by co-authorship</a:t>
            </a:r>
          </a:p>
          <a:p>
            <a:pPr lvl="1"/>
            <a:r>
              <a:rPr lang="en-US" dirty="0"/>
              <a:t>Bipartite graph of customers and products</a:t>
            </a:r>
          </a:p>
          <a:p>
            <a:pPr lvl="1"/>
            <a:r>
              <a:rPr lang="en-US" dirty="0"/>
              <a:t>Web-graph </a:t>
            </a:r>
          </a:p>
          <a:p>
            <a:pPr lvl="1"/>
            <a:r>
              <a:rPr lang="en-US" dirty="0"/>
              <a:t>Friendship networks: who knows whom</a:t>
            </a:r>
          </a:p>
          <a:p>
            <a:endParaRPr lang="en-CN" dirty="0"/>
          </a:p>
          <a:p>
            <a:r>
              <a:rPr lang="en-CN" dirty="0"/>
              <a:t>I will briefly introduce </a:t>
            </a:r>
            <a:r>
              <a:rPr lang="en-CN" dirty="0">
                <a:solidFill>
                  <a:srgbClr val="FF0000"/>
                </a:solidFill>
              </a:rPr>
              <a:t>random walk </a:t>
            </a:r>
            <a:r>
              <a:rPr lang="en-CN" dirty="0"/>
              <a:t>and infomap algorithms without mathematic inference.</a:t>
            </a:r>
          </a:p>
        </p:txBody>
      </p:sp>
    </p:spTree>
    <p:extLst>
      <p:ext uri="{BB962C8B-B14F-4D97-AF65-F5344CB8AC3E}">
        <p14:creationId xmlns:p14="http://schemas.microsoft.com/office/powerpoint/2010/main" val="39395600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D2378-3CCE-D74D-B129-BDA7B6211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Random walk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F7027-53EE-1E4B-902C-F66B2ACA2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 The principle behind a random walk is quite simple: you start at a given node and then move to a neighboring node at random. This process is repeated for many steps.</a:t>
            </a:r>
          </a:p>
          <a:p>
            <a:endParaRPr lang="en-US" dirty="0"/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In the context of social networks, a random walk can be used to measure the "closeness" of nodes based on how often a random walker visits them. </a:t>
            </a:r>
          </a:p>
          <a:p>
            <a:endParaRPr lang="en-US" dirty="0">
              <a:solidFill>
                <a:srgbClr val="000000"/>
              </a:solidFill>
              <a:latin typeface="-apple-system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The intuition is that if many random walks starting from different nodes frequently visit a certain group of nodes, these nodes are more likely to form a community.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160961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431B85E1-3C37-364F-A347-0888B22933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CN" dirty="0"/>
              <a:t>What is a random walk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F0095-6C87-8449-9765-FD1F5A93C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4EF3D-577A-824B-8B7A-44A7E4678F60}" type="slidenum">
              <a:rPr lang="en-US" altLang="en-US"/>
              <a:pPr/>
              <a:t>20</a:t>
            </a:fld>
            <a:endParaRPr lang="en-US" altLang="en-US"/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D035F05-4FC8-3040-B388-B1EEE29285D9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1781790"/>
            <a:ext cx="3200400" cy="1752600"/>
            <a:chOff x="384" y="1488"/>
            <a:chExt cx="2016" cy="1104"/>
          </a:xfrm>
        </p:grpSpPr>
        <p:pic>
          <p:nvPicPr>
            <p:cNvPr id="9" name="Picture 4">
              <a:extLst>
                <a:ext uri="{FF2B5EF4-FFF2-40B4-BE49-F238E27FC236}">
                  <a16:creationId xmlns:a16="http://schemas.microsoft.com/office/drawing/2014/main" id="{04581F94-E706-5A42-86A0-5E534D9C70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" y="1632"/>
              <a:ext cx="471" cy="6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0" name="Group 5">
              <a:extLst>
                <a:ext uri="{FF2B5EF4-FFF2-40B4-BE49-F238E27FC236}">
                  <a16:creationId xmlns:a16="http://schemas.microsoft.com/office/drawing/2014/main" id="{915A5F2F-4FAC-984B-95C0-82967E06EF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2" y="1488"/>
              <a:ext cx="1728" cy="1104"/>
              <a:chOff x="1056" y="1632"/>
              <a:chExt cx="1728" cy="1104"/>
            </a:xfrm>
          </p:grpSpPr>
          <p:sp>
            <p:nvSpPr>
              <p:cNvPr id="11" name="Oval 6">
                <a:extLst>
                  <a:ext uri="{FF2B5EF4-FFF2-40B4-BE49-F238E27FC236}">
                    <a16:creationId xmlns:a16="http://schemas.microsoft.com/office/drawing/2014/main" id="{E47535B1-D727-2C43-9937-3FCAC4CEBF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2112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12" name="Oval 7">
                <a:extLst>
                  <a:ext uri="{FF2B5EF4-FFF2-40B4-BE49-F238E27FC236}">
                    <a16:creationId xmlns:a16="http://schemas.microsoft.com/office/drawing/2014/main" id="{1B4BE8D5-15D3-E54B-961B-4E363F72AC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3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13" name="Oval 8">
                <a:extLst>
                  <a:ext uri="{FF2B5EF4-FFF2-40B4-BE49-F238E27FC236}">
                    <a16:creationId xmlns:a16="http://schemas.microsoft.com/office/drawing/2014/main" id="{F81D434C-6BD3-BB43-968C-F6E2F8BCF9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2496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14" name="Line 9">
                <a:extLst>
                  <a:ext uri="{FF2B5EF4-FFF2-40B4-BE49-F238E27FC236}">
                    <a16:creationId xmlns:a16="http://schemas.microsoft.com/office/drawing/2014/main" id="{987F0007-DA6A-924E-8C80-42830BBE84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6" y="1824"/>
                <a:ext cx="33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5" name="Line 10">
                <a:extLst>
                  <a:ext uri="{FF2B5EF4-FFF2-40B4-BE49-F238E27FC236}">
                    <a16:creationId xmlns:a16="http://schemas.microsoft.com/office/drawing/2014/main" id="{2BEBA055-2E62-8148-AAC4-A62D5CB38D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1872"/>
                <a:ext cx="24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6" name="Line 11">
                <a:extLst>
                  <a:ext uri="{FF2B5EF4-FFF2-40B4-BE49-F238E27FC236}">
                    <a16:creationId xmlns:a16="http://schemas.microsoft.com/office/drawing/2014/main" id="{7470368D-9A70-3D4A-A6F7-94111257EF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96" y="2304"/>
                <a:ext cx="67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7" name="Freeform 12">
                <a:extLst>
                  <a:ext uri="{FF2B5EF4-FFF2-40B4-BE49-F238E27FC236}">
                    <a16:creationId xmlns:a16="http://schemas.microsoft.com/office/drawing/2014/main" id="{B2028CF8-6127-3F45-B13C-35D0AE353A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2" y="1776"/>
                <a:ext cx="576" cy="720"/>
              </a:xfrm>
              <a:custGeom>
                <a:avLst/>
                <a:gdLst>
                  <a:gd name="T0" fmla="*/ 288 w 576"/>
                  <a:gd name="T1" fmla="*/ 720 h 720"/>
                  <a:gd name="T2" fmla="*/ 528 w 576"/>
                  <a:gd name="T3" fmla="*/ 288 h 720"/>
                  <a:gd name="T4" fmla="*/ 0 w 576"/>
                  <a:gd name="T5" fmla="*/ 0 h 7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76" h="720">
                    <a:moveTo>
                      <a:pt x="288" y="720"/>
                    </a:moveTo>
                    <a:cubicBezTo>
                      <a:pt x="432" y="564"/>
                      <a:pt x="576" y="408"/>
                      <a:pt x="528" y="288"/>
                    </a:cubicBezTo>
                    <a:cubicBezTo>
                      <a:pt x="480" y="168"/>
                      <a:pt x="240" y="84"/>
                      <a:pt x="0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8" name="Text Box 13">
                <a:extLst>
                  <a:ext uri="{FF2B5EF4-FFF2-40B4-BE49-F238E27FC236}">
                    <a16:creationId xmlns:a16="http://schemas.microsoft.com/office/drawing/2014/main" id="{6BADC068-F4C4-004F-AEB3-294CA0D975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1824"/>
                <a:ext cx="240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en-CN" sz="1400" b="1">
                    <a:latin typeface="Comic Sans MS" panose="030F0902030302020204" pitchFamily="66" charset="0"/>
                  </a:rPr>
                  <a:t>1</a:t>
                </a:r>
              </a:p>
            </p:txBody>
          </p:sp>
          <p:sp>
            <p:nvSpPr>
              <p:cNvPr id="19" name="Text Box 14">
                <a:extLst>
                  <a:ext uri="{FF2B5EF4-FFF2-40B4-BE49-F238E27FC236}">
                    <a16:creationId xmlns:a16="http://schemas.microsoft.com/office/drawing/2014/main" id="{74E70404-9530-4342-9DE0-2E36219A0C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2496"/>
                <a:ext cx="384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en-CN" sz="1400" b="1">
                    <a:latin typeface="Comic Sans MS" panose="030F0902030302020204" pitchFamily="66" charset="0"/>
                  </a:rPr>
                  <a:t>1/2</a:t>
                </a:r>
              </a:p>
            </p:txBody>
          </p:sp>
          <p:sp>
            <p:nvSpPr>
              <p:cNvPr id="20" name="Text Box 15">
                <a:extLst>
                  <a:ext uri="{FF2B5EF4-FFF2-40B4-BE49-F238E27FC236}">
                    <a16:creationId xmlns:a16="http://schemas.microsoft.com/office/drawing/2014/main" id="{61B38306-3623-184B-9FE0-6BFC1B4FA6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0" y="1968"/>
                <a:ext cx="384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en-CN" sz="1400" b="1">
                    <a:latin typeface="Comic Sans MS" panose="030F0902030302020204" pitchFamily="66" charset="0"/>
                  </a:rPr>
                  <a:t>1/2</a:t>
                </a:r>
              </a:p>
            </p:txBody>
          </p:sp>
          <p:sp>
            <p:nvSpPr>
              <p:cNvPr id="21" name="Text Box 16">
                <a:extLst>
                  <a:ext uri="{FF2B5EF4-FFF2-40B4-BE49-F238E27FC236}">
                    <a16:creationId xmlns:a16="http://schemas.microsoft.com/office/drawing/2014/main" id="{F9C7E150-0770-E34C-9671-0D22920214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6" y="2064"/>
                <a:ext cx="240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en-CN" sz="1400" b="1" dirty="0">
                    <a:latin typeface="Comic Sans MS" panose="030F0902030302020204" pitchFamily="66" charset="0"/>
                  </a:rPr>
                  <a:t>1</a:t>
                </a:r>
              </a:p>
            </p:txBody>
          </p:sp>
        </p:grpSp>
      </p:grpSp>
      <p:grpSp>
        <p:nvGrpSpPr>
          <p:cNvPr id="22" name="Group 17">
            <a:extLst>
              <a:ext uri="{FF2B5EF4-FFF2-40B4-BE49-F238E27FC236}">
                <a16:creationId xmlns:a16="http://schemas.microsoft.com/office/drawing/2014/main" id="{4AB98C03-F2FF-3E4F-ADFC-DD99532D7F2E}"/>
              </a:ext>
            </a:extLst>
          </p:cNvPr>
          <p:cNvGrpSpPr>
            <a:grpSpLocks/>
          </p:cNvGrpSpPr>
          <p:nvPr/>
        </p:nvGrpSpPr>
        <p:grpSpPr bwMode="auto">
          <a:xfrm>
            <a:off x="7239000" y="714990"/>
            <a:ext cx="2743200" cy="2819400"/>
            <a:chOff x="2928" y="768"/>
            <a:chExt cx="1728" cy="1776"/>
          </a:xfrm>
        </p:grpSpPr>
        <p:grpSp>
          <p:nvGrpSpPr>
            <p:cNvPr id="23" name="Group 18">
              <a:extLst>
                <a:ext uri="{FF2B5EF4-FFF2-40B4-BE49-F238E27FC236}">
                  <a16:creationId xmlns:a16="http://schemas.microsoft.com/office/drawing/2014/main" id="{5E1EEB82-2746-E946-84C2-5EB84A2124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8" y="1440"/>
              <a:ext cx="1728" cy="1104"/>
              <a:chOff x="1056" y="1632"/>
              <a:chExt cx="1728" cy="1104"/>
            </a:xfrm>
          </p:grpSpPr>
          <p:sp>
            <p:nvSpPr>
              <p:cNvPr id="25" name="Oval 19">
                <a:extLst>
                  <a:ext uri="{FF2B5EF4-FFF2-40B4-BE49-F238E27FC236}">
                    <a16:creationId xmlns:a16="http://schemas.microsoft.com/office/drawing/2014/main" id="{A3001E6C-F035-CD4E-8EB6-F2872F4CFD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211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26" name="Oval 20">
                <a:extLst>
                  <a:ext uri="{FF2B5EF4-FFF2-40B4-BE49-F238E27FC236}">
                    <a16:creationId xmlns:a16="http://schemas.microsoft.com/office/drawing/2014/main" id="{8D160D4C-F746-BE47-9FB9-8129F1E928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3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27" name="Oval 21">
                <a:extLst>
                  <a:ext uri="{FF2B5EF4-FFF2-40B4-BE49-F238E27FC236}">
                    <a16:creationId xmlns:a16="http://schemas.microsoft.com/office/drawing/2014/main" id="{E0658D7E-9B21-AE4E-BE96-05F2FE08C5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2496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28" name="Line 22">
                <a:extLst>
                  <a:ext uri="{FF2B5EF4-FFF2-40B4-BE49-F238E27FC236}">
                    <a16:creationId xmlns:a16="http://schemas.microsoft.com/office/drawing/2014/main" id="{48E8D033-0800-0B47-9633-2BBB79EF31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6" y="1824"/>
                <a:ext cx="33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9" name="Line 23">
                <a:extLst>
                  <a:ext uri="{FF2B5EF4-FFF2-40B4-BE49-F238E27FC236}">
                    <a16:creationId xmlns:a16="http://schemas.microsoft.com/office/drawing/2014/main" id="{4F5D3340-A74B-B14D-89D5-5D65146DEA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1872"/>
                <a:ext cx="24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0" name="Line 24">
                <a:extLst>
                  <a:ext uri="{FF2B5EF4-FFF2-40B4-BE49-F238E27FC236}">
                    <a16:creationId xmlns:a16="http://schemas.microsoft.com/office/drawing/2014/main" id="{3599253C-29F0-124E-B005-22A6B6E700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96" y="2304"/>
                <a:ext cx="67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1" name="Freeform 25">
                <a:extLst>
                  <a:ext uri="{FF2B5EF4-FFF2-40B4-BE49-F238E27FC236}">
                    <a16:creationId xmlns:a16="http://schemas.microsoft.com/office/drawing/2014/main" id="{FF099A82-B785-794E-94EA-07871D9FE8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2" y="1776"/>
                <a:ext cx="576" cy="720"/>
              </a:xfrm>
              <a:custGeom>
                <a:avLst/>
                <a:gdLst>
                  <a:gd name="T0" fmla="*/ 288 w 576"/>
                  <a:gd name="T1" fmla="*/ 720 h 720"/>
                  <a:gd name="T2" fmla="*/ 528 w 576"/>
                  <a:gd name="T3" fmla="*/ 288 h 720"/>
                  <a:gd name="T4" fmla="*/ 0 w 576"/>
                  <a:gd name="T5" fmla="*/ 0 h 7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76" h="720">
                    <a:moveTo>
                      <a:pt x="288" y="720"/>
                    </a:moveTo>
                    <a:cubicBezTo>
                      <a:pt x="432" y="564"/>
                      <a:pt x="576" y="408"/>
                      <a:pt x="528" y="288"/>
                    </a:cubicBezTo>
                    <a:cubicBezTo>
                      <a:pt x="480" y="168"/>
                      <a:pt x="240" y="84"/>
                      <a:pt x="0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2" name="Text Box 26">
                <a:extLst>
                  <a:ext uri="{FF2B5EF4-FFF2-40B4-BE49-F238E27FC236}">
                    <a16:creationId xmlns:a16="http://schemas.microsoft.com/office/drawing/2014/main" id="{A79B6B4D-4257-0246-A1C1-10A7A28E55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1824"/>
                <a:ext cx="240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en-CN" sz="1400" b="1">
                    <a:latin typeface="Comic Sans MS" panose="030F0902030302020204" pitchFamily="66" charset="0"/>
                  </a:rPr>
                  <a:t>1</a:t>
                </a:r>
              </a:p>
            </p:txBody>
          </p:sp>
          <p:sp>
            <p:nvSpPr>
              <p:cNvPr id="33" name="Text Box 27">
                <a:extLst>
                  <a:ext uri="{FF2B5EF4-FFF2-40B4-BE49-F238E27FC236}">
                    <a16:creationId xmlns:a16="http://schemas.microsoft.com/office/drawing/2014/main" id="{85574FA5-FCB1-5B42-BFB5-5CA4121B78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2496"/>
                <a:ext cx="384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en-CN" sz="1400" b="1">
                    <a:latin typeface="Comic Sans MS" panose="030F0902030302020204" pitchFamily="66" charset="0"/>
                  </a:rPr>
                  <a:t>1/2</a:t>
                </a:r>
              </a:p>
            </p:txBody>
          </p:sp>
          <p:sp>
            <p:nvSpPr>
              <p:cNvPr id="34" name="Text Box 28">
                <a:extLst>
                  <a:ext uri="{FF2B5EF4-FFF2-40B4-BE49-F238E27FC236}">
                    <a16:creationId xmlns:a16="http://schemas.microsoft.com/office/drawing/2014/main" id="{324F02C1-0946-C440-A5CF-05F857EA2F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0" y="1968"/>
                <a:ext cx="384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en-CN" sz="1400" b="1">
                    <a:latin typeface="Comic Sans MS" panose="030F0902030302020204" pitchFamily="66" charset="0"/>
                  </a:rPr>
                  <a:t>1/2</a:t>
                </a:r>
              </a:p>
            </p:txBody>
          </p:sp>
          <p:sp>
            <p:nvSpPr>
              <p:cNvPr id="35" name="Text Box 29">
                <a:extLst>
                  <a:ext uri="{FF2B5EF4-FFF2-40B4-BE49-F238E27FC236}">
                    <a16:creationId xmlns:a16="http://schemas.microsoft.com/office/drawing/2014/main" id="{214B1740-2A08-0347-8AAB-16DC2F0CEB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6" y="2064"/>
                <a:ext cx="240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en-CN" sz="1400" b="1">
                    <a:latin typeface="Comic Sans MS" panose="030F0902030302020204" pitchFamily="66" charset="0"/>
                  </a:rPr>
                  <a:t>1</a:t>
                </a:r>
              </a:p>
            </p:txBody>
          </p:sp>
        </p:grpSp>
        <p:pic>
          <p:nvPicPr>
            <p:cNvPr id="24" name="Picture 30">
              <a:extLst>
                <a:ext uri="{FF2B5EF4-FFF2-40B4-BE49-F238E27FC236}">
                  <a16:creationId xmlns:a16="http://schemas.microsoft.com/office/drawing/2014/main" id="{7B6C4190-5850-594B-B52B-54F585A184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08" y="768"/>
              <a:ext cx="471" cy="6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6" name="Text Box 31">
            <a:extLst>
              <a:ext uri="{FF2B5EF4-FFF2-40B4-BE49-F238E27FC236}">
                <a16:creationId xmlns:a16="http://schemas.microsoft.com/office/drawing/2014/main" id="{39055509-4047-184D-B5C6-6E7CB7E0D2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1553190"/>
            <a:ext cx="1295400" cy="4667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en-CN">
                <a:latin typeface="Comic Sans MS" panose="030F0902030302020204" pitchFamily="66" charset="0"/>
              </a:rPr>
              <a:t>t=0</a:t>
            </a:r>
          </a:p>
        </p:txBody>
      </p:sp>
      <p:sp>
        <p:nvSpPr>
          <p:cNvPr id="37" name="Text Box 32">
            <a:extLst>
              <a:ext uri="{FF2B5EF4-FFF2-40B4-BE49-F238E27FC236}">
                <a16:creationId xmlns:a16="http://schemas.microsoft.com/office/drawing/2014/main" id="{F4284034-8C8C-1340-876F-6AAEA19010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1600" y="1476990"/>
            <a:ext cx="1295400" cy="4667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en-CN">
                <a:latin typeface="Comic Sans MS" panose="030F0902030302020204" pitchFamily="66" charset="0"/>
              </a:rPr>
              <a:t>t=1</a:t>
            </a:r>
          </a:p>
        </p:txBody>
      </p:sp>
      <p:grpSp>
        <p:nvGrpSpPr>
          <p:cNvPr id="38" name="Group 33">
            <a:extLst>
              <a:ext uri="{FF2B5EF4-FFF2-40B4-BE49-F238E27FC236}">
                <a16:creationId xmlns:a16="http://schemas.microsoft.com/office/drawing/2014/main" id="{1D11B216-8F57-8A46-B094-CD198E6DA38D}"/>
              </a:ext>
            </a:extLst>
          </p:cNvPr>
          <p:cNvGrpSpPr>
            <a:grpSpLocks/>
          </p:cNvGrpSpPr>
          <p:nvPr/>
        </p:nvGrpSpPr>
        <p:grpSpPr bwMode="auto">
          <a:xfrm>
            <a:off x="2514600" y="4067790"/>
            <a:ext cx="2743200" cy="2428875"/>
            <a:chOff x="672" y="1488"/>
            <a:chExt cx="1728" cy="1530"/>
          </a:xfrm>
        </p:grpSpPr>
        <p:grpSp>
          <p:nvGrpSpPr>
            <p:cNvPr id="39" name="Group 34">
              <a:extLst>
                <a:ext uri="{FF2B5EF4-FFF2-40B4-BE49-F238E27FC236}">
                  <a16:creationId xmlns:a16="http://schemas.microsoft.com/office/drawing/2014/main" id="{B5DC88D9-2516-BE44-8D28-2F041A18B1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2" y="1488"/>
              <a:ext cx="1728" cy="1104"/>
              <a:chOff x="1056" y="1632"/>
              <a:chExt cx="1728" cy="1104"/>
            </a:xfrm>
          </p:grpSpPr>
          <p:sp>
            <p:nvSpPr>
              <p:cNvPr id="41" name="Oval 35">
                <a:extLst>
                  <a:ext uri="{FF2B5EF4-FFF2-40B4-BE49-F238E27FC236}">
                    <a16:creationId xmlns:a16="http://schemas.microsoft.com/office/drawing/2014/main" id="{E03DF89A-7513-4647-8566-805DBCD51E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211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42" name="Oval 36">
                <a:extLst>
                  <a:ext uri="{FF2B5EF4-FFF2-40B4-BE49-F238E27FC236}">
                    <a16:creationId xmlns:a16="http://schemas.microsoft.com/office/drawing/2014/main" id="{54A09DEF-FE3F-464B-9174-3F03E51DF1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3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43" name="Oval 37">
                <a:extLst>
                  <a:ext uri="{FF2B5EF4-FFF2-40B4-BE49-F238E27FC236}">
                    <a16:creationId xmlns:a16="http://schemas.microsoft.com/office/drawing/2014/main" id="{8846EF9E-7D7B-D942-B205-8896365BDB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2496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44" name="Line 38">
                <a:extLst>
                  <a:ext uri="{FF2B5EF4-FFF2-40B4-BE49-F238E27FC236}">
                    <a16:creationId xmlns:a16="http://schemas.microsoft.com/office/drawing/2014/main" id="{0D1D5D65-C0C2-974E-9C08-6F90312F74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6" y="1824"/>
                <a:ext cx="33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5" name="Line 39">
                <a:extLst>
                  <a:ext uri="{FF2B5EF4-FFF2-40B4-BE49-F238E27FC236}">
                    <a16:creationId xmlns:a16="http://schemas.microsoft.com/office/drawing/2014/main" id="{DF927DFC-BD19-784A-8E8E-10048C545F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1872"/>
                <a:ext cx="24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6" name="Line 40">
                <a:extLst>
                  <a:ext uri="{FF2B5EF4-FFF2-40B4-BE49-F238E27FC236}">
                    <a16:creationId xmlns:a16="http://schemas.microsoft.com/office/drawing/2014/main" id="{466F2679-C0B1-7046-BDBC-9DE49E04F0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96" y="2304"/>
                <a:ext cx="67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7" name="Freeform 41">
                <a:extLst>
                  <a:ext uri="{FF2B5EF4-FFF2-40B4-BE49-F238E27FC236}">
                    <a16:creationId xmlns:a16="http://schemas.microsoft.com/office/drawing/2014/main" id="{9FEE4F62-0B0F-D34C-9181-6536358113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2" y="1776"/>
                <a:ext cx="576" cy="720"/>
              </a:xfrm>
              <a:custGeom>
                <a:avLst/>
                <a:gdLst>
                  <a:gd name="T0" fmla="*/ 288 w 576"/>
                  <a:gd name="T1" fmla="*/ 720 h 720"/>
                  <a:gd name="T2" fmla="*/ 528 w 576"/>
                  <a:gd name="T3" fmla="*/ 288 h 720"/>
                  <a:gd name="T4" fmla="*/ 0 w 576"/>
                  <a:gd name="T5" fmla="*/ 0 h 7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76" h="720">
                    <a:moveTo>
                      <a:pt x="288" y="720"/>
                    </a:moveTo>
                    <a:cubicBezTo>
                      <a:pt x="432" y="564"/>
                      <a:pt x="576" y="408"/>
                      <a:pt x="528" y="288"/>
                    </a:cubicBezTo>
                    <a:cubicBezTo>
                      <a:pt x="480" y="168"/>
                      <a:pt x="240" y="84"/>
                      <a:pt x="0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8" name="Text Box 42">
                <a:extLst>
                  <a:ext uri="{FF2B5EF4-FFF2-40B4-BE49-F238E27FC236}">
                    <a16:creationId xmlns:a16="http://schemas.microsoft.com/office/drawing/2014/main" id="{0CE879A2-3389-004B-8D4F-9C40179666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1824"/>
                <a:ext cx="240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en-CN" sz="1400" b="1">
                    <a:latin typeface="Comic Sans MS" panose="030F0902030302020204" pitchFamily="66" charset="0"/>
                  </a:rPr>
                  <a:t>1</a:t>
                </a:r>
              </a:p>
            </p:txBody>
          </p:sp>
          <p:sp>
            <p:nvSpPr>
              <p:cNvPr id="49" name="Text Box 43">
                <a:extLst>
                  <a:ext uri="{FF2B5EF4-FFF2-40B4-BE49-F238E27FC236}">
                    <a16:creationId xmlns:a16="http://schemas.microsoft.com/office/drawing/2014/main" id="{CE333466-E76E-A24A-9CEB-16AEFC9616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2496"/>
                <a:ext cx="384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en-CN" sz="1400" b="1">
                    <a:latin typeface="Comic Sans MS" panose="030F0902030302020204" pitchFamily="66" charset="0"/>
                  </a:rPr>
                  <a:t>1/2</a:t>
                </a:r>
              </a:p>
            </p:txBody>
          </p:sp>
          <p:sp>
            <p:nvSpPr>
              <p:cNvPr id="50" name="Text Box 44">
                <a:extLst>
                  <a:ext uri="{FF2B5EF4-FFF2-40B4-BE49-F238E27FC236}">
                    <a16:creationId xmlns:a16="http://schemas.microsoft.com/office/drawing/2014/main" id="{C99A2DF4-AF98-5247-8C66-DDA9138D76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0" y="1968"/>
                <a:ext cx="384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en-CN" sz="1400" b="1">
                    <a:latin typeface="Comic Sans MS" panose="030F0902030302020204" pitchFamily="66" charset="0"/>
                  </a:rPr>
                  <a:t>1/2</a:t>
                </a:r>
              </a:p>
            </p:txBody>
          </p:sp>
          <p:sp>
            <p:nvSpPr>
              <p:cNvPr id="51" name="Text Box 45">
                <a:extLst>
                  <a:ext uri="{FF2B5EF4-FFF2-40B4-BE49-F238E27FC236}">
                    <a16:creationId xmlns:a16="http://schemas.microsoft.com/office/drawing/2014/main" id="{F85B0FF8-7BD0-9E4E-BA48-805C352F5E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6" y="2064"/>
                <a:ext cx="240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en-CN" sz="1400" b="1">
                    <a:latin typeface="Comic Sans MS" panose="030F0902030302020204" pitchFamily="66" charset="0"/>
                  </a:rPr>
                  <a:t>1</a:t>
                </a:r>
              </a:p>
            </p:txBody>
          </p:sp>
        </p:grpSp>
        <p:pic>
          <p:nvPicPr>
            <p:cNvPr id="40" name="Picture 46">
              <a:extLst>
                <a:ext uri="{FF2B5EF4-FFF2-40B4-BE49-F238E27FC236}">
                  <a16:creationId xmlns:a16="http://schemas.microsoft.com/office/drawing/2014/main" id="{FC9DEB11-6531-1D4B-B846-1C65C0EE36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24" y="2352"/>
              <a:ext cx="489" cy="6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2" name="Text Box 47">
            <a:extLst>
              <a:ext uri="{FF2B5EF4-FFF2-40B4-BE49-F238E27FC236}">
                <a16:creationId xmlns:a16="http://schemas.microsoft.com/office/drawing/2014/main" id="{33B5D402-C335-0A40-B0EC-6B8381503B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3839190"/>
            <a:ext cx="1295400" cy="4667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en-CN">
                <a:latin typeface="Comic Sans MS" panose="030F0902030302020204" pitchFamily="66" charset="0"/>
              </a:rPr>
              <a:t>t=2</a:t>
            </a:r>
          </a:p>
        </p:txBody>
      </p:sp>
      <p:grpSp>
        <p:nvGrpSpPr>
          <p:cNvPr id="53" name="Group 48">
            <a:extLst>
              <a:ext uri="{FF2B5EF4-FFF2-40B4-BE49-F238E27FC236}">
                <a16:creationId xmlns:a16="http://schemas.microsoft.com/office/drawing/2014/main" id="{20A4A194-4C4F-A446-91ED-AAB5E73DC6DB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3974845"/>
            <a:ext cx="3200400" cy="2286000"/>
            <a:chOff x="3456" y="1248"/>
            <a:chExt cx="2016" cy="1440"/>
          </a:xfrm>
        </p:grpSpPr>
        <p:grpSp>
          <p:nvGrpSpPr>
            <p:cNvPr id="54" name="Group 49">
              <a:extLst>
                <a:ext uri="{FF2B5EF4-FFF2-40B4-BE49-F238E27FC236}">
                  <a16:creationId xmlns:a16="http://schemas.microsoft.com/office/drawing/2014/main" id="{6F33C893-AF8D-E14D-99B8-095FAA60B9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44" y="1584"/>
              <a:ext cx="1728" cy="1104"/>
              <a:chOff x="1056" y="1632"/>
              <a:chExt cx="1728" cy="1104"/>
            </a:xfrm>
          </p:grpSpPr>
          <p:sp>
            <p:nvSpPr>
              <p:cNvPr id="57" name="Oval 50">
                <a:extLst>
                  <a:ext uri="{FF2B5EF4-FFF2-40B4-BE49-F238E27FC236}">
                    <a16:creationId xmlns:a16="http://schemas.microsoft.com/office/drawing/2014/main" id="{4AC17210-F863-274F-8699-04F694BA3B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211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58" name="Oval 51">
                <a:extLst>
                  <a:ext uri="{FF2B5EF4-FFF2-40B4-BE49-F238E27FC236}">
                    <a16:creationId xmlns:a16="http://schemas.microsoft.com/office/drawing/2014/main" id="{A5090C5D-CCA0-C448-8371-EEF8C27100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3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59" name="Oval 52">
                <a:extLst>
                  <a:ext uri="{FF2B5EF4-FFF2-40B4-BE49-F238E27FC236}">
                    <a16:creationId xmlns:a16="http://schemas.microsoft.com/office/drawing/2014/main" id="{80084D7D-E325-6540-B554-5872CA5039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2496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60" name="Line 53">
                <a:extLst>
                  <a:ext uri="{FF2B5EF4-FFF2-40B4-BE49-F238E27FC236}">
                    <a16:creationId xmlns:a16="http://schemas.microsoft.com/office/drawing/2014/main" id="{F0360D01-8113-9841-9B03-DF37E4C162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6" y="1824"/>
                <a:ext cx="33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61" name="Line 54">
                <a:extLst>
                  <a:ext uri="{FF2B5EF4-FFF2-40B4-BE49-F238E27FC236}">
                    <a16:creationId xmlns:a16="http://schemas.microsoft.com/office/drawing/2014/main" id="{48271F77-4E12-7546-AEF2-5590BB9122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1872"/>
                <a:ext cx="24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62" name="Line 55">
                <a:extLst>
                  <a:ext uri="{FF2B5EF4-FFF2-40B4-BE49-F238E27FC236}">
                    <a16:creationId xmlns:a16="http://schemas.microsoft.com/office/drawing/2014/main" id="{F48DF270-E5A3-8C40-8791-23DFFD4B12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96" y="2304"/>
                <a:ext cx="67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63" name="Freeform 56">
                <a:extLst>
                  <a:ext uri="{FF2B5EF4-FFF2-40B4-BE49-F238E27FC236}">
                    <a16:creationId xmlns:a16="http://schemas.microsoft.com/office/drawing/2014/main" id="{A25AE18D-131A-CE42-BCA2-202BD8EF92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2" y="1776"/>
                <a:ext cx="576" cy="720"/>
              </a:xfrm>
              <a:custGeom>
                <a:avLst/>
                <a:gdLst>
                  <a:gd name="T0" fmla="*/ 288 w 576"/>
                  <a:gd name="T1" fmla="*/ 720 h 720"/>
                  <a:gd name="T2" fmla="*/ 528 w 576"/>
                  <a:gd name="T3" fmla="*/ 288 h 720"/>
                  <a:gd name="T4" fmla="*/ 0 w 576"/>
                  <a:gd name="T5" fmla="*/ 0 h 7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76" h="720">
                    <a:moveTo>
                      <a:pt x="288" y="720"/>
                    </a:moveTo>
                    <a:cubicBezTo>
                      <a:pt x="432" y="564"/>
                      <a:pt x="576" y="408"/>
                      <a:pt x="528" y="288"/>
                    </a:cubicBezTo>
                    <a:cubicBezTo>
                      <a:pt x="480" y="168"/>
                      <a:pt x="240" y="84"/>
                      <a:pt x="0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64" name="Text Box 57">
                <a:extLst>
                  <a:ext uri="{FF2B5EF4-FFF2-40B4-BE49-F238E27FC236}">
                    <a16:creationId xmlns:a16="http://schemas.microsoft.com/office/drawing/2014/main" id="{0C041B08-AA4D-4C41-97D6-6758D3E44C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1824"/>
                <a:ext cx="240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en-CN" sz="1400" b="1">
                    <a:latin typeface="Comic Sans MS" panose="030F0902030302020204" pitchFamily="66" charset="0"/>
                  </a:rPr>
                  <a:t>1</a:t>
                </a:r>
              </a:p>
            </p:txBody>
          </p:sp>
          <p:sp>
            <p:nvSpPr>
              <p:cNvPr id="65" name="Text Box 58">
                <a:extLst>
                  <a:ext uri="{FF2B5EF4-FFF2-40B4-BE49-F238E27FC236}">
                    <a16:creationId xmlns:a16="http://schemas.microsoft.com/office/drawing/2014/main" id="{487E3902-43EC-ED43-BC59-22D98E805FC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2496"/>
                <a:ext cx="384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en-CN" sz="1400" b="1">
                    <a:latin typeface="Comic Sans MS" panose="030F0902030302020204" pitchFamily="66" charset="0"/>
                  </a:rPr>
                  <a:t>1/2</a:t>
                </a:r>
              </a:p>
            </p:txBody>
          </p:sp>
          <p:sp>
            <p:nvSpPr>
              <p:cNvPr id="66" name="Text Box 59">
                <a:extLst>
                  <a:ext uri="{FF2B5EF4-FFF2-40B4-BE49-F238E27FC236}">
                    <a16:creationId xmlns:a16="http://schemas.microsoft.com/office/drawing/2014/main" id="{8D587691-60A3-CB42-BD1D-9ABCB757EE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0" y="1968"/>
                <a:ext cx="384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en-CN" sz="1400" b="1">
                    <a:latin typeface="Comic Sans MS" panose="030F0902030302020204" pitchFamily="66" charset="0"/>
                  </a:rPr>
                  <a:t>1/2</a:t>
                </a:r>
              </a:p>
            </p:txBody>
          </p:sp>
          <p:sp>
            <p:nvSpPr>
              <p:cNvPr id="67" name="Text Box 60">
                <a:extLst>
                  <a:ext uri="{FF2B5EF4-FFF2-40B4-BE49-F238E27FC236}">
                    <a16:creationId xmlns:a16="http://schemas.microsoft.com/office/drawing/2014/main" id="{25016CA5-1E5D-DC4E-9AB8-A9B18578B6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6" y="2064"/>
                <a:ext cx="240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en-CN" sz="1400" b="1">
                    <a:latin typeface="Comic Sans MS" panose="030F0902030302020204" pitchFamily="66" charset="0"/>
                  </a:rPr>
                  <a:t>1</a:t>
                </a:r>
              </a:p>
            </p:txBody>
          </p:sp>
        </p:grpSp>
        <p:pic>
          <p:nvPicPr>
            <p:cNvPr id="55" name="Picture 61">
              <a:extLst>
                <a:ext uri="{FF2B5EF4-FFF2-40B4-BE49-F238E27FC236}">
                  <a16:creationId xmlns:a16="http://schemas.microsoft.com/office/drawing/2014/main" id="{EDEB4827-6C19-A449-9B36-9977A24689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6" y="1248"/>
              <a:ext cx="248" cy="3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6" name="Picture 62">
              <a:extLst>
                <a:ext uri="{FF2B5EF4-FFF2-40B4-BE49-F238E27FC236}">
                  <a16:creationId xmlns:a16="http://schemas.microsoft.com/office/drawing/2014/main" id="{51163E05-7092-1E48-91C9-AB77E10FDD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56" y="2016"/>
              <a:ext cx="242" cy="3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8" name="Text Box 63">
            <a:extLst>
              <a:ext uri="{FF2B5EF4-FFF2-40B4-BE49-F238E27FC236}">
                <a16:creationId xmlns:a16="http://schemas.microsoft.com/office/drawing/2014/main" id="{432CD389-B1E5-914D-971A-C5D31539B5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67800" y="3915390"/>
            <a:ext cx="1295400" cy="4667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en-CN">
                <a:latin typeface="Comic Sans MS" panose="030F0902030302020204" pitchFamily="66" charset="0"/>
              </a:rPr>
              <a:t>t=3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BD3ACA3-B69D-D148-9117-D47C5E7DA4C5}"/>
              </a:ext>
            </a:extLst>
          </p:cNvPr>
          <p:cNvSpPr txBox="1"/>
          <p:nvPr/>
        </p:nvSpPr>
        <p:spPr>
          <a:xfrm>
            <a:off x="840658" y="6164826"/>
            <a:ext cx="3869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Tutorial_3.Rmd file - </a:t>
            </a:r>
            <a:r>
              <a:rPr lang="en-US" dirty="0"/>
              <a:t>4. Additional Code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4640472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7866FA5-FB51-0E4C-9881-1598F3168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Infomap</a:t>
            </a:r>
            <a:r>
              <a:rPr lang="zh-CN" altLang="en-US" dirty="0"/>
              <a:t> </a:t>
            </a:r>
            <a:endParaRPr lang="en-C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CC12D2-76B9-1D43-B260-27B6C2D56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notion of "random walks" is not an algorithm by itself but a component that can be used in various algorithms.</a:t>
            </a:r>
          </a:p>
          <a:p>
            <a:endParaRPr lang="en-US" dirty="0"/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The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Infomap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algorithm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uses random walks in a more specific way. It is </a:t>
            </a:r>
            <a:r>
              <a:rPr lang="en-US" b="0" i="0" dirty="0">
                <a:solidFill>
                  <a:srgbClr val="FF0000"/>
                </a:solidFill>
                <a:effectLst/>
                <a:latin typeface="-apple-system"/>
              </a:rPr>
              <a:t>based on the idea of information flow 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and uses the concept of random walks to uncover community structures.</a:t>
            </a:r>
          </a:p>
          <a:p>
            <a:endParaRPr lang="en-US" dirty="0">
              <a:solidFill>
                <a:srgbClr val="000000"/>
              </a:solidFill>
              <a:latin typeface="-apple-system"/>
            </a:endParaRPr>
          </a:p>
          <a:p>
            <a:r>
              <a:rPr lang="en-US" dirty="0"/>
              <a:t>The algorithm uses the theory of information </a:t>
            </a:r>
            <a:r>
              <a:rPr lang="en-US" dirty="0">
                <a:solidFill>
                  <a:srgbClr val="FF0000"/>
                </a:solidFill>
              </a:rPr>
              <a:t>to find the most efficient encoding of the random walk path</a:t>
            </a:r>
            <a:r>
              <a:rPr lang="en-US" dirty="0"/>
              <a:t>. In practice, this means that the algorithm seeks a partition of the network into clusters (communities) such that the description of the random walk trajectory is as short as possible.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88991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82EDA-FE4B-D140-B68D-187D0F88C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Community Detection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C62D7-684D-174F-810E-363F5A688C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Some famous detection algorithms has been packed in “igraph” package.</a:t>
            </a:r>
          </a:p>
          <a:p>
            <a:pPr lvl="1"/>
            <a:r>
              <a:rPr lang="en-CN" dirty="0"/>
              <a:t>Louvain </a:t>
            </a:r>
          </a:p>
          <a:p>
            <a:pPr lvl="1"/>
            <a:r>
              <a:rPr lang="en-CN" dirty="0"/>
              <a:t>Leiden</a:t>
            </a:r>
          </a:p>
          <a:p>
            <a:pPr lvl="1"/>
            <a:r>
              <a:rPr lang="en-CN" dirty="0"/>
              <a:t>Walktrap</a:t>
            </a:r>
          </a:p>
          <a:p>
            <a:pPr lvl="1"/>
            <a:r>
              <a:rPr lang="en-CN" dirty="0"/>
              <a:t>Infomap</a:t>
            </a:r>
          </a:p>
          <a:p>
            <a:pPr lvl="1"/>
            <a:r>
              <a:rPr lang="en-CN" dirty="0"/>
              <a:t>Newman</a:t>
            </a:r>
          </a:p>
          <a:p>
            <a:pPr lvl="1"/>
            <a:endParaRPr lang="en-CN" dirty="0"/>
          </a:p>
          <a:p>
            <a:pPr lvl="1"/>
            <a:r>
              <a:rPr lang="en-US" dirty="0"/>
              <a:t>Y</a:t>
            </a:r>
            <a:r>
              <a:rPr lang="en-CN" dirty="0"/>
              <a:t>ou could find more details at </a:t>
            </a:r>
            <a:r>
              <a:rPr lang="en-US" dirty="0">
                <a:hlinkClick r:id="rId2"/>
              </a:rPr>
              <a:t>https://igraph.org/c/doc/igraph-Community.html</a:t>
            </a:r>
            <a:endParaRPr lang="en-US" dirty="0"/>
          </a:p>
          <a:p>
            <a:pPr lvl="1"/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87195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E9919B-3DD2-C547-B8E3-F89B0C97C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R Manual for SOCI 3102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C92CE2-94E8-2C4F-B567-E516A49A3E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More on `i</a:t>
            </a:r>
            <a:r>
              <a:rPr lang="en-US" dirty="0"/>
              <a:t>graph` package</a:t>
            </a:r>
            <a:endParaRPr lang="en-CN" dirty="0"/>
          </a:p>
          <a:p>
            <a:r>
              <a:rPr lang="en-US" dirty="0"/>
              <a:t>The main</a:t>
            </a:r>
            <a:r>
              <a:rPr lang="en-CN" dirty="0"/>
              <a:t> purpose</a:t>
            </a:r>
            <a:r>
              <a:rPr lang="en-US" dirty="0"/>
              <a:t> is that</a:t>
            </a:r>
            <a:r>
              <a:rPr lang="en-CN" dirty="0"/>
              <a:t> you can write codes for analyzing a given network  </a:t>
            </a:r>
          </a:p>
        </p:txBody>
      </p:sp>
    </p:spTree>
    <p:extLst>
      <p:ext uri="{BB962C8B-B14F-4D97-AF65-F5344CB8AC3E}">
        <p14:creationId xmlns:p14="http://schemas.microsoft.com/office/powerpoint/2010/main" val="2618359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139CD5D-D262-CA40-B3A5-11CD42BF6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Agenda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BAC0F05-47A6-B640-A4F6-1463374C9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N" dirty="0"/>
              <a:t>R Markdown</a:t>
            </a:r>
          </a:p>
          <a:p>
            <a:endParaRPr lang="en-CN" dirty="0"/>
          </a:p>
          <a:p>
            <a:r>
              <a:rPr lang="en-CN" dirty="0"/>
              <a:t>Recap tutorial 1 &amp; 2</a:t>
            </a:r>
          </a:p>
          <a:p>
            <a:endParaRPr lang="en-CN" dirty="0"/>
          </a:p>
          <a:p>
            <a:r>
              <a:rPr lang="en-CN" dirty="0"/>
              <a:t>Tutorial 3: More on igraph</a:t>
            </a:r>
          </a:p>
          <a:p>
            <a:pPr lvl="1"/>
            <a:r>
              <a:rPr lang="en-CN" dirty="0"/>
              <a:t>Calculate Network density</a:t>
            </a:r>
          </a:p>
          <a:p>
            <a:pPr lvl="1"/>
            <a:r>
              <a:rPr lang="en-CN" dirty="0"/>
              <a:t>Infomap &amp; </a:t>
            </a:r>
            <a:r>
              <a:rPr lang="en-US" dirty="0"/>
              <a:t>random walk</a:t>
            </a:r>
            <a:endParaRPr lang="en-CN" dirty="0"/>
          </a:p>
          <a:p>
            <a:pPr lvl="1"/>
            <a:r>
              <a:rPr lang="en-US" dirty="0"/>
              <a:t>P</a:t>
            </a:r>
            <a:r>
              <a:rPr lang="en-CN" dirty="0"/>
              <a:t>ersonalize your graph</a:t>
            </a:r>
          </a:p>
          <a:p>
            <a:endParaRPr lang="en-CN" dirty="0"/>
          </a:p>
          <a:p>
            <a:r>
              <a:rPr lang="en-CN" dirty="0"/>
              <a:t>Introduction of </a:t>
            </a:r>
            <a:r>
              <a:rPr lang="en-US" dirty="0"/>
              <a:t>Problem Set</a:t>
            </a:r>
            <a:r>
              <a:rPr lang="en-CN" dirty="0"/>
              <a:t> 3</a:t>
            </a:r>
          </a:p>
        </p:txBody>
      </p:sp>
    </p:spTree>
    <p:extLst>
      <p:ext uri="{BB962C8B-B14F-4D97-AF65-F5344CB8AC3E}">
        <p14:creationId xmlns:p14="http://schemas.microsoft.com/office/powerpoint/2010/main" val="11711161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360F7C0-F08F-424D-ADA5-53C7C484E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R</a:t>
            </a:r>
            <a:r>
              <a:rPr lang="zh-CN" altLang="en-US" dirty="0"/>
              <a:t> </a:t>
            </a:r>
            <a:r>
              <a:rPr lang="en-US" altLang="zh-CN" dirty="0"/>
              <a:t>Markdown</a:t>
            </a:r>
            <a:endParaRPr lang="en-C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204849-4F72-DC4D-8BDF-9082D1F286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647515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0E99A2-DF3C-BE44-A3B5-5BC219464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Before we get started…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6BD4710-2D15-D14D-B96B-2D356AF99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third assignment needs to be finalized by R Markdown.</a:t>
            </a:r>
          </a:p>
          <a:p>
            <a:pPr lvl="1"/>
            <a:r>
              <a:rPr lang="en-US" dirty="0"/>
              <a:t>We only receive *.</a:t>
            </a:r>
            <a:r>
              <a:rPr lang="en-US" dirty="0" err="1"/>
              <a:t>Rmd</a:t>
            </a:r>
            <a:r>
              <a:rPr lang="en-US" dirty="0"/>
              <a:t> + </a:t>
            </a:r>
            <a:r>
              <a:rPr lang="zh-CN" altLang="en-US" dirty="0"/>
              <a:t>*</a:t>
            </a:r>
            <a:r>
              <a:rPr lang="en-US" altLang="zh-CN" dirty="0"/>
              <a:t>.html</a:t>
            </a:r>
            <a:r>
              <a:rPr lang="en-US" dirty="0"/>
              <a:t> file in Blackboard.</a:t>
            </a:r>
          </a:p>
          <a:p>
            <a:pPr lvl="1"/>
            <a:endParaRPr lang="en-US" dirty="0"/>
          </a:p>
          <a:p>
            <a:r>
              <a:rPr lang="en-CN" dirty="0"/>
              <a:t>Please open Rstudio and </a:t>
            </a:r>
            <a:r>
              <a:rPr lang="en-US" dirty="0"/>
              <a:t>be ready for practice</a:t>
            </a:r>
            <a:r>
              <a:rPr lang="en-CN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7544515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05578-0CAD-7E42-AE1F-AC2AD265F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What is R Markdown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99BB2-2A77-D348-864E-D5C9BAF9A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R Markdown documents are fully reproducible. Use a productive notebook interface to weave together narrative </a:t>
            </a:r>
            <a:r>
              <a:rPr lang="en-US" b="1" dirty="0">
                <a:solidFill>
                  <a:srgbClr val="FF0000"/>
                </a:solidFill>
              </a:rPr>
              <a:t>text </a:t>
            </a:r>
            <a:r>
              <a:rPr lang="en-US" dirty="0"/>
              <a:t>and </a:t>
            </a:r>
            <a:r>
              <a:rPr lang="en-US" b="1" dirty="0">
                <a:solidFill>
                  <a:srgbClr val="FF0000"/>
                </a:solidFill>
              </a:rPr>
              <a:t>code</a:t>
            </a:r>
            <a:r>
              <a:rPr lang="en-US" dirty="0"/>
              <a:t> to produce elegantly formatted output. Use multiple languages including R, Python, and SQL.</a:t>
            </a:r>
          </a:p>
          <a:p>
            <a:endParaRPr lang="en-CN" dirty="0"/>
          </a:p>
          <a:p>
            <a:r>
              <a:rPr lang="en-CN" dirty="0"/>
              <a:t>Offical website: </a:t>
            </a:r>
            <a:r>
              <a:rPr lang="en-US" dirty="0">
                <a:hlinkClick r:id="rId2"/>
              </a:rPr>
              <a:t>https://rmarkdown.rstudio.com/</a:t>
            </a:r>
            <a:endParaRPr lang="en-US" dirty="0"/>
          </a:p>
          <a:p>
            <a:endParaRPr lang="en-CN" dirty="0"/>
          </a:p>
          <a:p>
            <a:pPr algn="just"/>
            <a:endParaRPr lang="en-US" dirty="0"/>
          </a:p>
          <a:p>
            <a:pPr algn="l"/>
            <a:r>
              <a:rPr lang="en-US" b="0" i="0" dirty="0" err="1">
                <a:solidFill>
                  <a:srgbClr val="404040"/>
                </a:solidFill>
                <a:effectLst/>
                <a:latin typeface="Source Sans Pro" panose="020B0503030403020204" pitchFamily="34" charset="0"/>
              </a:rPr>
              <a:t>install.packages</a:t>
            </a:r>
            <a:r>
              <a:rPr lang="en-US" b="0" i="0" dirty="0">
                <a:solidFill>
                  <a:srgbClr val="404040"/>
                </a:solidFill>
                <a:effectLst/>
                <a:latin typeface="Source Sans Pro" panose="020B0503030403020204" pitchFamily="34" charset="0"/>
              </a:rPr>
              <a:t>(</a:t>
            </a:r>
            <a:r>
              <a:rPr lang="en-US" b="0" i="0" dirty="0">
                <a:solidFill>
                  <a:srgbClr val="036A07"/>
                </a:solidFill>
                <a:effectLst/>
                <a:latin typeface="Source Sans Pro" panose="020B0503030403020204" pitchFamily="34" charset="0"/>
              </a:rPr>
              <a:t>"</a:t>
            </a:r>
            <a:r>
              <a:rPr lang="en-US" b="0" i="0" dirty="0" err="1">
                <a:solidFill>
                  <a:srgbClr val="036A07"/>
                </a:solidFill>
                <a:effectLst/>
                <a:latin typeface="Source Sans Pro" panose="020B0503030403020204" pitchFamily="34" charset="0"/>
              </a:rPr>
              <a:t>rmarkdown</a:t>
            </a:r>
            <a:r>
              <a:rPr lang="en-US" b="0" i="0" dirty="0">
                <a:solidFill>
                  <a:srgbClr val="036A07"/>
                </a:solidFill>
                <a:effectLst/>
                <a:latin typeface="Source Sans Pro" panose="020B0503030403020204" pitchFamily="34" charset="0"/>
              </a:rPr>
              <a:t>"</a:t>
            </a:r>
            <a:r>
              <a:rPr lang="en-US" b="0" i="0" dirty="0">
                <a:solidFill>
                  <a:srgbClr val="404040"/>
                </a:solidFill>
                <a:effectLst/>
                <a:latin typeface="Source Sans Pro" panose="020B0503030403020204" pitchFamily="34" charset="0"/>
              </a:rPr>
              <a:t>)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9184927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9DF233-81C8-E140-BD2A-65C4E74F0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New a markdown script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BDF2CE-0202-814D-849F-5FA9553F0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278" y="1576848"/>
            <a:ext cx="2336800" cy="4648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828F09-8155-0048-8138-251D1450D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6664" y="1576848"/>
            <a:ext cx="5249260" cy="4648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0BBAAD-2835-F54F-AD4D-D9FF34D48E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6510" y="2427288"/>
            <a:ext cx="2971800" cy="21463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1AD7DE5-E500-1745-B516-1F5AEC31A3D2}"/>
              </a:ext>
            </a:extLst>
          </p:cNvPr>
          <p:cNvSpPr txBox="1"/>
          <p:nvPr/>
        </p:nvSpPr>
        <p:spPr>
          <a:xfrm>
            <a:off x="9733935" y="5501148"/>
            <a:ext cx="2265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Knit and Save your file</a:t>
            </a:r>
          </a:p>
        </p:txBody>
      </p:sp>
    </p:spTree>
    <p:extLst>
      <p:ext uri="{BB962C8B-B14F-4D97-AF65-F5344CB8AC3E}">
        <p14:creationId xmlns:p14="http://schemas.microsoft.com/office/powerpoint/2010/main" val="7538235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F4534B8-6418-0E4C-A430-E2895ACA8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187" y="840658"/>
            <a:ext cx="10659588" cy="4840106"/>
          </a:xfrm>
          <a:prstGeom prst="rect">
            <a:avLst/>
          </a:prstGeom>
        </p:spPr>
      </p:pic>
      <p:sp>
        <p:nvSpPr>
          <p:cNvPr id="6" name="Smiley Face 5">
            <a:extLst>
              <a:ext uri="{FF2B5EF4-FFF2-40B4-BE49-F238E27FC236}">
                <a16:creationId xmlns:a16="http://schemas.microsoft.com/office/drawing/2014/main" id="{E756173A-4E73-934E-B24B-0B2C2AA1946A}"/>
              </a:ext>
            </a:extLst>
          </p:cNvPr>
          <p:cNvSpPr/>
          <p:nvPr/>
        </p:nvSpPr>
        <p:spPr>
          <a:xfrm>
            <a:off x="589225" y="2064775"/>
            <a:ext cx="486697" cy="471948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" name="Smiley Face 6">
            <a:extLst>
              <a:ext uri="{FF2B5EF4-FFF2-40B4-BE49-F238E27FC236}">
                <a16:creationId xmlns:a16="http://schemas.microsoft.com/office/drawing/2014/main" id="{45B6DE86-5C5E-1F43-8645-929946BAA094}"/>
              </a:ext>
            </a:extLst>
          </p:cNvPr>
          <p:cNvSpPr/>
          <p:nvPr/>
        </p:nvSpPr>
        <p:spPr>
          <a:xfrm>
            <a:off x="10151096" y="2954749"/>
            <a:ext cx="486697" cy="471948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DFE823-1C84-8447-8206-E0050B7E172C}"/>
              </a:ext>
            </a:extLst>
          </p:cNvPr>
          <p:cNvSpPr txBox="1"/>
          <p:nvPr/>
        </p:nvSpPr>
        <p:spPr>
          <a:xfrm>
            <a:off x="1061884" y="6223819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863177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A4484-7064-4F45-B6D5-5BE9A8113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Chunk Options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218AD-3D1A-CA44-8A87-E8DAC2AE1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b="0" i="0" dirty="0">
                <a:solidFill>
                  <a:srgbClr val="404040"/>
                </a:solidFill>
                <a:effectLst/>
                <a:latin typeface="Source Sans Pro" panose="020B0503030403020204" pitchFamily="34" charset="0"/>
              </a:rPr>
              <a:t>Chunk output can be customized with </a:t>
            </a:r>
            <a:r>
              <a:rPr lang="en-US" b="0" i="0" u="none" strike="noStrike" dirty="0">
                <a:solidFill>
                  <a:srgbClr val="2780E3"/>
                </a:solidFill>
                <a:effectLst/>
                <a:latin typeface="Source Sans Pro" panose="020B0503030403020204" pitchFamily="34" charset="0"/>
                <a:hlinkClick r:id="rId2"/>
              </a:rPr>
              <a:t>knitr options</a:t>
            </a:r>
            <a:r>
              <a:rPr lang="en-US" b="0" i="0" dirty="0">
                <a:solidFill>
                  <a:srgbClr val="404040"/>
                </a:solidFill>
                <a:effectLst/>
                <a:latin typeface="Source Sans Pro" panose="020B0503030403020204" pitchFamily="34" charset="0"/>
              </a:rPr>
              <a:t>, arguments set in the {} of a chunk header. Above, we use five arguments:</a:t>
            </a:r>
          </a:p>
          <a:p>
            <a:pPr lvl="1"/>
            <a:r>
              <a:rPr lang="en-US" b="0" i="0" dirty="0">
                <a:solidFill>
                  <a:srgbClr val="404040"/>
                </a:solidFill>
                <a:effectLst/>
                <a:latin typeface="Source Sans Pro" panose="020B0503030403020204" pitchFamily="34" charset="0"/>
              </a:rPr>
              <a:t>include = FALSE prevents code and results from appearing in the finished file. R Markdown still runs the code in the chunk, and the results can be used by other chunks.</a:t>
            </a:r>
          </a:p>
          <a:p>
            <a:pPr lvl="1"/>
            <a:r>
              <a:rPr lang="en-US" b="0" i="0" dirty="0">
                <a:solidFill>
                  <a:srgbClr val="404040"/>
                </a:solidFill>
                <a:effectLst/>
                <a:latin typeface="Source Sans Pro" panose="020B0503030403020204" pitchFamily="34" charset="0"/>
              </a:rPr>
              <a:t>echo = FALSE prevents code, but not the results from appearing in the finished file. This is a useful way to embed figures.</a:t>
            </a:r>
          </a:p>
          <a:p>
            <a:pPr lvl="1"/>
            <a:r>
              <a:rPr lang="en-US" b="0" i="0" dirty="0">
                <a:solidFill>
                  <a:srgbClr val="404040"/>
                </a:solidFill>
                <a:effectLst/>
                <a:latin typeface="Source Sans Pro" panose="020B0503030403020204" pitchFamily="34" charset="0"/>
              </a:rPr>
              <a:t>message = FALSE prevents messages that are generated by code from appearing in the finished file.</a:t>
            </a:r>
          </a:p>
          <a:p>
            <a:pPr lvl="1"/>
            <a:r>
              <a:rPr lang="en-US" b="0" i="0" dirty="0">
                <a:solidFill>
                  <a:srgbClr val="404040"/>
                </a:solidFill>
                <a:effectLst/>
                <a:latin typeface="Source Sans Pro" panose="020B0503030403020204" pitchFamily="34" charset="0"/>
              </a:rPr>
              <a:t>warning = FALSE prevents warnings that are generated by code from appearing in the finished.</a:t>
            </a:r>
          </a:p>
          <a:p>
            <a:pPr lvl="1"/>
            <a:r>
              <a:rPr lang="en-US" b="0" i="0" dirty="0" err="1">
                <a:solidFill>
                  <a:srgbClr val="404040"/>
                </a:solidFill>
                <a:effectLst/>
                <a:latin typeface="Source Sans Pro" panose="020B0503030403020204" pitchFamily="34" charset="0"/>
              </a:rPr>
              <a:t>fig.cap</a:t>
            </a:r>
            <a:r>
              <a:rPr lang="en-US" b="0" i="0" dirty="0">
                <a:solidFill>
                  <a:srgbClr val="404040"/>
                </a:solidFill>
                <a:effectLst/>
                <a:latin typeface="Source Sans Pro" panose="020B0503030403020204" pitchFamily="34" charset="0"/>
              </a:rPr>
              <a:t> = "..." adds a caption to graphical results.</a:t>
            </a:r>
          </a:p>
          <a:p>
            <a:pPr lvl="1"/>
            <a:endParaRPr lang="en-US" b="0" i="0" dirty="0">
              <a:solidFill>
                <a:srgbClr val="404040"/>
              </a:solidFill>
              <a:effectLst/>
              <a:latin typeface="Source Sans Pro" panose="020B0503030403020204" pitchFamily="34" charset="0"/>
            </a:endParaRPr>
          </a:p>
          <a:p>
            <a:pPr algn="l"/>
            <a:r>
              <a:rPr lang="en-US" b="0" i="0" dirty="0">
                <a:solidFill>
                  <a:srgbClr val="404040"/>
                </a:solidFill>
                <a:effectLst/>
                <a:latin typeface="Source Sans Pro" panose="020B0503030403020204" pitchFamily="34" charset="0"/>
              </a:rPr>
              <a:t>See the </a:t>
            </a:r>
            <a:r>
              <a:rPr lang="en-US" b="0" i="0" u="none" strike="noStrike" dirty="0">
                <a:solidFill>
                  <a:srgbClr val="2780E3"/>
                </a:solidFill>
                <a:effectLst/>
                <a:latin typeface="Source Sans Pro" panose="020B0503030403020204" pitchFamily="34" charset="0"/>
                <a:hlinkClick r:id="rId3"/>
              </a:rPr>
              <a:t>R Markdown Reference Guide</a:t>
            </a:r>
            <a:r>
              <a:rPr lang="en-US" b="0" i="0" dirty="0">
                <a:solidFill>
                  <a:srgbClr val="404040"/>
                </a:solidFill>
                <a:effectLst/>
                <a:latin typeface="Source Sans Pro" panose="020B0503030403020204" pitchFamily="34" charset="0"/>
              </a:rPr>
              <a:t> for a complete list of </a:t>
            </a:r>
            <a:r>
              <a:rPr lang="en-US" b="0" i="0" dirty="0" err="1">
                <a:solidFill>
                  <a:srgbClr val="404040"/>
                </a:solidFill>
                <a:effectLst/>
                <a:latin typeface="Source Sans Pro" panose="020B0503030403020204" pitchFamily="34" charset="0"/>
              </a:rPr>
              <a:t>knitr</a:t>
            </a:r>
            <a:r>
              <a:rPr lang="en-US" b="0" i="0" dirty="0">
                <a:solidFill>
                  <a:srgbClr val="404040"/>
                </a:solidFill>
                <a:effectLst/>
                <a:latin typeface="Source Sans Pro" panose="020B0503030403020204" pitchFamily="34" charset="0"/>
              </a:rPr>
              <a:t> chunk options.</a:t>
            </a:r>
          </a:p>
          <a:p>
            <a:pPr algn="l"/>
            <a:endParaRPr lang="en-US" b="0" i="0" dirty="0">
              <a:solidFill>
                <a:srgbClr val="404040"/>
              </a:solidFill>
              <a:effectLst/>
              <a:latin typeface="Source Sans Pro" panose="020B0503030403020204" pitchFamily="34" charset="0"/>
            </a:endParaRPr>
          </a:p>
          <a:p>
            <a:pPr algn="l"/>
            <a:r>
              <a:rPr lang="en-US" b="1" i="1" dirty="0">
                <a:solidFill>
                  <a:srgbClr val="404040"/>
                </a:solidFill>
                <a:effectLst/>
                <a:latin typeface="Source Sans Pro" panose="020B0503030403020204" pitchFamily="34" charset="0"/>
              </a:rPr>
              <a:t>Generally, I won’t compulsorily ask you to change the default setting, and in our tutorial, you could ignore these code chunks.</a:t>
            </a:r>
            <a:br>
              <a:rPr lang="en-US" b="1" i="1" dirty="0">
                <a:solidFill>
                  <a:srgbClr val="404040"/>
                </a:solidFill>
                <a:effectLst/>
                <a:latin typeface="Source Sans Pro" panose="020B0503030403020204" pitchFamily="34" charset="0"/>
              </a:rPr>
            </a:br>
            <a:endParaRPr lang="en-US" b="1" i="1" dirty="0">
              <a:solidFill>
                <a:srgbClr val="404040"/>
              </a:solidFill>
              <a:effectLst/>
              <a:latin typeface="Source Sans Pro" panose="020B0503030403020204" pitchFamily="34" charset="0"/>
            </a:endParaRP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8582078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87400-4242-144A-B39D-FE8B69E7F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02D9F3F-95C6-7D48-B7F8-A6E82510D5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7078" y="3111948"/>
            <a:ext cx="4787900" cy="10287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E886B1-C10B-8A4B-A840-3D3D69460BDC}"/>
              </a:ext>
            </a:extLst>
          </p:cNvPr>
          <p:cNvSpPr txBox="1"/>
          <p:nvPr/>
        </p:nvSpPr>
        <p:spPr>
          <a:xfrm>
            <a:off x="6327024" y="3429000"/>
            <a:ext cx="27705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  <a:r>
              <a:rPr lang="en-CN" dirty="0"/>
              <a:t>f it can not work, </a:t>
            </a:r>
          </a:p>
          <a:p>
            <a:r>
              <a:rPr lang="en-CN" dirty="0"/>
              <a:t>install.packages(“</a:t>
            </a:r>
            <a:r>
              <a:rPr lang="en-US" dirty="0"/>
              <a:t>evaluate</a:t>
            </a:r>
            <a:r>
              <a:rPr lang="en-CN" dirty="0"/>
              <a:t>”)</a:t>
            </a:r>
          </a:p>
          <a:p>
            <a:r>
              <a:rPr lang="en-CN" dirty="0"/>
              <a:t>install.packages(“</a:t>
            </a:r>
            <a:r>
              <a:rPr lang="en-US" dirty="0" err="1"/>
              <a:t>knitr</a:t>
            </a:r>
            <a:r>
              <a:rPr lang="en-CN" dirty="0"/>
              <a:t>”)</a:t>
            </a:r>
          </a:p>
        </p:txBody>
      </p:sp>
    </p:spTree>
    <p:extLst>
      <p:ext uri="{BB962C8B-B14F-4D97-AF65-F5344CB8AC3E}">
        <p14:creationId xmlns:p14="http://schemas.microsoft.com/office/powerpoint/2010/main" val="4692932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4A69E-DBF2-D04E-847B-BEF8654F9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</a:t>
            </a:r>
            <a:r>
              <a:rPr lang="en-CN" dirty="0"/>
              <a:t>asic Symbol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CAD0F-B310-4E4F-9EAB-C26C9795A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</a:t>
            </a:r>
            <a:r>
              <a:rPr lang="en-CN" dirty="0"/>
              <a:t>ash --- for header</a:t>
            </a:r>
          </a:p>
          <a:p>
            <a:r>
              <a:rPr lang="en-US" dirty="0"/>
              <a:t>B</a:t>
            </a:r>
            <a:r>
              <a:rPr lang="en-CN" dirty="0"/>
              <a:t>ackquote ` for R code chunks</a:t>
            </a:r>
          </a:p>
          <a:p>
            <a:r>
              <a:rPr lang="en-US" dirty="0"/>
              <a:t>Parentheses</a:t>
            </a:r>
            <a:r>
              <a:rPr lang="en-CN" dirty="0"/>
              <a:t> {} for code formatting</a:t>
            </a:r>
          </a:p>
          <a:p>
            <a:r>
              <a:rPr lang="en-CN" dirty="0"/>
              <a:t>Number # for annotations</a:t>
            </a:r>
          </a:p>
          <a:p>
            <a:endParaRPr lang="en-CN" dirty="0"/>
          </a:p>
          <a:p>
            <a:endParaRPr lang="en-C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1243BF-7040-864B-8F21-B0AE1DD7A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7915" y="3604581"/>
            <a:ext cx="668020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6112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509337-499C-D449-9D1C-E588D5952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Recap: Tutorials Overview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6D3EEA-7EDD-DD40-A5AE-7D78125DDE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Based on R Markdown</a:t>
            </a:r>
          </a:p>
        </p:txBody>
      </p:sp>
    </p:spTree>
    <p:extLst>
      <p:ext uri="{BB962C8B-B14F-4D97-AF65-F5344CB8AC3E}">
        <p14:creationId xmlns:p14="http://schemas.microsoft.com/office/powerpoint/2010/main" val="20068028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259E2-9056-1841-9BD4-87E775B23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F3ADF-9BBE-C74B-A6BD-BC74452832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>
                <a:solidFill>
                  <a:schemeClr val="bg1">
                    <a:lumMod val="50000"/>
                  </a:schemeClr>
                </a:solidFill>
              </a:rPr>
              <a:t>Tutorial 1,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</a:t>
            </a:r>
            <a:r>
              <a:rPr lang="en-CN" dirty="0">
                <a:solidFill>
                  <a:schemeClr val="bg1">
                    <a:lumMod val="50000"/>
                  </a:schemeClr>
                </a:solidFill>
              </a:rPr>
              <a:t>nstall R, R Studio, install certain network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packages</a:t>
            </a:r>
            <a:r>
              <a:rPr lang="en-CN" dirty="0">
                <a:solidFill>
                  <a:schemeClr val="bg1">
                    <a:lumMod val="50000"/>
                  </a:schemeClr>
                </a:solidFill>
              </a:rPr>
              <a:t>, review and application of basic network concepts</a:t>
            </a:r>
          </a:p>
          <a:p>
            <a:endParaRPr lang="en-CN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CN" dirty="0">
                <a:solidFill>
                  <a:schemeClr val="bg1">
                    <a:lumMod val="50000"/>
                  </a:schemeClr>
                </a:solidFill>
              </a:rPr>
              <a:t>Tutorial 2,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B</a:t>
            </a:r>
            <a:r>
              <a:rPr lang="en-CN" dirty="0">
                <a:solidFill>
                  <a:schemeClr val="bg1">
                    <a:lumMod val="50000"/>
                  </a:schemeClr>
                </a:solidFill>
              </a:rPr>
              <a:t>asic &amp; data manipulation in R, building network graphs</a:t>
            </a:r>
          </a:p>
          <a:p>
            <a:endParaRPr lang="en-CN" dirty="0"/>
          </a:p>
          <a:p>
            <a:r>
              <a:rPr lang="en-CN" b="1" dirty="0"/>
              <a:t>Tutorial 3.</a:t>
            </a:r>
          </a:p>
          <a:p>
            <a:pPr lvl="1"/>
            <a:r>
              <a:rPr lang="en-CN" b="1" dirty="0"/>
              <a:t>More on network graphs and basic network statistics in R </a:t>
            </a:r>
          </a:p>
        </p:txBody>
      </p:sp>
    </p:spTree>
    <p:extLst>
      <p:ext uri="{BB962C8B-B14F-4D97-AF65-F5344CB8AC3E}">
        <p14:creationId xmlns:p14="http://schemas.microsoft.com/office/powerpoint/2010/main" val="35410298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C1B2A-8473-0A43-BB55-FED726CCA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Basic</a:t>
            </a:r>
            <a:r>
              <a:rPr lang="zh-CN" altLang="en-US" dirty="0"/>
              <a:t> </a:t>
            </a:r>
            <a:r>
              <a:rPr lang="en-US" altLang="zh-CN" dirty="0"/>
              <a:t>concepts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B7641-76F7-A14D-B72C-1520F6628D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Data type</a:t>
            </a:r>
          </a:p>
          <a:p>
            <a:pPr lvl="1"/>
            <a:r>
              <a:rPr lang="en-US" dirty="0"/>
              <a:t>V</a:t>
            </a:r>
            <a:r>
              <a:rPr lang="en-CN" dirty="0"/>
              <a:t>ector, Matrix, Array, Data Frame, Lists</a:t>
            </a:r>
          </a:p>
          <a:p>
            <a:r>
              <a:rPr lang="en-CN" dirty="0"/>
              <a:t>View Dataset</a:t>
            </a:r>
          </a:p>
          <a:p>
            <a:r>
              <a:rPr lang="en-US" dirty="0"/>
              <a:t>D</a:t>
            </a:r>
            <a:r>
              <a:rPr lang="en-CN" dirty="0"/>
              <a:t>ata descriptions </a:t>
            </a:r>
          </a:p>
          <a:p>
            <a:r>
              <a:rPr lang="en-CN" dirty="0"/>
              <a:t>Input external data</a:t>
            </a:r>
          </a:p>
          <a:p>
            <a:r>
              <a:rPr lang="en-US" dirty="0"/>
              <a:t>H</a:t>
            </a:r>
            <a:r>
              <a:rPr lang="en-CN" dirty="0"/>
              <a:t>elp function</a:t>
            </a:r>
          </a:p>
          <a:p>
            <a:endParaRPr lang="en-CN" dirty="0"/>
          </a:p>
          <a:p>
            <a:r>
              <a:rPr lang="en-CN" dirty="0">
                <a:solidFill>
                  <a:srgbClr val="FF0000"/>
                </a:solidFill>
              </a:rPr>
              <a:t>Please open tutorial3_recap.rmd file by RStudio</a:t>
            </a:r>
          </a:p>
        </p:txBody>
      </p:sp>
    </p:spTree>
    <p:extLst>
      <p:ext uri="{BB962C8B-B14F-4D97-AF65-F5344CB8AC3E}">
        <p14:creationId xmlns:p14="http://schemas.microsoft.com/office/powerpoint/2010/main" val="8828305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B7F07-5EF7-F948-9B79-A752BCBDB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Basic `igpaph` package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18348-A77A-FC49-B868-A83B9C6D3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Install igraph</a:t>
            </a:r>
          </a:p>
          <a:p>
            <a:r>
              <a:rPr lang="en-CN" dirty="0"/>
              <a:t>Create simple graph</a:t>
            </a:r>
          </a:p>
          <a:p>
            <a:r>
              <a:rPr lang="en-CN" dirty="0"/>
              <a:t>Indicators of Networks</a:t>
            </a:r>
          </a:p>
          <a:p>
            <a:r>
              <a:rPr lang="en-CN" dirty="0"/>
              <a:t>How to </a:t>
            </a:r>
            <a:r>
              <a:rPr lang="en-US" dirty="0"/>
              <a:t>personalized</a:t>
            </a:r>
            <a:r>
              <a:rPr lang="en-CN" dirty="0"/>
              <a:t> your network</a:t>
            </a:r>
          </a:p>
          <a:p>
            <a:endParaRPr lang="en-CN" dirty="0"/>
          </a:p>
          <a:p>
            <a:endParaRPr lang="en-CN" dirty="0"/>
          </a:p>
          <a:p>
            <a:r>
              <a:rPr lang="en-CN" dirty="0">
                <a:solidFill>
                  <a:srgbClr val="FF0000"/>
                </a:solidFill>
              </a:rPr>
              <a:t>Please open tutorial3_recap.rmd file by Rstudio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41277345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7B1D82-AE28-7042-B378-12B472594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Tutorial 3: More on igraph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F1FF03-4960-3D48-8A80-D66BD0A98E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Community detection</a:t>
            </a:r>
          </a:p>
        </p:txBody>
      </p:sp>
    </p:spTree>
    <p:extLst>
      <p:ext uri="{BB962C8B-B14F-4D97-AF65-F5344CB8AC3E}">
        <p14:creationId xmlns:p14="http://schemas.microsoft.com/office/powerpoint/2010/main" val="40057299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914B4-DAB6-4143-A00F-E47104D42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Community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E581C-174C-8647-ABEE-055CE189A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1. Check and clean data</a:t>
            </a:r>
          </a:p>
          <a:p>
            <a:r>
              <a:rPr lang="en-US" dirty="0"/>
              <a:t>2. Calculate Network Density</a:t>
            </a:r>
          </a:p>
          <a:p>
            <a:r>
              <a:rPr lang="en-US" dirty="0"/>
              <a:t>3. Conducting Clustering Algorithms (Take </a:t>
            </a:r>
            <a:r>
              <a:rPr lang="en-US" dirty="0" err="1"/>
              <a:t>walktrap</a:t>
            </a:r>
            <a:r>
              <a:rPr lang="en-US" dirty="0"/>
              <a:t> as an example)</a:t>
            </a:r>
          </a:p>
          <a:p>
            <a:r>
              <a:rPr lang="en-US" dirty="0"/>
              <a:t>4. Define the colors for different communities</a:t>
            </a:r>
          </a:p>
          <a:p>
            <a:endParaRPr lang="en-US" dirty="0"/>
          </a:p>
          <a:p>
            <a:r>
              <a:rPr lang="en-CN" dirty="0">
                <a:solidFill>
                  <a:srgbClr val="FF0000"/>
                </a:solidFill>
              </a:rPr>
              <a:t>Please open tutorial3.Rmd file by Rstudio</a:t>
            </a:r>
          </a:p>
          <a:p>
            <a:endParaRPr lang="en-CN" dirty="0">
              <a:solidFill>
                <a:srgbClr val="FF0000"/>
              </a:solidFill>
            </a:endParaRPr>
          </a:p>
          <a:p>
            <a:endParaRPr lang="en-CN" dirty="0">
              <a:solidFill>
                <a:srgbClr val="FF0000"/>
              </a:solidFill>
            </a:endParaRPr>
          </a:p>
          <a:p>
            <a:endParaRPr lang="en-C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14DCF7-4DF8-E343-83D0-4EE15BD0C67E}"/>
              </a:ext>
            </a:extLst>
          </p:cNvPr>
          <p:cNvSpPr txBox="1"/>
          <p:nvPr/>
        </p:nvSpPr>
        <p:spPr>
          <a:xfrm>
            <a:off x="840658" y="6164826"/>
            <a:ext cx="4628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Tutorial_3.Rmd file - </a:t>
            </a:r>
            <a:r>
              <a:rPr lang="en-US" dirty="0"/>
              <a:t>4. The Zachary Karate Club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0999446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221A35-BB33-C744-8229-27D601AEC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About Problem Set 3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66B991-7EBD-7848-B6F7-612F5CED08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7420844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6E7DC4F-45C9-A94E-8409-853E48F88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Datasets - Academic citation network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04CB7FD-78BD-7145-9E3D-6D00988BF9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datasets include the fields of articles published by the university in 2011 and the fields of these papers’ references.</a:t>
            </a:r>
            <a:r>
              <a:rPr lang="en-CN" dirty="0"/>
              <a:t> </a:t>
            </a:r>
          </a:p>
          <a:p>
            <a:pPr lvl="1"/>
            <a:r>
              <a:rPr lang="en-CN" dirty="0"/>
              <a:t>E.g. </a:t>
            </a:r>
            <a:r>
              <a:rPr lang="en-US" dirty="0"/>
              <a:t>“Information flow through strong and weak ties in intraorganizational social networks”, “Social Science”, “Medical Innovation: A Diffusion Study”, “Medicine”</a:t>
            </a:r>
          </a:p>
          <a:p>
            <a:pPr lvl="1"/>
            <a:r>
              <a:rPr lang="en-US" dirty="0"/>
              <a:t>Then, “Social Science”,” Medicine” were recorded.</a:t>
            </a:r>
          </a:p>
          <a:p>
            <a:pPr marL="0" indent="0">
              <a:buNone/>
            </a:pPr>
            <a:endParaRPr lang="en-CN" dirty="0"/>
          </a:p>
          <a:p>
            <a:r>
              <a:rPr lang="en-US" dirty="0"/>
              <a:t>I collected three universities' published papers in 2011 as our datasets.</a:t>
            </a:r>
          </a:p>
          <a:p>
            <a:endParaRPr lang="en-CN" dirty="0"/>
          </a:p>
          <a:p>
            <a:r>
              <a:rPr lang="en-US" dirty="0"/>
              <a:t>Three universities </a:t>
            </a:r>
            <a:r>
              <a:rPr lang="en-CN" dirty="0"/>
              <a:t>(</a:t>
            </a:r>
            <a:r>
              <a:rPr lang="en-US" dirty="0"/>
              <a:t>Amherst College, Brown University, and Florida State University</a:t>
            </a:r>
            <a:r>
              <a:rPr lang="en-CN" dirty="0"/>
              <a:t>) </a:t>
            </a:r>
          </a:p>
          <a:p>
            <a:pPr lvl="1"/>
            <a:r>
              <a:rPr lang="en-US" dirty="0"/>
              <a:t>L</a:t>
            </a:r>
            <a:r>
              <a:rPr lang="en-CN" dirty="0"/>
              <a:t>iberal and arts, Science</a:t>
            </a:r>
          </a:p>
          <a:p>
            <a:pPr lvl="1"/>
            <a:r>
              <a:rPr lang="en-CN" dirty="0"/>
              <a:t>Status</a:t>
            </a:r>
          </a:p>
          <a:p>
            <a:pPr lvl="1"/>
            <a:r>
              <a:rPr lang="en-US" dirty="0"/>
              <a:t>Three datasets will be randomly assigned to each student.  </a:t>
            </a:r>
            <a:endParaRPr lang="en-CN" dirty="0"/>
          </a:p>
          <a:p>
            <a:pPr lvl="1"/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407346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37097-92AF-0841-A784-4C88229F2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</a:t>
            </a:r>
            <a:r>
              <a:rPr lang="en-CN" dirty="0"/>
              <a:t>ata description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E5C45-57B6-1347-A5D7-79EC5CE24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</a:t>
            </a:r>
            <a:r>
              <a:rPr lang="en-CN" dirty="0"/>
              <a:t>ata description </a:t>
            </a:r>
          </a:p>
          <a:p>
            <a:pPr lvl="1"/>
            <a:r>
              <a:rPr lang="en-CN" dirty="0"/>
              <a:t>Each</a:t>
            </a:r>
            <a:r>
              <a:rPr lang="zh-CN" altLang="en-US" dirty="0"/>
              <a:t> </a:t>
            </a:r>
            <a:r>
              <a:rPr lang="en-US" altLang="zh-CN" dirty="0"/>
              <a:t>dataset have </a:t>
            </a:r>
            <a:r>
              <a:rPr lang="en-CN" altLang="zh-CN" dirty="0"/>
              <a:t>two</a:t>
            </a:r>
            <a:r>
              <a:rPr lang="en-CN" dirty="0"/>
              <a:t> columns</a:t>
            </a:r>
          </a:p>
          <a:p>
            <a:pPr lvl="1"/>
            <a:r>
              <a:rPr lang="en-US" dirty="0"/>
              <a:t>O</a:t>
            </a:r>
            <a:r>
              <a:rPr lang="en-CN" dirty="0"/>
              <a:t>riginal: a paper from a specific field</a:t>
            </a:r>
          </a:p>
          <a:p>
            <a:pPr lvl="1"/>
            <a:r>
              <a:rPr lang="en-CN" dirty="0"/>
              <a:t>Destination: </a:t>
            </a:r>
            <a:r>
              <a:rPr lang="en-US" dirty="0"/>
              <a:t>the field of cite paper</a:t>
            </a:r>
          </a:p>
          <a:p>
            <a:pPr lvl="1"/>
            <a:r>
              <a:rPr lang="en-US" dirty="0"/>
              <a:t>For instance, A, Computer Science, B, Sociology. </a:t>
            </a:r>
          </a:p>
          <a:p>
            <a:pPr lvl="2"/>
            <a:r>
              <a:rPr lang="en-US" dirty="0"/>
              <a:t> A Cited B</a:t>
            </a:r>
          </a:p>
          <a:p>
            <a:pPr lvl="2"/>
            <a:r>
              <a:rPr lang="en-US" dirty="0"/>
              <a:t> a directed network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517839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481F7-AD25-F541-8179-90D5FBAAE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Notes: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E98E1-6404-0441-9463-C6097C69D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N" dirty="0"/>
              <a:t>1. you should set a fix random seed.</a:t>
            </a:r>
          </a:p>
          <a:p>
            <a:pPr lvl="1"/>
            <a:r>
              <a:rPr lang="en-US" dirty="0" err="1"/>
              <a:t>set.seed</a:t>
            </a:r>
            <a:r>
              <a:rPr lang="en-US" dirty="0"/>
              <a:t>(123)</a:t>
            </a:r>
            <a:r>
              <a:rPr lang="en-CN" dirty="0"/>
              <a:t> </a:t>
            </a:r>
          </a:p>
          <a:p>
            <a:r>
              <a:rPr lang="en-CN" dirty="0"/>
              <a:t>2. Please check </a:t>
            </a:r>
            <a:r>
              <a:rPr lang="en-US" dirty="0"/>
              <a:t>whether the code I gave</a:t>
            </a:r>
            <a:r>
              <a:rPr lang="en-CN" dirty="0"/>
              <a:t> is available.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Ensuring</a:t>
            </a:r>
            <a:r>
              <a:rPr lang="zh-CN" altLang="en-US" sz="2400" dirty="0">
                <a:solidFill>
                  <a:srgbClr val="FF0000"/>
                </a:solidFill>
              </a:rPr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t</a:t>
            </a:r>
            <a:r>
              <a:rPr lang="en-CN" sz="2400" dirty="0">
                <a:solidFill>
                  <a:srgbClr val="FF0000"/>
                </a:solidFill>
              </a:rPr>
              <a:t>he Return value is true !!!</a:t>
            </a:r>
            <a:endParaRPr lang="en-CN" dirty="0"/>
          </a:p>
          <a:p>
            <a:r>
              <a:rPr lang="en-CN" dirty="0"/>
              <a:t>3. </a:t>
            </a:r>
            <a:r>
              <a:rPr lang="en-US" dirty="0"/>
              <a:t>Everyone </a:t>
            </a:r>
            <a:r>
              <a:rPr lang="en-CN" dirty="0"/>
              <a:t>must submit their assignment by *.Rmd + *.html format.</a:t>
            </a:r>
          </a:p>
          <a:p>
            <a:pPr lvl="1"/>
            <a:r>
              <a:rPr lang="en-CN" dirty="0"/>
              <a:t>Prefer “student ID_name</a:t>
            </a:r>
            <a:r>
              <a:rPr lang="en-US" dirty="0"/>
              <a:t>_group</a:t>
            </a:r>
            <a:r>
              <a:rPr lang="en-CN" dirty="0"/>
              <a:t>.Rmd”</a:t>
            </a:r>
          </a:p>
          <a:p>
            <a:pPr lvl="1"/>
            <a:r>
              <a:rPr lang="en-CN" dirty="0"/>
              <a:t> i.e. 1155186031_xuanlong_group1.Rmd </a:t>
            </a:r>
          </a:p>
          <a:p>
            <a:pPr lvl="1"/>
            <a:r>
              <a:rPr lang="en-US" dirty="0"/>
              <a:t>Pack them in </a:t>
            </a:r>
            <a:r>
              <a:rPr lang="en-US" dirty="0" err="1"/>
              <a:t>rar</a:t>
            </a:r>
            <a:r>
              <a:rPr lang="en-US" dirty="0"/>
              <a:t> format</a:t>
            </a:r>
          </a:p>
          <a:p>
            <a:r>
              <a:rPr lang="en-CN" dirty="0"/>
              <a:t>4. You have extra one week for finish this assignment.</a:t>
            </a:r>
          </a:p>
          <a:p>
            <a:pPr lvl="1"/>
            <a:r>
              <a:rPr lang="en-CN" dirty="0"/>
              <a:t>Due: 28th, Mar.</a:t>
            </a:r>
          </a:p>
        </p:txBody>
      </p:sp>
    </p:spTree>
    <p:extLst>
      <p:ext uri="{BB962C8B-B14F-4D97-AF65-F5344CB8AC3E}">
        <p14:creationId xmlns:p14="http://schemas.microsoft.com/office/powerpoint/2010/main" val="662752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2217</TotalTime>
  <Words>1775</Words>
  <Application>Microsoft Macintosh PowerPoint</Application>
  <PresentationFormat>Widescreen</PresentationFormat>
  <Paragraphs>285</Paragraphs>
  <Slides>42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0" baseType="lpstr">
      <vt:lpstr>-apple-system</vt:lpstr>
      <vt:lpstr>Arial</vt:lpstr>
      <vt:lpstr>Calibri</vt:lpstr>
      <vt:lpstr>Calibri Light</vt:lpstr>
      <vt:lpstr>Comic Sans MS</vt:lpstr>
      <vt:lpstr>Source Sans Pro</vt:lpstr>
      <vt:lpstr>Times New Roman</vt:lpstr>
      <vt:lpstr>Office Theme</vt:lpstr>
      <vt:lpstr>Social Networks and Social Capital (SOCI 3102)</vt:lpstr>
      <vt:lpstr>Agenda</vt:lpstr>
      <vt:lpstr>Tutorial Materials</vt:lpstr>
      <vt:lpstr>Recap – Social cohesion and connectivity</vt:lpstr>
      <vt:lpstr>However…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Community Detection</vt:lpstr>
      <vt:lpstr>PowerPoint Presentation</vt:lpstr>
      <vt:lpstr>PowerPoint Presentation</vt:lpstr>
      <vt:lpstr>PowerPoint Presentation</vt:lpstr>
      <vt:lpstr>Dataset on Graph</vt:lpstr>
      <vt:lpstr>Random walk</vt:lpstr>
      <vt:lpstr>What is a random walk</vt:lpstr>
      <vt:lpstr>Infomap </vt:lpstr>
      <vt:lpstr>Community Detection Algorithms</vt:lpstr>
      <vt:lpstr>R Manual for SOCI 3102</vt:lpstr>
      <vt:lpstr>Agenda</vt:lpstr>
      <vt:lpstr>R Markdown</vt:lpstr>
      <vt:lpstr>Before we get started…</vt:lpstr>
      <vt:lpstr>What is R Markdown</vt:lpstr>
      <vt:lpstr>New a markdown script</vt:lpstr>
      <vt:lpstr>PowerPoint Presentation</vt:lpstr>
      <vt:lpstr>Chunk Options</vt:lpstr>
      <vt:lpstr>PowerPoint Presentation</vt:lpstr>
      <vt:lpstr>Basic Symbol</vt:lpstr>
      <vt:lpstr>Recap: Tutorials Overview</vt:lpstr>
      <vt:lpstr>PowerPoint Presentation</vt:lpstr>
      <vt:lpstr>Basic concepts</vt:lpstr>
      <vt:lpstr>Basic `igpaph` package</vt:lpstr>
      <vt:lpstr>Tutorial 3: More on igraph</vt:lpstr>
      <vt:lpstr>Community detection</vt:lpstr>
      <vt:lpstr>About Problem Set 3</vt:lpstr>
      <vt:lpstr>Datasets - Academic citation network</vt:lpstr>
      <vt:lpstr>Data description </vt:lpstr>
      <vt:lpstr>Notes: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Networks and Social Capital (SOCI 3102)</dc:title>
  <dc:creator>T163834</dc:creator>
  <cp:lastModifiedBy>T163834</cp:lastModifiedBy>
  <cp:revision>98</cp:revision>
  <dcterms:created xsi:type="dcterms:W3CDTF">2024-02-27T08:35:51Z</dcterms:created>
  <dcterms:modified xsi:type="dcterms:W3CDTF">2024-03-12T05:02:41Z</dcterms:modified>
</cp:coreProperties>
</file>